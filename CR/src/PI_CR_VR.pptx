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5"/>
    <p:sldMasterId id="214748368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embeddedFontLst>
    <p:embeddedFont>
      <p:font typeface="Poppins"/>
      <p:regular r:id="rId30"/>
      <p:bold r:id="rId31"/>
      <p:italic r:id="rId32"/>
      <p:boldItalic r:id="rId33"/>
    </p:embeddedFont>
    <p:embeddedFont>
      <p:font typeface="Poppins Medium"/>
      <p:regular r:id="rId34"/>
      <p:bold r:id="rId35"/>
      <p:italic r:id="rId36"/>
      <p:boldItalic r:id="rId37"/>
    </p:embeddedFont>
    <p:embeddedFont>
      <p:font typeface="Quattrocento Sans"/>
      <p:regular r:id="rId38"/>
      <p:bold r:id="rId39"/>
      <p:italic r:id="rId40"/>
      <p:boldItalic r:id="rId41"/>
    </p:embeddedFont>
    <p:embeddedFont>
      <p:font typeface="Poppins SemiBold"/>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16ABE3-ACDB-41B1-A64A-B1E2F77EB6C7}">
  <a:tblStyle styleId="{F016ABE3-ACDB-41B1-A64A-B1E2F77EB6C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QuattrocentoSans-italic.fntdata"/><Relationship Id="rId20" Type="http://schemas.openxmlformats.org/officeDocument/2006/relationships/slide" Target="slides/slide13.xml"/><Relationship Id="rId42" Type="http://schemas.openxmlformats.org/officeDocument/2006/relationships/font" Target="fonts/PoppinsSemiBold-regular.fntdata"/><Relationship Id="rId41" Type="http://schemas.openxmlformats.org/officeDocument/2006/relationships/font" Target="fonts/QuattrocentoSans-boldItalic.fntdata"/><Relationship Id="rId22" Type="http://schemas.openxmlformats.org/officeDocument/2006/relationships/slide" Target="slides/slide15.xml"/><Relationship Id="rId44" Type="http://schemas.openxmlformats.org/officeDocument/2006/relationships/font" Target="fonts/PoppinsSemiBold-italic.fntdata"/><Relationship Id="rId21" Type="http://schemas.openxmlformats.org/officeDocument/2006/relationships/slide" Target="slides/slide14.xml"/><Relationship Id="rId43" Type="http://schemas.openxmlformats.org/officeDocument/2006/relationships/font" Target="fonts/PoppinsSemiBold-bold.fntdata"/><Relationship Id="rId24" Type="http://schemas.openxmlformats.org/officeDocument/2006/relationships/slide" Target="slides/slide17.xml"/><Relationship Id="rId23" Type="http://schemas.openxmlformats.org/officeDocument/2006/relationships/slide" Target="slides/slide16.xml"/><Relationship Id="rId45" Type="http://schemas.openxmlformats.org/officeDocument/2006/relationships/font" Target="fonts/Poppins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oppins-bold.fntdata"/><Relationship Id="rId30" Type="http://schemas.openxmlformats.org/officeDocument/2006/relationships/font" Target="fonts/Poppins-regular.fntdata"/><Relationship Id="rId11" Type="http://schemas.openxmlformats.org/officeDocument/2006/relationships/slide" Target="slides/slide4.xml"/><Relationship Id="rId33" Type="http://schemas.openxmlformats.org/officeDocument/2006/relationships/font" Target="fonts/Poppins-boldItalic.fntdata"/><Relationship Id="rId10" Type="http://schemas.openxmlformats.org/officeDocument/2006/relationships/slide" Target="slides/slide3.xml"/><Relationship Id="rId32" Type="http://schemas.openxmlformats.org/officeDocument/2006/relationships/font" Target="fonts/Poppins-italic.fntdata"/><Relationship Id="rId13" Type="http://schemas.openxmlformats.org/officeDocument/2006/relationships/slide" Target="slides/slide6.xml"/><Relationship Id="rId35" Type="http://schemas.openxmlformats.org/officeDocument/2006/relationships/font" Target="fonts/PoppinsMedium-bold.fntdata"/><Relationship Id="rId12" Type="http://schemas.openxmlformats.org/officeDocument/2006/relationships/slide" Target="slides/slide5.xml"/><Relationship Id="rId34" Type="http://schemas.openxmlformats.org/officeDocument/2006/relationships/font" Target="fonts/PoppinsMedium-regular.fntdata"/><Relationship Id="rId15" Type="http://schemas.openxmlformats.org/officeDocument/2006/relationships/slide" Target="slides/slide8.xml"/><Relationship Id="rId37" Type="http://schemas.openxmlformats.org/officeDocument/2006/relationships/font" Target="fonts/PoppinsMedium-boldItalic.fntdata"/><Relationship Id="rId14" Type="http://schemas.openxmlformats.org/officeDocument/2006/relationships/slide" Target="slides/slide7.xml"/><Relationship Id="rId36" Type="http://schemas.openxmlformats.org/officeDocument/2006/relationships/font" Target="fonts/PoppinsMedium-italic.fntdata"/><Relationship Id="rId17" Type="http://schemas.openxmlformats.org/officeDocument/2006/relationships/slide" Target="slides/slide10.xml"/><Relationship Id="rId39" Type="http://schemas.openxmlformats.org/officeDocument/2006/relationships/font" Target="fonts/QuattrocentoSans-bold.fntdata"/><Relationship Id="rId16" Type="http://schemas.openxmlformats.org/officeDocument/2006/relationships/slide" Target="slides/slide9.xml"/><Relationship Id="rId38" Type="http://schemas.openxmlformats.org/officeDocument/2006/relationships/font" Target="fonts/QuattrocentoSans-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c225a58fac_2_275:notes"/>
          <p:cNvSpPr/>
          <p:nvPr>
            <p:ph idx="2" type="sldImg"/>
          </p:nvPr>
        </p:nvSpPr>
        <p:spPr>
          <a:xfrm>
            <a:off x="440437" y="1142265"/>
            <a:ext cx="5977127" cy="308573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3c225a58fac_2_275:notes"/>
          <p:cNvSpPr txBox="1"/>
          <p:nvPr>
            <p:ph idx="1" type="body"/>
          </p:nvPr>
        </p:nvSpPr>
        <p:spPr>
          <a:xfrm>
            <a:off x="685473" y="4401166"/>
            <a:ext cx="5487058" cy="360037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rPr lang="fr"/>
              <a:t>Contenu sans photo avec accroche modifiable</a:t>
            </a:r>
            <a:endParaRPr/>
          </a:p>
        </p:txBody>
      </p:sp>
      <p:sp>
        <p:nvSpPr>
          <p:cNvPr id="352" name="Google Shape;352;g3c225a58fac_2_275:notes"/>
          <p:cNvSpPr txBox="1"/>
          <p:nvPr>
            <p:ph idx="12" type="sldNum"/>
          </p:nvPr>
        </p:nvSpPr>
        <p:spPr>
          <a:xfrm>
            <a:off x="3884701" y="8684879"/>
            <a:ext cx="2972202" cy="459121"/>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c225a58fac_0_38: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3c225a58fac_0_38: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rPr lang="fr"/>
              <a:t>Diapositive photo / texte</a:t>
            </a:r>
            <a:endParaRPr/>
          </a:p>
        </p:txBody>
      </p:sp>
      <p:sp>
        <p:nvSpPr>
          <p:cNvPr id="360" name="Google Shape;360;g3c225a58fac_0_38: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c225a58fac_0_6: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g3c225a58fac_0_6: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rPr lang="fr"/>
              <a:t>Diapositive photo / texte</a:t>
            </a:r>
            <a:endParaRPr/>
          </a:p>
        </p:txBody>
      </p:sp>
      <p:sp>
        <p:nvSpPr>
          <p:cNvPr id="378" name="Google Shape;378;g3c225a58fac_0_6: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c225a58fac_0_61: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g3c225a58fac_0_61: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lnSpc>
                <a:spcPct val="90000"/>
              </a:lnSpc>
              <a:spcBef>
                <a:spcPts val="0"/>
              </a:spcBef>
              <a:spcAft>
                <a:spcPts val="0"/>
              </a:spcAft>
              <a:buClr>
                <a:schemeClr val="dk1"/>
              </a:buClr>
              <a:buSzPts val="1100"/>
              <a:buFont typeface="Arial"/>
              <a:buNone/>
            </a:pPr>
            <a:r>
              <a:rPr b="1" lang="fr" sz="1300">
                <a:solidFill>
                  <a:schemeClr val="dk1"/>
                </a:solidFill>
                <a:latin typeface="Poppins"/>
                <a:ea typeface="Poppins"/>
                <a:cs typeface="Poppins"/>
                <a:sym typeface="Poppins"/>
              </a:rPr>
              <a:t>Pré-traitement et Simplification sur le modèle FP32.</a:t>
            </a:r>
            <a:endParaRPr sz="1300">
              <a:solidFill>
                <a:schemeClr val="dk1"/>
              </a:solidFill>
            </a:endParaRPr>
          </a:p>
          <a:p>
            <a:pPr indent="-298450" lvl="0" marL="457200" rtl="0" algn="l">
              <a:lnSpc>
                <a:spcPct val="90000"/>
              </a:lnSpc>
              <a:spcBef>
                <a:spcPts val="800"/>
              </a:spcBef>
              <a:spcAft>
                <a:spcPts val="0"/>
              </a:spcAft>
              <a:buClr>
                <a:schemeClr val="dk1"/>
              </a:buClr>
              <a:buSzPts val="1100"/>
              <a:buFont typeface="Poppins"/>
              <a:buChar char="●"/>
            </a:pPr>
            <a:r>
              <a:rPr b="1" lang="fr">
                <a:solidFill>
                  <a:schemeClr val="dk1"/>
                </a:solidFill>
                <a:latin typeface="Poppins"/>
                <a:ea typeface="Poppins"/>
                <a:cs typeface="Poppins"/>
                <a:sym typeface="Poppins"/>
              </a:rPr>
              <a:t>Objectif</a:t>
            </a:r>
            <a:r>
              <a:rPr lang="fr">
                <a:solidFill>
                  <a:schemeClr val="dk1"/>
                </a:solidFill>
                <a:latin typeface="Poppins"/>
                <a:ea typeface="Poppins"/>
                <a:cs typeface="Poppins"/>
                <a:sym typeface="Poppins"/>
              </a:rPr>
              <a:t> : Simplifier le graphe computationnel.</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Action</a:t>
            </a:r>
            <a:r>
              <a:rPr lang="fr">
                <a:solidFill>
                  <a:schemeClr val="dk1"/>
                </a:solidFill>
                <a:latin typeface="Poppins"/>
                <a:ea typeface="Poppins"/>
                <a:cs typeface="Poppins"/>
                <a:sym typeface="Poppins"/>
              </a:rPr>
              <a:t> : Fusion d'opérateurs (ex: Conv + BatchNorm + ReLU).</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Gain</a:t>
            </a:r>
            <a:r>
              <a:rPr lang="fr">
                <a:solidFill>
                  <a:schemeClr val="dk1"/>
                </a:solidFill>
                <a:latin typeface="Poppins"/>
                <a:ea typeface="Poppins"/>
                <a:cs typeface="Poppins"/>
                <a:sym typeface="Poppins"/>
              </a:rPr>
              <a:t> : Réduit la complexité et prépare le modèle pour une calibration plus stable.</a:t>
            </a:r>
            <a:endParaRPr>
              <a:solidFill>
                <a:schemeClr val="dk1"/>
              </a:solidFill>
              <a:latin typeface="Poppins"/>
              <a:ea typeface="Poppins"/>
              <a:cs typeface="Poppins"/>
              <a:sym typeface="Poppins"/>
            </a:endParaRPr>
          </a:p>
          <a:p>
            <a:pPr indent="0" lvl="0" marL="0" rtl="0" algn="l">
              <a:lnSpc>
                <a:spcPct val="90000"/>
              </a:lnSpc>
              <a:spcBef>
                <a:spcPts val="800"/>
              </a:spcBef>
              <a:spcAft>
                <a:spcPts val="0"/>
              </a:spcAft>
              <a:buClr>
                <a:schemeClr val="dk1"/>
              </a:buClr>
              <a:buSzPts val="1100"/>
              <a:buFont typeface="Arial"/>
              <a:buNone/>
            </a:pPr>
            <a:r>
              <a:rPr b="1" lang="fr" sz="1300">
                <a:solidFill>
                  <a:schemeClr val="dk1"/>
                </a:solidFill>
                <a:latin typeface="Poppins"/>
                <a:ea typeface="Poppins"/>
                <a:cs typeface="Poppins"/>
                <a:sym typeface="Poppins"/>
              </a:rPr>
              <a:t>Méthode de calibration : </a:t>
            </a:r>
            <a:r>
              <a:rPr b="1" lang="fr" sz="1400" u="sng">
                <a:solidFill>
                  <a:schemeClr val="dk1"/>
                </a:solidFill>
                <a:latin typeface="Poppins"/>
                <a:ea typeface="Poppins"/>
                <a:cs typeface="Poppins"/>
                <a:sym typeface="Poppins"/>
              </a:rPr>
              <a:t>Entropy</a:t>
            </a:r>
            <a:endParaRPr b="1" sz="1400" u="sng">
              <a:solidFill>
                <a:schemeClr val="dk1"/>
              </a:solidFill>
              <a:latin typeface="Poppins"/>
              <a:ea typeface="Poppins"/>
              <a:cs typeface="Poppins"/>
              <a:sym typeface="Poppins"/>
            </a:endParaRPr>
          </a:p>
          <a:p>
            <a:pPr indent="-298450" lvl="0" marL="457200" rtl="0" algn="l">
              <a:lnSpc>
                <a:spcPct val="90000"/>
              </a:lnSpc>
              <a:spcBef>
                <a:spcPts val="800"/>
              </a:spcBef>
              <a:spcAft>
                <a:spcPts val="0"/>
              </a:spcAft>
              <a:buClr>
                <a:schemeClr val="dk1"/>
              </a:buClr>
              <a:buSzPts val="1100"/>
              <a:buFont typeface="Poppins"/>
              <a:buChar char="●"/>
            </a:pPr>
            <a:r>
              <a:rPr b="1" lang="fr">
                <a:solidFill>
                  <a:schemeClr val="dk1"/>
                </a:solidFill>
                <a:latin typeface="Poppins"/>
                <a:ea typeface="Poppins"/>
                <a:cs typeface="Poppins"/>
                <a:sym typeface="Poppins"/>
              </a:rPr>
              <a:t>ONNX Runtime </a:t>
            </a:r>
            <a:r>
              <a:rPr lang="fr">
                <a:solidFill>
                  <a:schemeClr val="dk1"/>
                </a:solidFill>
                <a:latin typeface="Poppins"/>
                <a:ea typeface="Poppins"/>
                <a:cs typeface="Poppins"/>
                <a:sym typeface="Poppins"/>
              </a:rPr>
              <a:t>propose trois méthodes principales pour déterminer les intervalles de quantization : MinMax, Percentile et Entropy. Nous avons choisi l'Entropie.</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Principe</a:t>
            </a:r>
            <a:r>
              <a:rPr lang="fr">
                <a:solidFill>
                  <a:schemeClr val="dk1"/>
                </a:solidFill>
                <a:latin typeface="Poppins"/>
                <a:ea typeface="Poppins"/>
                <a:cs typeface="Poppins"/>
                <a:sym typeface="Poppins"/>
              </a:rPr>
              <a:t> : Contrairement au MinMax qui prend les valeurs extrêmes , l'Entropie cherche le seuil optimal minimisant la perte d'information entre la distribution Float32 et la distribution Int8.</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Fonctionnement</a:t>
            </a:r>
            <a:r>
              <a:rPr lang="fr">
                <a:solidFill>
                  <a:schemeClr val="dk1"/>
                </a:solidFill>
                <a:latin typeface="Poppins"/>
                <a:ea typeface="Poppins"/>
                <a:cs typeface="Poppins"/>
                <a:sym typeface="Poppins"/>
              </a:rPr>
              <a:t> : Elle utilise la </a:t>
            </a:r>
            <a:r>
              <a:rPr i="1" lang="fr" u="sng">
                <a:solidFill>
                  <a:schemeClr val="dk1"/>
                </a:solidFill>
                <a:latin typeface="Poppins"/>
                <a:ea typeface="Poppins"/>
                <a:cs typeface="Poppins"/>
                <a:sym typeface="Poppins"/>
              </a:rPr>
              <a:t>Divergence de Kullback-Leibler </a:t>
            </a:r>
            <a:r>
              <a:rPr lang="fr">
                <a:solidFill>
                  <a:schemeClr val="dk1"/>
                </a:solidFill>
                <a:latin typeface="Poppins"/>
                <a:ea typeface="Poppins"/>
                <a:cs typeface="Poppins"/>
                <a:sym typeface="Poppins"/>
              </a:rPr>
              <a:t>pour mesurer la différence entre les deux distributions de probabilité P (originale) et Q (quantifiée).</a:t>
            </a:r>
            <a:endParaRPr>
              <a:solidFill>
                <a:schemeClr val="dk1"/>
              </a:solidFill>
              <a:latin typeface="Poppins"/>
              <a:ea typeface="Poppins"/>
              <a:cs typeface="Poppins"/>
              <a:sym typeface="Poppins"/>
            </a:endParaRPr>
          </a:p>
          <a:p>
            <a:pPr indent="0" lvl="0" marL="0" rtl="0" algn="l">
              <a:lnSpc>
                <a:spcPct val="90000"/>
              </a:lnSpc>
              <a:spcBef>
                <a:spcPts val="800"/>
              </a:spcBef>
              <a:spcAft>
                <a:spcPts val="0"/>
              </a:spcAft>
              <a:buClr>
                <a:schemeClr val="dk1"/>
              </a:buClr>
              <a:buSzPts val="1100"/>
              <a:buFont typeface="Arial"/>
              <a:buNone/>
            </a:pPr>
            <a:r>
              <a:rPr b="1" lang="fr" sz="1350">
                <a:solidFill>
                  <a:schemeClr val="dk1"/>
                </a:solidFill>
                <a:latin typeface="Poppins"/>
                <a:ea typeface="Poppins"/>
                <a:cs typeface="Poppins"/>
                <a:sym typeface="Poppins"/>
              </a:rPr>
              <a:t>Réglages</a:t>
            </a:r>
            <a:endParaRPr b="1" sz="1350">
              <a:solidFill>
                <a:schemeClr val="dk1"/>
              </a:solidFill>
              <a:latin typeface="Poppins"/>
              <a:ea typeface="Poppins"/>
              <a:cs typeface="Poppins"/>
              <a:sym typeface="Poppins"/>
            </a:endParaRPr>
          </a:p>
          <a:p>
            <a:pPr indent="-298450" lvl="0" marL="457200" rtl="0" algn="l">
              <a:lnSpc>
                <a:spcPct val="90000"/>
              </a:lnSpc>
              <a:spcBef>
                <a:spcPts val="800"/>
              </a:spcBef>
              <a:spcAft>
                <a:spcPts val="0"/>
              </a:spcAft>
              <a:buClr>
                <a:schemeClr val="dk1"/>
              </a:buClr>
              <a:buSzPts val="1100"/>
              <a:buFont typeface="Poppins"/>
              <a:buChar char="●"/>
            </a:pPr>
            <a:r>
              <a:rPr b="1" lang="fr">
                <a:solidFill>
                  <a:schemeClr val="dk1"/>
                </a:solidFill>
                <a:latin typeface="Poppins"/>
                <a:ea typeface="Poppins"/>
                <a:cs typeface="Poppins"/>
                <a:sym typeface="Poppins"/>
              </a:rPr>
              <a:t>QDQ :</a:t>
            </a:r>
            <a:r>
              <a:rPr lang="fr">
                <a:solidFill>
                  <a:schemeClr val="dk1"/>
                </a:solidFill>
                <a:latin typeface="Poppins"/>
                <a:ea typeface="Poppins"/>
                <a:cs typeface="Poppins"/>
                <a:sym typeface="Poppins"/>
              </a:rPr>
              <a:t> Insère des nœuds QuantizeLinear et DequantizeLinear dans le graphe. C'est le format moderne qui simule la quantization tout en maintenant la compatibilité avec les accélérateurs matériels.</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Activations (QUInt8) </a:t>
            </a:r>
            <a:r>
              <a:rPr lang="fr">
                <a:solidFill>
                  <a:schemeClr val="dk1"/>
                </a:solidFill>
                <a:latin typeface="Poppins"/>
                <a:ea typeface="Poppins"/>
                <a:cs typeface="Poppins"/>
                <a:sym typeface="Poppins"/>
              </a:rPr>
              <a:t>: La plupart des activations sortent de ReLU , donc l'entier non-signé (0 à 255) offre une meilleure résolution.</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Poids (QInt8) </a:t>
            </a:r>
            <a:r>
              <a:rPr lang="fr">
                <a:solidFill>
                  <a:schemeClr val="dk1"/>
                </a:solidFill>
                <a:latin typeface="Poppins"/>
                <a:ea typeface="Poppins"/>
                <a:cs typeface="Poppins"/>
                <a:sym typeface="Poppins"/>
              </a:rPr>
              <a:t>: Les poids du réseau sont généralement centrés autour de 0 (positifs et négatifs), donc l'entier signé (-128 à 127) est requis.</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per_channel :</a:t>
            </a:r>
            <a:r>
              <a:rPr lang="fr">
                <a:solidFill>
                  <a:schemeClr val="dk1"/>
                </a:solidFill>
                <a:latin typeface="Poppins"/>
                <a:ea typeface="Poppins"/>
                <a:cs typeface="Poppins"/>
                <a:sym typeface="Poppins"/>
              </a:rPr>
              <a:t> Calcule une échelle (scale) et un point zéro différents pour chaque canal (filtre) des convolutions. Indispensable pour préserver la précision des CNN comme YOLOP.</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reduce_range : </a:t>
            </a:r>
            <a:r>
              <a:rPr lang="fr">
                <a:solidFill>
                  <a:schemeClr val="dk1"/>
                </a:solidFill>
                <a:latin typeface="Poppins"/>
                <a:ea typeface="Poppins"/>
                <a:cs typeface="Poppins"/>
                <a:sym typeface="Poppins"/>
              </a:rPr>
              <a:t>Limite la quantification à 7 bits au lieu de 8. Cela évite les overflow lors des accumulations intermédiaires sur certains processeurs. C'est un choix de robustesse</a:t>
            </a:r>
            <a:endParaRPr>
              <a:solidFill>
                <a:schemeClr val="dk1"/>
              </a:solidFill>
              <a:latin typeface="Poppins"/>
              <a:ea typeface="Poppins"/>
              <a:cs typeface="Poppins"/>
              <a:sym typeface="Poppins"/>
            </a:endParaRPr>
          </a:p>
          <a:p>
            <a:pPr indent="0" lvl="0" marL="0" rtl="0" algn="l">
              <a:lnSpc>
                <a:spcPct val="90000"/>
              </a:lnSpc>
              <a:spcBef>
                <a:spcPts val="800"/>
              </a:spcBef>
              <a:spcAft>
                <a:spcPts val="0"/>
              </a:spcAft>
              <a:buClr>
                <a:schemeClr val="dk1"/>
              </a:buClr>
              <a:buSzPts val="1100"/>
              <a:buFont typeface="Arial"/>
              <a:buNone/>
            </a:pPr>
            <a:r>
              <a:t/>
            </a:r>
            <a:endParaRPr sz="900">
              <a:solidFill>
                <a:schemeClr val="dk1"/>
              </a:solidFill>
              <a:latin typeface="Quattrocento Sans"/>
              <a:ea typeface="Quattrocento Sans"/>
              <a:cs typeface="Quattrocento Sans"/>
              <a:sym typeface="Quattrocento Sans"/>
            </a:endParaRPr>
          </a:p>
          <a:p>
            <a:pPr indent="0" lvl="0" marL="0" rtl="0" algn="l">
              <a:spcBef>
                <a:spcPts val="0"/>
              </a:spcBef>
              <a:spcAft>
                <a:spcPts val="0"/>
              </a:spcAft>
              <a:buNone/>
            </a:pPr>
            <a:r>
              <a:t/>
            </a:r>
            <a:endParaRPr/>
          </a:p>
        </p:txBody>
      </p:sp>
      <p:sp>
        <p:nvSpPr>
          <p:cNvPr id="396" name="Google Shape;396;g3c225a58fac_0_61: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c225a58fac_0_95: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g3c225a58fac_0_95: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rPr lang="fr"/>
              <a:t>Diapositive photo / texte</a:t>
            </a:r>
            <a:endParaRPr/>
          </a:p>
        </p:txBody>
      </p:sp>
      <p:sp>
        <p:nvSpPr>
          <p:cNvPr id="412" name="Google Shape;412;g3c225a58fac_0_95: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c225a58fac_0_114: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3c225a58fac_0_114: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rPr lang="fr"/>
              <a:t>Diapositive texte / schéam</a:t>
            </a:r>
            <a:endParaRPr/>
          </a:p>
        </p:txBody>
      </p:sp>
      <p:sp>
        <p:nvSpPr>
          <p:cNvPr id="431" name="Google Shape;431;g3c225a58fac_0_114: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c252fdd046_0_0:notes"/>
          <p:cNvSpPr txBox="1"/>
          <p:nvPr>
            <p:ph idx="1" type="body"/>
          </p:nvPr>
        </p:nvSpPr>
        <p:spPr>
          <a:xfrm>
            <a:off x="685473" y="4401166"/>
            <a:ext cx="54870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g3c252fdd046_0_0: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c252fdd046_0_22: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g3c252fdd046_0_22: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t/>
            </a:r>
            <a:endParaRPr/>
          </a:p>
        </p:txBody>
      </p:sp>
      <p:sp>
        <p:nvSpPr>
          <p:cNvPr id="462" name="Google Shape;462;g3c252fdd046_0_22: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c252fdd046_0_79: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g3c252fdd046_0_79: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rPr lang="fr"/>
              <a:t>Diapositive photo / texte</a:t>
            </a:r>
            <a:endParaRPr/>
          </a:p>
        </p:txBody>
      </p:sp>
      <p:sp>
        <p:nvSpPr>
          <p:cNvPr id="488" name="Google Shape;488;g3c252fdd046_0_79: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c25b15f37d_0_9: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g3c25b15f37d_0_9: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rPr lang="fr"/>
              <a:t>Diapositive photo / texte</a:t>
            </a:r>
            <a:endParaRPr/>
          </a:p>
        </p:txBody>
      </p:sp>
      <p:sp>
        <p:nvSpPr>
          <p:cNvPr id="506" name="Google Shape;506;g3c25b15f37d_0_9: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c273c64ca6_0_10: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g3c273c64ca6_0_10: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rPr lang="fr"/>
              <a:t>Diapositive photo / texte</a:t>
            </a:r>
            <a:endParaRPr/>
          </a:p>
        </p:txBody>
      </p:sp>
      <p:sp>
        <p:nvSpPr>
          <p:cNvPr id="523" name="Google Shape;523;g3c273c64ca6_0_10: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c2988cd10b_0_0: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g3c2988cd10b_0_0: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lnSpc>
                <a:spcPct val="90000"/>
              </a:lnSpc>
              <a:spcBef>
                <a:spcPts val="0"/>
              </a:spcBef>
              <a:spcAft>
                <a:spcPts val="0"/>
              </a:spcAft>
              <a:buClr>
                <a:schemeClr val="dk1"/>
              </a:buClr>
              <a:buSzPts val="1100"/>
              <a:buFont typeface="Arial"/>
              <a:buNone/>
            </a:pPr>
            <a:r>
              <a:rPr b="1" lang="fr" sz="1300">
                <a:solidFill>
                  <a:schemeClr val="dk1"/>
                </a:solidFill>
                <a:latin typeface="Poppins"/>
                <a:ea typeface="Poppins"/>
                <a:cs typeface="Poppins"/>
                <a:sym typeface="Poppins"/>
              </a:rPr>
              <a:t>Pré-traitement et Simplification sur le modèle FP32.</a:t>
            </a:r>
            <a:endParaRPr sz="1300">
              <a:solidFill>
                <a:schemeClr val="dk1"/>
              </a:solidFill>
            </a:endParaRPr>
          </a:p>
          <a:p>
            <a:pPr indent="-298450" lvl="0" marL="457200" rtl="0" algn="l">
              <a:lnSpc>
                <a:spcPct val="90000"/>
              </a:lnSpc>
              <a:spcBef>
                <a:spcPts val="800"/>
              </a:spcBef>
              <a:spcAft>
                <a:spcPts val="0"/>
              </a:spcAft>
              <a:buClr>
                <a:schemeClr val="dk1"/>
              </a:buClr>
              <a:buSzPts val="1100"/>
              <a:buFont typeface="Poppins"/>
              <a:buChar char="●"/>
            </a:pPr>
            <a:r>
              <a:rPr b="1" lang="fr">
                <a:solidFill>
                  <a:schemeClr val="dk1"/>
                </a:solidFill>
                <a:latin typeface="Poppins"/>
                <a:ea typeface="Poppins"/>
                <a:cs typeface="Poppins"/>
                <a:sym typeface="Poppins"/>
              </a:rPr>
              <a:t>Objectif</a:t>
            </a:r>
            <a:r>
              <a:rPr lang="fr">
                <a:solidFill>
                  <a:schemeClr val="dk1"/>
                </a:solidFill>
                <a:latin typeface="Poppins"/>
                <a:ea typeface="Poppins"/>
                <a:cs typeface="Poppins"/>
                <a:sym typeface="Poppins"/>
              </a:rPr>
              <a:t> : Simplifier le graphe computationnel.</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Action</a:t>
            </a:r>
            <a:r>
              <a:rPr lang="fr">
                <a:solidFill>
                  <a:schemeClr val="dk1"/>
                </a:solidFill>
                <a:latin typeface="Poppins"/>
                <a:ea typeface="Poppins"/>
                <a:cs typeface="Poppins"/>
                <a:sym typeface="Poppins"/>
              </a:rPr>
              <a:t> : Fusion d'opérateurs (ex: Conv + BatchNorm + ReLU).</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Gain</a:t>
            </a:r>
            <a:r>
              <a:rPr lang="fr">
                <a:solidFill>
                  <a:schemeClr val="dk1"/>
                </a:solidFill>
                <a:latin typeface="Poppins"/>
                <a:ea typeface="Poppins"/>
                <a:cs typeface="Poppins"/>
                <a:sym typeface="Poppins"/>
              </a:rPr>
              <a:t> : Réduit la complexité et prépare le modèle pour une calibration plus stable.</a:t>
            </a:r>
            <a:endParaRPr>
              <a:solidFill>
                <a:schemeClr val="dk1"/>
              </a:solidFill>
              <a:latin typeface="Poppins"/>
              <a:ea typeface="Poppins"/>
              <a:cs typeface="Poppins"/>
              <a:sym typeface="Poppins"/>
            </a:endParaRPr>
          </a:p>
          <a:p>
            <a:pPr indent="0" lvl="0" marL="0" rtl="0" algn="l">
              <a:lnSpc>
                <a:spcPct val="90000"/>
              </a:lnSpc>
              <a:spcBef>
                <a:spcPts val="800"/>
              </a:spcBef>
              <a:spcAft>
                <a:spcPts val="0"/>
              </a:spcAft>
              <a:buClr>
                <a:schemeClr val="dk1"/>
              </a:buClr>
              <a:buSzPts val="1100"/>
              <a:buFont typeface="Arial"/>
              <a:buNone/>
            </a:pPr>
            <a:r>
              <a:rPr b="1" lang="fr" sz="1300">
                <a:solidFill>
                  <a:schemeClr val="dk1"/>
                </a:solidFill>
                <a:latin typeface="Poppins"/>
                <a:ea typeface="Poppins"/>
                <a:cs typeface="Poppins"/>
                <a:sym typeface="Poppins"/>
              </a:rPr>
              <a:t>Méthode de calibration : </a:t>
            </a:r>
            <a:r>
              <a:rPr b="1" lang="fr" sz="1400" u="sng">
                <a:solidFill>
                  <a:schemeClr val="dk1"/>
                </a:solidFill>
                <a:latin typeface="Poppins"/>
                <a:ea typeface="Poppins"/>
                <a:cs typeface="Poppins"/>
                <a:sym typeface="Poppins"/>
              </a:rPr>
              <a:t>Entropy</a:t>
            </a:r>
            <a:endParaRPr b="1" sz="1400" u="sng">
              <a:solidFill>
                <a:schemeClr val="dk1"/>
              </a:solidFill>
              <a:latin typeface="Poppins"/>
              <a:ea typeface="Poppins"/>
              <a:cs typeface="Poppins"/>
              <a:sym typeface="Poppins"/>
            </a:endParaRPr>
          </a:p>
          <a:p>
            <a:pPr indent="-298450" lvl="0" marL="457200" rtl="0" algn="l">
              <a:lnSpc>
                <a:spcPct val="90000"/>
              </a:lnSpc>
              <a:spcBef>
                <a:spcPts val="800"/>
              </a:spcBef>
              <a:spcAft>
                <a:spcPts val="0"/>
              </a:spcAft>
              <a:buClr>
                <a:schemeClr val="dk1"/>
              </a:buClr>
              <a:buSzPts val="1100"/>
              <a:buFont typeface="Poppins"/>
              <a:buChar char="●"/>
            </a:pPr>
            <a:r>
              <a:rPr b="1" lang="fr">
                <a:solidFill>
                  <a:schemeClr val="dk1"/>
                </a:solidFill>
                <a:latin typeface="Poppins"/>
                <a:ea typeface="Poppins"/>
                <a:cs typeface="Poppins"/>
                <a:sym typeface="Poppins"/>
              </a:rPr>
              <a:t>ONNX Runtime </a:t>
            </a:r>
            <a:r>
              <a:rPr lang="fr">
                <a:solidFill>
                  <a:schemeClr val="dk1"/>
                </a:solidFill>
                <a:latin typeface="Poppins"/>
                <a:ea typeface="Poppins"/>
                <a:cs typeface="Poppins"/>
                <a:sym typeface="Poppins"/>
              </a:rPr>
              <a:t>propose trois méthodes principales pour déterminer les intervalles de quantization : MinMax, Percentile et Entropy. Nous avons choisi l'Entropie.</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Principe</a:t>
            </a:r>
            <a:r>
              <a:rPr lang="fr">
                <a:solidFill>
                  <a:schemeClr val="dk1"/>
                </a:solidFill>
                <a:latin typeface="Poppins"/>
                <a:ea typeface="Poppins"/>
                <a:cs typeface="Poppins"/>
                <a:sym typeface="Poppins"/>
              </a:rPr>
              <a:t> : Contrairement au MinMax qui prend les valeurs extrêmes , l'Entropie cherche le seuil optimal minimisant la perte d'information entre la distribution Float32 et la distribution Int8.</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Fonctionnement</a:t>
            </a:r>
            <a:r>
              <a:rPr lang="fr">
                <a:solidFill>
                  <a:schemeClr val="dk1"/>
                </a:solidFill>
                <a:latin typeface="Poppins"/>
                <a:ea typeface="Poppins"/>
                <a:cs typeface="Poppins"/>
                <a:sym typeface="Poppins"/>
              </a:rPr>
              <a:t> : Elle utilise la </a:t>
            </a:r>
            <a:r>
              <a:rPr i="1" lang="fr" u="sng">
                <a:solidFill>
                  <a:schemeClr val="dk1"/>
                </a:solidFill>
                <a:latin typeface="Poppins"/>
                <a:ea typeface="Poppins"/>
                <a:cs typeface="Poppins"/>
                <a:sym typeface="Poppins"/>
              </a:rPr>
              <a:t>Divergence de Kullback-Leibler </a:t>
            </a:r>
            <a:r>
              <a:rPr lang="fr">
                <a:solidFill>
                  <a:schemeClr val="dk1"/>
                </a:solidFill>
                <a:latin typeface="Poppins"/>
                <a:ea typeface="Poppins"/>
                <a:cs typeface="Poppins"/>
                <a:sym typeface="Poppins"/>
              </a:rPr>
              <a:t>pour mesurer la différence entre les deux distributions de probabilité P (originale) et Q (quantifiée).</a:t>
            </a:r>
            <a:endParaRPr>
              <a:solidFill>
                <a:schemeClr val="dk1"/>
              </a:solidFill>
              <a:latin typeface="Poppins"/>
              <a:ea typeface="Poppins"/>
              <a:cs typeface="Poppins"/>
              <a:sym typeface="Poppins"/>
            </a:endParaRPr>
          </a:p>
          <a:p>
            <a:pPr indent="0" lvl="0" marL="0" rtl="0" algn="l">
              <a:lnSpc>
                <a:spcPct val="90000"/>
              </a:lnSpc>
              <a:spcBef>
                <a:spcPts val="800"/>
              </a:spcBef>
              <a:spcAft>
                <a:spcPts val="0"/>
              </a:spcAft>
              <a:buClr>
                <a:schemeClr val="dk1"/>
              </a:buClr>
              <a:buSzPts val="1100"/>
              <a:buFont typeface="Arial"/>
              <a:buNone/>
            </a:pPr>
            <a:r>
              <a:rPr b="1" lang="fr" sz="1350">
                <a:solidFill>
                  <a:schemeClr val="dk1"/>
                </a:solidFill>
                <a:latin typeface="Poppins"/>
                <a:ea typeface="Poppins"/>
                <a:cs typeface="Poppins"/>
                <a:sym typeface="Poppins"/>
              </a:rPr>
              <a:t>Réglages</a:t>
            </a:r>
            <a:endParaRPr b="1" sz="1350">
              <a:solidFill>
                <a:schemeClr val="dk1"/>
              </a:solidFill>
              <a:latin typeface="Poppins"/>
              <a:ea typeface="Poppins"/>
              <a:cs typeface="Poppins"/>
              <a:sym typeface="Poppins"/>
            </a:endParaRPr>
          </a:p>
          <a:p>
            <a:pPr indent="-298450" lvl="0" marL="457200" rtl="0" algn="l">
              <a:lnSpc>
                <a:spcPct val="90000"/>
              </a:lnSpc>
              <a:spcBef>
                <a:spcPts val="800"/>
              </a:spcBef>
              <a:spcAft>
                <a:spcPts val="0"/>
              </a:spcAft>
              <a:buClr>
                <a:schemeClr val="dk1"/>
              </a:buClr>
              <a:buSzPts val="1100"/>
              <a:buFont typeface="Poppins"/>
              <a:buChar char="●"/>
            </a:pPr>
            <a:r>
              <a:rPr b="1" lang="fr">
                <a:solidFill>
                  <a:schemeClr val="dk1"/>
                </a:solidFill>
                <a:latin typeface="Poppins"/>
                <a:ea typeface="Poppins"/>
                <a:cs typeface="Poppins"/>
                <a:sym typeface="Poppins"/>
              </a:rPr>
              <a:t>QDQ :</a:t>
            </a:r>
            <a:r>
              <a:rPr lang="fr">
                <a:solidFill>
                  <a:schemeClr val="dk1"/>
                </a:solidFill>
                <a:latin typeface="Poppins"/>
                <a:ea typeface="Poppins"/>
                <a:cs typeface="Poppins"/>
                <a:sym typeface="Poppins"/>
              </a:rPr>
              <a:t> Insère des nœuds QuantizeLinear et DequantizeLinear dans le graphe. C'est le format moderne qui simule la quantization tout en maintenant la compatibilité avec les accélérateurs matériels.</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Activations (QUInt8) </a:t>
            </a:r>
            <a:r>
              <a:rPr lang="fr">
                <a:solidFill>
                  <a:schemeClr val="dk1"/>
                </a:solidFill>
                <a:latin typeface="Poppins"/>
                <a:ea typeface="Poppins"/>
                <a:cs typeface="Poppins"/>
                <a:sym typeface="Poppins"/>
              </a:rPr>
              <a:t>: La plupart des activations sortent de ReLU , donc l'entier non-signé (0 à 255) offre une meilleure résolution.</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Poids (QInt8) </a:t>
            </a:r>
            <a:r>
              <a:rPr lang="fr">
                <a:solidFill>
                  <a:schemeClr val="dk1"/>
                </a:solidFill>
                <a:latin typeface="Poppins"/>
                <a:ea typeface="Poppins"/>
                <a:cs typeface="Poppins"/>
                <a:sym typeface="Poppins"/>
              </a:rPr>
              <a:t>: Les poids du réseau sont généralement centrés autour de 0 (positifs et négatifs), donc l'entier signé (-128 à 127) est requis.</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per_channel :</a:t>
            </a:r>
            <a:r>
              <a:rPr lang="fr">
                <a:solidFill>
                  <a:schemeClr val="dk1"/>
                </a:solidFill>
                <a:latin typeface="Poppins"/>
                <a:ea typeface="Poppins"/>
                <a:cs typeface="Poppins"/>
                <a:sym typeface="Poppins"/>
              </a:rPr>
              <a:t> Calcule une échelle (scale) et un point zéro différents pour chaque canal (filtre) des convolutions. Indispensable pour préserver la précision des CNN comme YOLOP.</a:t>
            </a:r>
            <a:endParaRPr>
              <a:solidFill>
                <a:schemeClr val="dk1"/>
              </a:solidFill>
              <a:latin typeface="Poppins"/>
              <a:ea typeface="Poppins"/>
              <a:cs typeface="Poppins"/>
              <a:sym typeface="Poppins"/>
            </a:endParaRPr>
          </a:p>
          <a:p>
            <a:pPr indent="-298450" lvl="0" marL="457200" rtl="0" algn="l">
              <a:lnSpc>
                <a:spcPct val="90000"/>
              </a:lnSpc>
              <a:spcBef>
                <a:spcPts val="0"/>
              </a:spcBef>
              <a:spcAft>
                <a:spcPts val="0"/>
              </a:spcAft>
              <a:buClr>
                <a:schemeClr val="dk1"/>
              </a:buClr>
              <a:buSzPts val="1100"/>
              <a:buFont typeface="Poppins"/>
              <a:buChar char="●"/>
            </a:pPr>
            <a:r>
              <a:rPr b="1" lang="fr">
                <a:solidFill>
                  <a:schemeClr val="dk1"/>
                </a:solidFill>
                <a:latin typeface="Poppins"/>
                <a:ea typeface="Poppins"/>
                <a:cs typeface="Poppins"/>
                <a:sym typeface="Poppins"/>
              </a:rPr>
              <a:t>reduce_range : </a:t>
            </a:r>
            <a:r>
              <a:rPr lang="fr">
                <a:solidFill>
                  <a:schemeClr val="dk1"/>
                </a:solidFill>
                <a:latin typeface="Poppins"/>
                <a:ea typeface="Poppins"/>
                <a:cs typeface="Poppins"/>
                <a:sym typeface="Poppins"/>
              </a:rPr>
              <a:t>Limite la quantification à 7 bits au lieu de 8. Cela évite les overflow lors des accumulations intermédiaires sur certains processeurs. C'est un choix de robustesse</a:t>
            </a:r>
            <a:endParaRPr>
              <a:solidFill>
                <a:schemeClr val="dk1"/>
              </a:solidFill>
              <a:latin typeface="Poppins"/>
              <a:ea typeface="Poppins"/>
              <a:cs typeface="Poppins"/>
              <a:sym typeface="Poppins"/>
            </a:endParaRPr>
          </a:p>
          <a:p>
            <a:pPr indent="0" lvl="0" marL="0" rtl="0" algn="l">
              <a:lnSpc>
                <a:spcPct val="90000"/>
              </a:lnSpc>
              <a:spcBef>
                <a:spcPts val="800"/>
              </a:spcBef>
              <a:spcAft>
                <a:spcPts val="0"/>
              </a:spcAft>
              <a:buClr>
                <a:schemeClr val="dk1"/>
              </a:buClr>
              <a:buSzPts val="1100"/>
              <a:buFont typeface="Arial"/>
              <a:buNone/>
            </a:pPr>
            <a:r>
              <a:t/>
            </a:r>
            <a:endParaRPr sz="900">
              <a:solidFill>
                <a:schemeClr val="dk1"/>
              </a:solidFill>
              <a:latin typeface="Quattrocento Sans"/>
              <a:ea typeface="Quattrocento Sans"/>
              <a:cs typeface="Quattrocento Sans"/>
              <a:sym typeface="Quattrocento Sans"/>
            </a:endParaRPr>
          </a:p>
          <a:p>
            <a:pPr indent="0" lvl="0" marL="0" rtl="0" algn="l">
              <a:spcBef>
                <a:spcPts val="0"/>
              </a:spcBef>
              <a:spcAft>
                <a:spcPts val="0"/>
              </a:spcAft>
              <a:buNone/>
            </a:pPr>
            <a:r>
              <a:t/>
            </a:r>
            <a:endParaRPr/>
          </a:p>
        </p:txBody>
      </p:sp>
      <p:sp>
        <p:nvSpPr>
          <p:cNvPr id="542" name="Google Shape;542;g3c2988cd10b_0_0: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c2988cd10b_1_23: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g3c2988cd10b_1_23: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rPr lang="fr"/>
              <a:t>Diapositive photo / texte</a:t>
            </a:r>
            <a:endParaRPr/>
          </a:p>
        </p:txBody>
      </p:sp>
      <p:sp>
        <p:nvSpPr>
          <p:cNvPr id="557" name="Google Shape;557;g3c2988cd10b_1_23: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c2ce4b5bce_0_0: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g3c2ce4b5bce_0_0: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t/>
            </a:r>
            <a:endParaRPr/>
          </a:p>
        </p:txBody>
      </p:sp>
      <p:sp>
        <p:nvSpPr>
          <p:cNvPr id="576" name="Google Shape;576;g3c2ce4b5bce_0_0: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c2ce4b5bce_0_28: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 name="Google Shape;589;g3c2ce4b5bce_0_28: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rPr lang="fr"/>
              <a:t>Diapositive photo / texte</a:t>
            </a:r>
            <a:endParaRPr/>
          </a:p>
        </p:txBody>
      </p:sp>
      <p:sp>
        <p:nvSpPr>
          <p:cNvPr id="590" name="Google Shape;590;g3c2ce4b5bce_0_28: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c2988cd10b_1_8: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g3c2988cd10b_1_8: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t/>
            </a:r>
            <a:endParaRPr/>
          </a:p>
        </p:txBody>
      </p:sp>
      <p:sp>
        <p:nvSpPr>
          <p:cNvPr id="607" name="Google Shape;607;g3c2988cd10b_1_8: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c2ce4b5bce_0_52: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g3c2ce4b5bce_0_52: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t/>
            </a:r>
            <a:endParaRPr/>
          </a:p>
        </p:txBody>
      </p:sp>
      <p:sp>
        <p:nvSpPr>
          <p:cNvPr id="622" name="Google Shape;622;g3c2ce4b5bce_0_52: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c2f212fb3d_0_6: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g3c2f212fb3d_0_6: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t/>
            </a:r>
            <a:endParaRPr/>
          </a:p>
        </p:txBody>
      </p:sp>
      <p:sp>
        <p:nvSpPr>
          <p:cNvPr id="638" name="Google Shape;638;g3c2f212fb3d_0_6: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c3245fd303_0_49: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g3c3245fd303_0_49: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t/>
            </a:r>
            <a:endParaRPr/>
          </a:p>
        </p:txBody>
      </p:sp>
      <p:sp>
        <p:nvSpPr>
          <p:cNvPr id="655" name="Google Shape;655;g3c3245fd303_0_49: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c3245fd303_0_67: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5" name="Google Shape;675;g3c3245fd303_0_67: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t/>
            </a:r>
            <a:endParaRPr/>
          </a:p>
        </p:txBody>
      </p:sp>
      <p:sp>
        <p:nvSpPr>
          <p:cNvPr id="676" name="Google Shape;676;g3c3245fd303_0_67: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c3245fd303_0_99: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 name="Google Shape;695;g3c3245fd303_0_99:notes"/>
          <p:cNvSpPr txBox="1"/>
          <p:nvPr>
            <p:ph idx="1" type="body"/>
          </p:nvPr>
        </p:nvSpPr>
        <p:spPr>
          <a:xfrm>
            <a:off x="685473" y="4401166"/>
            <a:ext cx="5487000" cy="3600300"/>
          </a:xfrm>
          <a:prstGeom prst="rect">
            <a:avLst/>
          </a:prstGeom>
          <a:noFill/>
          <a:ln>
            <a:noFill/>
          </a:ln>
        </p:spPr>
        <p:txBody>
          <a:bodyPr anchorCtr="0" anchor="t" bIns="45550" lIns="91125" spcFirstLastPara="1" rIns="91125" wrap="square" tIns="45550">
            <a:noAutofit/>
          </a:bodyPr>
          <a:lstStyle/>
          <a:p>
            <a:pPr indent="0" lvl="0" marL="0" rtl="0" algn="l">
              <a:spcBef>
                <a:spcPts val="0"/>
              </a:spcBef>
              <a:spcAft>
                <a:spcPts val="0"/>
              </a:spcAft>
              <a:buNone/>
            </a:pPr>
            <a:r>
              <a:t/>
            </a:r>
            <a:endParaRPr/>
          </a:p>
        </p:txBody>
      </p:sp>
      <p:sp>
        <p:nvSpPr>
          <p:cNvPr id="696" name="Google Shape;696;g3c3245fd303_0_99:notes"/>
          <p:cNvSpPr txBox="1"/>
          <p:nvPr>
            <p:ph idx="12" type="sldNum"/>
          </p:nvPr>
        </p:nvSpPr>
        <p:spPr>
          <a:xfrm>
            <a:off x="3884701" y="8684879"/>
            <a:ext cx="2972100" cy="459000"/>
          </a:xfrm>
          <a:prstGeom prst="rect">
            <a:avLst/>
          </a:prstGeom>
          <a:noFill/>
          <a:ln>
            <a:noFill/>
          </a:ln>
        </p:spPr>
        <p:txBody>
          <a:bodyPr anchorCtr="0" anchor="b" bIns="45550" lIns="91125" spcFirstLastPara="1" rIns="91125" wrap="square" tIns="4555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c225a58fac_0_19:notes"/>
          <p:cNvSpPr txBox="1"/>
          <p:nvPr>
            <p:ph idx="1" type="body"/>
          </p:nvPr>
        </p:nvSpPr>
        <p:spPr>
          <a:xfrm>
            <a:off x="685473" y="4401166"/>
            <a:ext cx="54870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g3c225a58fac_0_19:notes"/>
          <p:cNvSpPr/>
          <p:nvPr>
            <p:ph idx="2" type="sldImg"/>
          </p:nvPr>
        </p:nvSpPr>
        <p:spPr>
          <a:xfrm>
            <a:off x="440437" y="1142265"/>
            <a:ext cx="59772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 Id="rId3" Type="http://schemas.openxmlformats.org/officeDocument/2006/relationships/image" Target="../media/image3.png"/><Relationship Id="rId4"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8.pn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g"/><Relationship Id="rId3" Type="http://schemas.openxmlformats.org/officeDocument/2006/relationships/image" Target="../media/image8.png"/><Relationship Id="rId4"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6.jp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18.jpg"/><Relationship Id="rId8" Type="http://schemas.openxmlformats.org/officeDocument/2006/relationships/image" Target="../media/image1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0.png"/><Relationship Id="rId3" Type="http://schemas.openxmlformats.org/officeDocument/2006/relationships/image" Target="../media/image8.png"/><Relationship Id="rId4" Type="http://schemas.openxmlformats.org/officeDocument/2006/relationships/image" Target="../media/image21.png"/><Relationship Id="rId5"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3.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 Id="rId3" Type="http://schemas.openxmlformats.org/officeDocument/2006/relationships/image" Target="../media/image8.png"/><Relationship Id="rId4" Type="http://schemas.openxmlformats.org/officeDocument/2006/relationships/image" Target="../media/image26.png"/><Relationship Id="rId5" Type="http://schemas.openxmlformats.org/officeDocument/2006/relationships/image" Target="../media/image30.png"/><Relationship Id="rId6" Type="http://schemas.openxmlformats.org/officeDocument/2006/relationships/image" Target="../media/image23.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19.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4.jpg"/><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En-tête accroche modifiable">
  <p:cSld name="5_En-tête accroche modifiable">
    <p:spTree>
      <p:nvGrpSpPr>
        <p:cNvPr id="58" name="Shape 58"/>
        <p:cNvGrpSpPr/>
        <p:nvPr/>
      </p:nvGrpSpPr>
      <p:grpSpPr>
        <a:xfrm>
          <a:off x="0" y="0"/>
          <a:ext cx="0" cy="0"/>
          <a:chOff x="0" y="0"/>
          <a:chExt cx="0" cy="0"/>
        </a:xfrm>
      </p:grpSpPr>
      <p:pic>
        <p:nvPicPr>
          <p:cNvPr id="59" name="Google Shape;59;p14"/>
          <p:cNvPicPr preferRelativeResize="0"/>
          <p:nvPr/>
        </p:nvPicPr>
        <p:blipFill rotWithShape="1">
          <a:blip r:embed="rId2">
            <a:alphaModFix/>
          </a:blip>
          <a:srcRect b="0" l="0" r="0" t="0"/>
          <a:stretch/>
        </p:blipFill>
        <p:spPr>
          <a:xfrm>
            <a:off x="-3085" y="-11251"/>
            <a:ext cx="9157970" cy="1180377"/>
          </a:xfrm>
          <a:prstGeom prst="rect">
            <a:avLst/>
          </a:prstGeom>
          <a:noFill/>
          <a:ln>
            <a:noFill/>
          </a:ln>
        </p:spPr>
      </p:pic>
      <p:grpSp>
        <p:nvGrpSpPr>
          <p:cNvPr id="60" name="Google Shape;60;p14"/>
          <p:cNvGrpSpPr/>
          <p:nvPr/>
        </p:nvGrpSpPr>
        <p:grpSpPr>
          <a:xfrm>
            <a:off x="3914503" y="-16131"/>
            <a:ext cx="1314995" cy="1232573"/>
            <a:chOff x="5219337" y="-12799"/>
            <a:chExt cx="1753326" cy="1643431"/>
          </a:xfrm>
        </p:grpSpPr>
        <p:sp>
          <p:nvSpPr>
            <p:cNvPr id="61" name="Google Shape;61;p14"/>
            <p:cNvSpPr/>
            <p:nvPr/>
          </p:nvSpPr>
          <p:spPr>
            <a:xfrm>
              <a:off x="5219337" y="-12799"/>
              <a:ext cx="1753326" cy="1623029"/>
            </a:xfrm>
            <a:prstGeom prst="rect">
              <a:avLst/>
            </a:prstGeom>
            <a:solidFill>
              <a:schemeClr val="lt1"/>
            </a:solidFill>
            <a:ln>
              <a:noFill/>
            </a:ln>
            <a:effectLst>
              <a:outerShdw blurRad="419100" sx="99000" rotWithShape="0" algn="ctr" dir="5400000" dist="63500" sy="99000">
                <a:srgbClr val="000000">
                  <a:alpha val="9803"/>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Quattrocento Sans"/>
                <a:ea typeface="Quattrocento Sans"/>
                <a:cs typeface="Quattrocento Sans"/>
                <a:sym typeface="Quattrocento Sans"/>
              </a:endParaRPr>
            </a:p>
          </p:txBody>
        </p:sp>
        <p:pic>
          <p:nvPicPr>
            <p:cNvPr id="62" name="Google Shape;62;p14"/>
            <p:cNvPicPr preferRelativeResize="0"/>
            <p:nvPr/>
          </p:nvPicPr>
          <p:blipFill rotWithShape="1">
            <a:blip r:embed="rId3">
              <a:alphaModFix/>
            </a:blip>
            <a:srcRect b="0" l="0" r="0" t="0"/>
            <a:stretch/>
          </p:blipFill>
          <p:spPr>
            <a:xfrm>
              <a:off x="5401076" y="48579"/>
              <a:ext cx="1424685" cy="1582053"/>
            </a:xfrm>
            <a:prstGeom prst="rect">
              <a:avLst/>
            </a:prstGeom>
            <a:noFill/>
            <a:ln>
              <a:noFill/>
            </a:ln>
          </p:spPr>
        </p:pic>
      </p:grpSp>
      <p:pic>
        <p:nvPicPr>
          <p:cNvPr id="63" name="Google Shape;63;p14"/>
          <p:cNvPicPr preferRelativeResize="0"/>
          <p:nvPr/>
        </p:nvPicPr>
        <p:blipFill rotWithShape="1">
          <a:blip r:embed="rId4">
            <a:alphaModFix/>
          </a:blip>
          <a:srcRect b="0" l="0" r="0" t="0"/>
          <a:stretch/>
        </p:blipFill>
        <p:spPr>
          <a:xfrm>
            <a:off x="6137645" y="281846"/>
            <a:ext cx="3207386" cy="1878381"/>
          </a:xfrm>
          <a:prstGeom prst="rect">
            <a:avLst/>
          </a:prstGeom>
          <a:noFill/>
          <a:ln>
            <a:noFill/>
          </a:ln>
        </p:spPr>
      </p:pic>
      <p:pic>
        <p:nvPicPr>
          <p:cNvPr id="64" name="Google Shape;64;p14"/>
          <p:cNvPicPr preferRelativeResize="0"/>
          <p:nvPr/>
        </p:nvPicPr>
        <p:blipFill rotWithShape="1">
          <a:blip r:embed="rId5">
            <a:alphaModFix/>
          </a:blip>
          <a:srcRect b="0" l="0" r="0" t="0"/>
          <a:stretch/>
        </p:blipFill>
        <p:spPr>
          <a:xfrm>
            <a:off x="-402841" y="565605"/>
            <a:ext cx="2612291" cy="3513079"/>
          </a:xfrm>
          <a:prstGeom prst="rect">
            <a:avLst/>
          </a:prstGeom>
          <a:noFill/>
          <a:ln>
            <a:noFill/>
          </a:ln>
        </p:spPr>
      </p:pic>
      <p:pic>
        <p:nvPicPr>
          <p:cNvPr id="65" name="Google Shape;65;p14"/>
          <p:cNvPicPr preferRelativeResize="0"/>
          <p:nvPr/>
        </p:nvPicPr>
        <p:blipFill rotWithShape="1">
          <a:blip r:embed="rId6">
            <a:alphaModFix/>
          </a:blip>
          <a:srcRect b="0" l="0" r="0" t="0"/>
          <a:stretch/>
        </p:blipFill>
        <p:spPr>
          <a:xfrm rot="4277967">
            <a:off x="7924872" y="2916617"/>
            <a:ext cx="1652449" cy="1808586"/>
          </a:xfrm>
          <a:prstGeom prst="rect">
            <a:avLst/>
          </a:prstGeom>
          <a:noFill/>
          <a:ln>
            <a:noFill/>
          </a:ln>
        </p:spPr>
      </p:pic>
      <p:sp>
        <p:nvSpPr>
          <p:cNvPr id="66" name="Google Shape;66;p14"/>
          <p:cNvSpPr/>
          <p:nvPr/>
        </p:nvSpPr>
        <p:spPr>
          <a:xfrm>
            <a:off x="4206819" y="3382574"/>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67" name="Google Shape;67;p14"/>
          <p:cNvSpPr/>
          <p:nvPr/>
        </p:nvSpPr>
        <p:spPr>
          <a:xfrm>
            <a:off x="3291427" y="4693583"/>
            <a:ext cx="2561147" cy="230833"/>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fr" sz="1100" u="none" cap="none" strike="noStrike">
                <a:solidFill>
                  <a:schemeClr val="dk1"/>
                </a:solidFill>
                <a:latin typeface="Poppins Medium"/>
                <a:ea typeface="Poppins Medium"/>
                <a:cs typeface="Poppins Medium"/>
                <a:sym typeface="Poppins Medium"/>
              </a:rPr>
              <a:t>L’École des Ingénieurs Scientifiques</a:t>
            </a:r>
            <a:endParaRPr sz="1100"/>
          </a:p>
        </p:txBody>
      </p:sp>
      <p:pic>
        <p:nvPicPr>
          <p:cNvPr id="68" name="Google Shape;68;p14"/>
          <p:cNvPicPr preferRelativeResize="0"/>
          <p:nvPr/>
        </p:nvPicPr>
        <p:blipFill rotWithShape="1">
          <a:blip r:embed="rId7">
            <a:alphaModFix/>
          </a:blip>
          <a:srcRect b="0" l="0" r="0" t="0"/>
          <a:stretch/>
        </p:blipFill>
        <p:spPr>
          <a:xfrm>
            <a:off x="3363443" y="4330706"/>
            <a:ext cx="2417114" cy="302740"/>
          </a:xfrm>
          <a:prstGeom prst="rect">
            <a:avLst/>
          </a:prstGeom>
          <a:noFill/>
          <a:ln>
            <a:noFill/>
          </a:ln>
        </p:spPr>
      </p:pic>
      <p:sp>
        <p:nvSpPr>
          <p:cNvPr id="69" name="Google Shape;69;p14"/>
          <p:cNvSpPr txBox="1"/>
          <p:nvPr>
            <p:ph idx="1" type="body"/>
          </p:nvPr>
        </p:nvSpPr>
        <p:spPr>
          <a:xfrm>
            <a:off x="2393362" y="1909270"/>
            <a:ext cx="4357277" cy="334360"/>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800"/>
              </a:spcBef>
              <a:spcAft>
                <a:spcPts val="0"/>
              </a:spcAft>
              <a:buClr>
                <a:schemeClr val="dk1"/>
              </a:buClr>
              <a:buSzPts val="2100"/>
              <a:buFont typeface="Arial"/>
              <a:buNone/>
              <a:defRPr b="0" i="0" sz="21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70" name="Google Shape;70;p14"/>
          <p:cNvSpPr txBox="1"/>
          <p:nvPr>
            <p:ph idx="2" type="body"/>
          </p:nvPr>
        </p:nvSpPr>
        <p:spPr>
          <a:xfrm>
            <a:off x="2393362" y="2258932"/>
            <a:ext cx="4357277" cy="407879"/>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800"/>
              </a:spcBef>
              <a:spcAft>
                <a:spcPts val="0"/>
              </a:spcAft>
              <a:buClr>
                <a:schemeClr val="dk1"/>
              </a:buClr>
              <a:buSzPts val="3600"/>
              <a:buFont typeface="Arial"/>
              <a:buNone/>
              <a:defRPr b="1" i="0" sz="36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71" name="Google Shape;71;p14"/>
          <p:cNvSpPr txBox="1"/>
          <p:nvPr>
            <p:ph idx="3" type="body"/>
          </p:nvPr>
        </p:nvSpPr>
        <p:spPr>
          <a:xfrm>
            <a:off x="2393362" y="2750694"/>
            <a:ext cx="4357277" cy="334360"/>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800"/>
              </a:spcBef>
              <a:spcAft>
                <a:spcPts val="0"/>
              </a:spcAft>
              <a:buClr>
                <a:srgbClr val="7B949E"/>
              </a:buClr>
              <a:buSzPts val="3000"/>
              <a:buFont typeface="Arial"/>
              <a:buNone/>
              <a:defRPr b="0" i="0" sz="3000" u="none" cap="none" strike="noStrike">
                <a:solidFill>
                  <a:srgbClr val="7B949E"/>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72" name="Google Shape;72;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latin typeface="Poppins"/>
                <a:ea typeface="Poppins"/>
                <a:cs typeface="Poppins"/>
                <a:sym typeface="Poppins"/>
              </a:defRPr>
            </a:lvl1pPr>
            <a:lvl2pPr lvl="1">
              <a:buNone/>
              <a:defRPr>
                <a:solidFill>
                  <a:schemeClr val="dk1"/>
                </a:solidFill>
                <a:latin typeface="Poppins"/>
                <a:ea typeface="Poppins"/>
                <a:cs typeface="Poppins"/>
                <a:sym typeface="Poppins"/>
              </a:defRPr>
            </a:lvl2pPr>
            <a:lvl3pPr lvl="2">
              <a:buNone/>
              <a:defRPr>
                <a:solidFill>
                  <a:schemeClr val="dk1"/>
                </a:solidFill>
                <a:latin typeface="Poppins"/>
                <a:ea typeface="Poppins"/>
                <a:cs typeface="Poppins"/>
                <a:sym typeface="Poppins"/>
              </a:defRPr>
            </a:lvl3pPr>
            <a:lvl4pPr lvl="3">
              <a:buNone/>
              <a:defRPr>
                <a:solidFill>
                  <a:schemeClr val="dk1"/>
                </a:solidFill>
                <a:latin typeface="Poppins"/>
                <a:ea typeface="Poppins"/>
                <a:cs typeface="Poppins"/>
                <a:sym typeface="Poppins"/>
              </a:defRPr>
            </a:lvl4pPr>
            <a:lvl5pPr lvl="4">
              <a:buNone/>
              <a:defRPr>
                <a:solidFill>
                  <a:schemeClr val="dk1"/>
                </a:solidFill>
                <a:latin typeface="Poppins"/>
                <a:ea typeface="Poppins"/>
                <a:cs typeface="Poppins"/>
                <a:sym typeface="Poppins"/>
              </a:defRPr>
            </a:lvl5pPr>
            <a:lvl6pPr lvl="5">
              <a:buNone/>
              <a:defRPr>
                <a:solidFill>
                  <a:schemeClr val="dk1"/>
                </a:solidFill>
                <a:latin typeface="Poppins"/>
                <a:ea typeface="Poppins"/>
                <a:cs typeface="Poppins"/>
                <a:sym typeface="Poppins"/>
              </a:defRPr>
            </a:lvl6pPr>
            <a:lvl7pPr lvl="6">
              <a:buNone/>
              <a:defRPr>
                <a:solidFill>
                  <a:schemeClr val="dk1"/>
                </a:solidFill>
                <a:latin typeface="Poppins"/>
                <a:ea typeface="Poppins"/>
                <a:cs typeface="Poppins"/>
                <a:sym typeface="Poppins"/>
              </a:defRPr>
            </a:lvl7pPr>
            <a:lvl8pPr lvl="7">
              <a:buNone/>
              <a:defRPr>
                <a:solidFill>
                  <a:schemeClr val="dk1"/>
                </a:solidFill>
                <a:latin typeface="Poppins"/>
                <a:ea typeface="Poppins"/>
                <a:cs typeface="Poppins"/>
                <a:sym typeface="Poppins"/>
              </a:defRPr>
            </a:lvl8pPr>
            <a:lvl9pPr lvl="8">
              <a:buNone/>
              <a:defRPr>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iffres clefs">
  <p:cSld name="Chiffres clefs">
    <p:spTree>
      <p:nvGrpSpPr>
        <p:cNvPr id="73" name="Shape 73"/>
        <p:cNvGrpSpPr/>
        <p:nvPr/>
      </p:nvGrpSpPr>
      <p:grpSpPr>
        <a:xfrm>
          <a:off x="0" y="0"/>
          <a:ext cx="0" cy="0"/>
          <a:chOff x="0" y="0"/>
          <a:chExt cx="0" cy="0"/>
        </a:xfrm>
      </p:grpSpPr>
      <p:sp>
        <p:nvSpPr>
          <p:cNvPr id="74" name="Google Shape;74;p15"/>
          <p:cNvSpPr/>
          <p:nvPr/>
        </p:nvSpPr>
        <p:spPr>
          <a:xfrm>
            <a:off x="0" y="0"/>
            <a:ext cx="4381226" cy="5064369"/>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75" name="Google Shape;75;p15"/>
          <p:cNvSpPr/>
          <p:nvPr/>
        </p:nvSpPr>
        <p:spPr>
          <a:xfrm>
            <a:off x="700871" y="766821"/>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76" name="Google Shape;76;p15"/>
          <p:cNvSpPr txBox="1"/>
          <p:nvPr>
            <p:ph idx="1" type="body"/>
          </p:nvPr>
        </p:nvSpPr>
        <p:spPr>
          <a:xfrm>
            <a:off x="615085" y="382455"/>
            <a:ext cx="3480666" cy="29051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700"/>
              <a:buFont typeface="Arial"/>
              <a:buNone/>
              <a:defRPr b="1" i="0" sz="1700" u="none" cap="none" strike="noStrike">
                <a:solidFill>
                  <a:schemeClr val="dk1"/>
                </a:solidFill>
                <a:latin typeface="Poppins SemiBold"/>
                <a:ea typeface="Poppins SemiBold"/>
                <a:cs typeface="Poppins SemiBold"/>
                <a:sym typeface="Poppins SemiBold"/>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77" name="Google Shape;77;p15"/>
          <p:cNvSpPr txBox="1"/>
          <p:nvPr>
            <p:ph idx="2" type="body"/>
          </p:nvPr>
        </p:nvSpPr>
        <p:spPr>
          <a:xfrm>
            <a:off x="700871" y="1079527"/>
            <a:ext cx="3142799" cy="3141599"/>
          </a:xfrm>
          <a:prstGeom prst="rect">
            <a:avLst/>
          </a:prstGeom>
          <a:noFill/>
          <a:ln>
            <a:noFill/>
          </a:ln>
        </p:spPr>
        <p:txBody>
          <a:bodyPr anchorCtr="0" anchor="t" bIns="34275" lIns="68575" spcFirstLastPara="1" rIns="68575" wrap="square" tIns="34275">
            <a:noAutofit/>
          </a:bodyPr>
          <a:lstStyle>
            <a:lvl1pPr indent="-228600" lvl="0" marL="457200" marR="0" rtl="0" algn="just">
              <a:lnSpc>
                <a:spcPct val="133333"/>
              </a:lnSpc>
              <a:spcBef>
                <a:spcPts val="800"/>
              </a:spcBef>
              <a:spcAft>
                <a:spcPts val="0"/>
              </a:spcAft>
              <a:buClr>
                <a:schemeClr val="dk1"/>
              </a:buClr>
              <a:buSzPts val="900"/>
              <a:buFont typeface="Arial"/>
              <a:buNone/>
              <a:defRPr b="0" i="0" sz="9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78" name="Google Shape;78;p15"/>
          <p:cNvSpPr/>
          <p:nvPr/>
        </p:nvSpPr>
        <p:spPr>
          <a:xfrm>
            <a:off x="5077229" y="1035136"/>
            <a:ext cx="82738" cy="82738"/>
          </a:xfrm>
          <a:prstGeom prst="ellipse">
            <a:avLst/>
          </a:prstGeom>
          <a:solidFill>
            <a:srgbClr val="7B949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B949E"/>
              </a:solidFill>
              <a:latin typeface="Quattrocento Sans"/>
              <a:ea typeface="Quattrocento Sans"/>
              <a:cs typeface="Quattrocento Sans"/>
              <a:sym typeface="Quattrocento Sans"/>
            </a:endParaRPr>
          </a:p>
        </p:txBody>
      </p:sp>
      <p:sp>
        <p:nvSpPr>
          <p:cNvPr id="79" name="Google Shape;79;p15"/>
          <p:cNvSpPr txBox="1"/>
          <p:nvPr>
            <p:ph idx="3" type="body"/>
          </p:nvPr>
        </p:nvSpPr>
        <p:spPr>
          <a:xfrm>
            <a:off x="5159966" y="943882"/>
            <a:ext cx="1585190" cy="265245"/>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400"/>
              <a:buFont typeface="Arial"/>
              <a:buNone/>
              <a:defRPr b="1" i="0" sz="1400" u="none" cap="none" strike="noStrike">
                <a:solidFill>
                  <a:schemeClr val="dk1"/>
                </a:solidFill>
                <a:latin typeface="Poppins SemiBold"/>
                <a:ea typeface="Poppins SemiBold"/>
                <a:cs typeface="Poppins SemiBold"/>
                <a:sym typeface="Poppins SemiBold"/>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pic>
        <p:nvPicPr>
          <p:cNvPr id="80" name="Google Shape;80;p15"/>
          <p:cNvPicPr preferRelativeResize="0"/>
          <p:nvPr/>
        </p:nvPicPr>
        <p:blipFill rotWithShape="1">
          <a:blip r:embed="rId2">
            <a:alphaModFix/>
          </a:blip>
          <a:srcRect b="0" l="0" r="0" t="0"/>
          <a:stretch/>
        </p:blipFill>
        <p:spPr>
          <a:xfrm rot="9305454">
            <a:off x="7941489" y="3236438"/>
            <a:ext cx="2650733" cy="1552381"/>
          </a:xfrm>
          <a:prstGeom prst="rect">
            <a:avLst/>
          </a:prstGeom>
          <a:noFill/>
          <a:ln>
            <a:noFill/>
          </a:ln>
        </p:spPr>
      </p:pic>
      <p:sp>
        <p:nvSpPr>
          <p:cNvPr id="81" name="Google Shape;81;p15"/>
          <p:cNvSpPr/>
          <p:nvPr/>
        </p:nvSpPr>
        <p:spPr>
          <a:xfrm>
            <a:off x="6697348" y="238259"/>
            <a:ext cx="170762" cy="170761"/>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82" name="Google Shape;82;p15"/>
          <p:cNvSpPr/>
          <p:nvPr/>
        </p:nvSpPr>
        <p:spPr>
          <a:xfrm>
            <a:off x="6996547" y="-249241"/>
            <a:ext cx="502481" cy="502481"/>
          </a:xfrm>
          <a:prstGeom prst="ellipse">
            <a:avLst/>
          </a:prstGeom>
          <a:noFill/>
          <a:ln cap="flat" cmpd="sng" w="57150">
            <a:solidFill>
              <a:srgbClr val="BAA647"/>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83" name="Google Shape;83;p15"/>
          <p:cNvSpPr txBox="1"/>
          <p:nvPr>
            <p:ph idx="4" type="body"/>
          </p:nvPr>
        </p:nvSpPr>
        <p:spPr>
          <a:xfrm>
            <a:off x="5159966" y="1345647"/>
            <a:ext cx="950321" cy="346207"/>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2700"/>
              <a:buFont typeface="Arial"/>
              <a:buNone/>
              <a:defRPr b="1" i="0" sz="2700" u="none" cap="none" strike="noStrike">
                <a:solidFill>
                  <a:schemeClr val="dk1"/>
                </a:solidFill>
                <a:latin typeface="Poppins SemiBold"/>
                <a:ea typeface="Poppins SemiBold"/>
                <a:cs typeface="Poppins SemiBold"/>
                <a:sym typeface="Poppins SemiBold"/>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84" name="Google Shape;84;p15"/>
          <p:cNvSpPr txBox="1"/>
          <p:nvPr>
            <p:ph idx="5" type="body"/>
          </p:nvPr>
        </p:nvSpPr>
        <p:spPr>
          <a:xfrm>
            <a:off x="5159966" y="1696149"/>
            <a:ext cx="1894753" cy="205256"/>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45454"/>
              </a:lnSpc>
              <a:spcBef>
                <a:spcPts val="800"/>
              </a:spcBef>
              <a:spcAft>
                <a:spcPts val="0"/>
              </a:spcAft>
              <a:buClr>
                <a:schemeClr val="dk1"/>
              </a:buClr>
              <a:buSzPts val="800"/>
              <a:buFont typeface="Arial"/>
              <a:buNone/>
              <a:defRPr b="0" i="0" sz="8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85" name="Google Shape;85;p15"/>
          <p:cNvSpPr txBox="1"/>
          <p:nvPr>
            <p:ph idx="6" type="body"/>
          </p:nvPr>
        </p:nvSpPr>
        <p:spPr>
          <a:xfrm>
            <a:off x="5159966" y="2058795"/>
            <a:ext cx="950321" cy="346208"/>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2700"/>
              <a:buFont typeface="Arial"/>
              <a:buNone/>
              <a:defRPr b="1" i="0" sz="2700" u="none" cap="none" strike="noStrike">
                <a:solidFill>
                  <a:schemeClr val="dk1"/>
                </a:solidFill>
                <a:latin typeface="Poppins SemiBold"/>
                <a:ea typeface="Poppins SemiBold"/>
                <a:cs typeface="Poppins SemiBold"/>
                <a:sym typeface="Poppins SemiBold"/>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86" name="Google Shape;86;p15"/>
          <p:cNvSpPr txBox="1"/>
          <p:nvPr>
            <p:ph idx="7" type="body"/>
          </p:nvPr>
        </p:nvSpPr>
        <p:spPr>
          <a:xfrm>
            <a:off x="5159966" y="2409297"/>
            <a:ext cx="1894753" cy="205256"/>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45454"/>
              </a:lnSpc>
              <a:spcBef>
                <a:spcPts val="800"/>
              </a:spcBef>
              <a:spcAft>
                <a:spcPts val="0"/>
              </a:spcAft>
              <a:buClr>
                <a:schemeClr val="dk1"/>
              </a:buClr>
              <a:buSzPts val="800"/>
              <a:buFont typeface="Arial"/>
              <a:buNone/>
              <a:defRPr b="0" i="0" sz="8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87" name="Google Shape;87;p15"/>
          <p:cNvSpPr txBox="1"/>
          <p:nvPr>
            <p:ph idx="8" type="body"/>
          </p:nvPr>
        </p:nvSpPr>
        <p:spPr>
          <a:xfrm>
            <a:off x="5159966" y="2788556"/>
            <a:ext cx="950321" cy="346208"/>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2700"/>
              <a:buFont typeface="Arial"/>
              <a:buNone/>
              <a:defRPr b="1" i="0" sz="2700" u="none" cap="none" strike="noStrike">
                <a:solidFill>
                  <a:schemeClr val="dk1"/>
                </a:solidFill>
                <a:latin typeface="Poppins SemiBold"/>
                <a:ea typeface="Poppins SemiBold"/>
                <a:cs typeface="Poppins SemiBold"/>
                <a:sym typeface="Poppins SemiBold"/>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88" name="Google Shape;88;p15"/>
          <p:cNvSpPr txBox="1"/>
          <p:nvPr>
            <p:ph idx="9" type="body"/>
          </p:nvPr>
        </p:nvSpPr>
        <p:spPr>
          <a:xfrm>
            <a:off x="5159966" y="3139058"/>
            <a:ext cx="1894753" cy="205255"/>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45454"/>
              </a:lnSpc>
              <a:spcBef>
                <a:spcPts val="800"/>
              </a:spcBef>
              <a:spcAft>
                <a:spcPts val="0"/>
              </a:spcAft>
              <a:buClr>
                <a:schemeClr val="dk1"/>
              </a:buClr>
              <a:buSzPts val="800"/>
              <a:buFont typeface="Arial"/>
              <a:buNone/>
              <a:defRPr b="0" i="0" sz="8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89" name="Google Shape;89;p15"/>
          <p:cNvSpPr txBox="1"/>
          <p:nvPr>
            <p:ph idx="13" type="body"/>
          </p:nvPr>
        </p:nvSpPr>
        <p:spPr>
          <a:xfrm>
            <a:off x="5159966" y="3588656"/>
            <a:ext cx="950321" cy="346207"/>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2700"/>
              <a:buFont typeface="Arial"/>
              <a:buNone/>
              <a:defRPr b="1" i="0" sz="2700" u="none" cap="none" strike="noStrike">
                <a:solidFill>
                  <a:schemeClr val="dk1"/>
                </a:solidFill>
                <a:latin typeface="Poppins SemiBold"/>
                <a:ea typeface="Poppins SemiBold"/>
                <a:cs typeface="Poppins SemiBold"/>
                <a:sym typeface="Poppins SemiBold"/>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90" name="Google Shape;90;p15"/>
          <p:cNvSpPr txBox="1"/>
          <p:nvPr>
            <p:ph idx="14" type="body"/>
          </p:nvPr>
        </p:nvSpPr>
        <p:spPr>
          <a:xfrm>
            <a:off x="5159966" y="3939158"/>
            <a:ext cx="1894753" cy="205256"/>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33333"/>
              </a:lnSpc>
              <a:spcBef>
                <a:spcPts val="800"/>
              </a:spcBef>
              <a:spcAft>
                <a:spcPts val="0"/>
              </a:spcAft>
              <a:buClr>
                <a:schemeClr val="dk1"/>
              </a:buClr>
              <a:buSzPts val="900"/>
              <a:buFont typeface="Arial"/>
              <a:buNone/>
              <a:defRPr b="0" i="0" sz="9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91" name="Google Shape;91;p15"/>
          <p:cNvSpPr txBox="1"/>
          <p:nvPr>
            <p:ph idx="15" type="body"/>
          </p:nvPr>
        </p:nvSpPr>
        <p:spPr>
          <a:xfrm>
            <a:off x="5159966" y="4183501"/>
            <a:ext cx="2231434" cy="346207"/>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800"/>
              <a:buFont typeface="Arial"/>
              <a:buNone/>
              <a:defRPr b="0" i="0" sz="8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pic>
        <p:nvPicPr>
          <p:cNvPr id="92" name="Google Shape;92;p15"/>
          <p:cNvPicPr preferRelativeResize="0"/>
          <p:nvPr/>
        </p:nvPicPr>
        <p:blipFill rotWithShape="1">
          <a:blip r:embed="rId3">
            <a:alphaModFix/>
          </a:blip>
          <a:srcRect b="0" l="0" r="0" t="0"/>
          <a:stretch/>
        </p:blipFill>
        <p:spPr>
          <a:xfrm>
            <a:off x="8329352" y="93518"/>
            <a:ext cx="711497" cy="790088"/>
          </a:xfrm>
          <a:prstGeom prst="rect">
            <a:avLst/>
          </a:prstGeom>
          <a:noFill/>
          <a:ln>
            <a:noFill/>
          </a:ln>
        </p:spPr>
      </p:pic>
      <p:sp>
        <p:nvSpPr>
          <p:cNvPr id="93" name="Google Shape;93;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latin typeface="Poppins SemiBold"/>
                <a:ea typeface="Poppins SemiBold"/>
                <a:cs typeface="Poppins SemiBold"/>
                <a:sym typeface="Poppins SemiBold"/>
              </a:defRPr>
            </a:lvl1pPr>
            <a:lvl2pPr lvl="1">
              <a:buNone/>
              <a:defRPr>
                <a:solidFill>
                  <a:schemeClr val="dk1"/>
                </a:solidFill>
                <a:latin typeface="Poppins SemiBold"/>
                <a:ea typeface="Poppins SemiBold"/>
                <a:cs typeface="Poppins SemiBold"/>
                <a:sym typeface="Poppins SemiBold"/>
              </a:defRPr>
            </a:lvl2pPr>
            <a:lvl3pPr lvl="2">
              <a:buNone/>
              <a:defRPr>
                <a:solidFill>
                  <a:schemeClr val="dk1"/>
                </a:solidFill>
                <a:latin typeface="Poppins SemiBold"/>
                <a:ea typeface="Poppins SemiBold"/>
                <a:cs typeface="Poppins SemiBold"/>
                <a:sym typeface="Poppins SemiBold"/>
              </a:defRPr>
            </a:lvl3pPr>
            <a:lvl4pPr lvl="3">
              <a:buNone/>
              <a:defRPr>
                <a:solidFill>
                  <a:schemeClr val="dk1"/>
                </a:solidFill>
                <a:latin typeface="Poppins SemiBold"/>
                <a:ea typeface="Poppins SemiBold"/>
                <a:cs typeface="Poppins SemiBold"/>
                <a:sym typeface="Poppins SemiBold"/>
              </a:defRPr>
            </a:lvl4pPr>
            <a:lvl5pPr lvl="4">
              <a:buNone/>
              <a:defRPr>
                <a:solidFill>
                  <a:schemeClr val="dk1"/>
                </a:solidFill>
                <a:latin typeface="Poppins SemiBold"/>
                <a:ea typeface="Poppins SemiBold"/>
                <a:cs typeface="Poppins SemiBold"/>
                <a:sym typeface="Poppins SemiBold"/>
              </a:defRPr>
            </a:lvl5pPr>
            <a:lvl6pPr lvl="5">
              <a:buNone/>
              <a:defRPr>
                <a:solidFill>
                  <a:schemeClr val="dk1"/>
                </a:solidFill>
                <a:latin typeface="Poppins SemiBold"/>
                <a:ea typeface="Poppins SemiBold"/>
                <a:cs typeface="Poppins SemiBold"/>
                <a:sym typeface="Poppins SemiBold"/>
              </a:defRPr>
            </a:lvl6pPr>
            <a:lvl7pPr lvl="6">
              <a:buNone/>
              <a:defRPr>
                <a:solidFill>
                  <a:schemeClr val="dk1"/>
                </a:solidFill>
                <a:latin typeface="Poppins SemiBold"/>
                <a:ea typeface="Poppins SemiBold"/>
                <a:cs typeface="Poppins SemiBold"/>
                <a:sym typeface="Poppins SemiBold"/>
              </a:defRPr>
            </a:lvl7pPr>
            <a:lvl8pPr lvl="7">
              <a:buNone/>
              <a:defRPr>
                <a:solidFill>
                  <a:schemeClr val="dk1"/>
                </a:solidFill>
                <a:latin typeface="Poppins SemiBold"/>
                <a:ea typeface="Poppins SemiBold"/>
                <a:cs typeface="Poppins SemiBold"/>
                <a:sym typeface="Poppins SemiBold"/>
              </a:defRPr>
            </a:lvl8pPr>
            <a:lvl9pPr lvl="8">
              <a:buNone/>
              <a:defRPr>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extLst>
    <p:ext uri="{DCECCB84-F9BA-43D5-87BE-67443E8EF086}">
      <p15:sldGuideLst>
        <p15:guide id="1" pos="2880">
          <p15:clr>
            <a:srgbClr val="FBAE40"/>
          </p15:clr>
        </p15:guide>
        <p15:guide id="2" pos="2795">
          <p15:clr>
            <a:srgbClr val="FBAE40"/>
          </p15:clr>
        </p15:guide>
        <p15:guide id="3" pos="296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vide">
  <p:cSld name="Diapositive vide">
    <p:spTree>
      <p:nvGrpSpPr>
        <p:cNvPr id="94" name="Shape 94"/>
        <p:cNvGrpSpPr/>
        <p:nvPr/>
      </p:nvGrpSpPr>
      <p:grpSpPr>
        <a:xfrm>
          <a:off x="0" y="0"/>
          <a:ext cx="0" cy="0"/>
          <a:chOff x="0" y="0"/>
          <a:chExt cx="0" cy="0"/>
        </a:xfrm>
      </p:grpSpPr>
      <p:sp>
        <p:nvSpPr>
          <p:cNvPr id="95" name="Google Shape;95;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extLst>
    <p:ext uri="{DCECCB84-F9BA-43D5-87BE-67443E8EF086}">
      <p15:sldGuideLst>
        <p15:guide id="1" pos="2880">
          <p15:clr>
            <a:srgbClr val="FBAE40"/>
          </p15:clr>
        </p15:guide>
        <p15:guide id="2" pos="2795">
          <p15:clr>
            <a:srgbClr val="FBAE40"/>
          </p15:clr>
        </p15:guide>
        <p15:guide id="3" pos="296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tête accroche modifiable">
  <p:cSld name="En-tête accroche modifiable">
    <p:spTree>
      <p:nvGrpSpPr>
        <p:cNvPr id="96" name="Shape 96"/>
        <p:cNvGrpSpPr/>
        <p:nvPr/>
      </p:nvGrpSpPr>
      <p:grpSpPr>
        <a:xfrm>
          <a:off x="0" y="0"/>
          <a:ext cx="0" cy="0"/>
          <a:chOff x="0" y="0"/>
          <a:chExt cx="0" cy="0"/>
        </a:xfrm>
      </p:grpSpPr>
      <p:pic>
        <p:nvPicPr>
          <p:cNvPr id="97" name="Google Shape;97;p17"/>
          <p:cNvPicPr preferRelativeResize="0"/>
          <p:nvPr/>
        </p:nvPicPr>
        <p:blipFill rotWithShape="1">
          <a:blip r:embed="rId2">
            <a:alphaModFix/>
          </a:blip>
          <a:srcRect b="0" l="0" r="0" t="0"/>
          <a:stretch/>
        </p:blipFill>
        <p:spPr>
          <a:xfrm>
            <a:off x="-3085" y="-11251"/>
            <a:ext cx="9157970" cy="1180377"/>
          </a:xfrm>
          <a:prstGeom prst="rect">
            <a:avLst/>
          </a:prstGeom>
          <a:noFill/>
          <a:ln>
            <a:noFill/>
          </a:ln>
        </p:spPr>
      </p:pic>
      <p:grpSp>
        <p:nvGrpSpPr>
          <p:cNvPr id="98" name="Google Shape;98;p17"/>
          <p:cNvGrpSpPr/>
          <p:nvPr/>
        </p:nvGrpSpPr>
        <p:grpSpPr>
          <a:xfrm>
            <a:off x="3914503" y="-16131"/>
            <a:ext cx="1314995" cy="1232573"/>
            <a:chOff x="5219337" y="-12799"/>
            <a:chExt cx="1753326" cy="1643431"/>
          </a:xfrm>
        </p:grpSpPr>
        <p:sp>
          <p:nvSpPr>
            <p:cNvPr id="99" name="Google Shape;99;p17"/>
            <p:cNvSpPr/>
            <p:nvPr/>
          </p:nvSpPr>
          <p:spPr>
            <a:xfrm>
              <a:off x="5219337" y="-12799"/>
              <a:ext cx="1753326" cy="1623029"/>
            </a:xfrm>
            <a:prstGeom prst="rect">
              <a:avLst/>
            </a:prstGeom>
            <a:solidFill>
              <a:schemeClr val="lt1"/>
            </a:solidFill>
            <a:ln>
              <a:noFill/>
            </a:ln>
            <a:effectLst>
              <a:outerShdw blurRad="419100" sx="99000" rotWithShape="0" algn="ctr" dir="5400000" dist="63500" sy="99000">
                <a:srgbClr val="000000">
                  <a:alpha val="9803"/>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100" name="Google Shape;100;p17"/>
            <p:cNvPicPr preferRelativeResize="0"/>
            <p:nvPr/>
          </p:nvPicPr>
          <p:blipFill rotWithShape="1">
            <a:blip r:embed="rId3">
              <a:alphaModFix/>
            </a:blip>
            <a:srcRect b="0" l="0" r="0" t="0"/>
            <a:stretch/>
          </p:blipFill>
          <p:spPr>
            <a:xfrm>
              <a:off x="5401076" y="48579"/>
              <a:ext cx="1424685" cy="1582053"/>
            </a:xfrm>
            <a:prstGeom prst="rect">
              <a:avLst/>
            </a:prstGeom>
            <a:noFill/>
            <a:ln>
              <a:noFill/>
            </a:ln>
          </p:spPr>
        </p:pic>
      </p:grpSp>
      <p:pic>
        <p:nvPicPr>
          <p:cNvPr id="101" name="Google Shape;101;p17"/>
          <p:cNvPicPr preferRelativeResize="0"/>
          <p:nvPr/>
        </p:nvPicPr>
        <p:blipFill rotWithShape="1">
          <a:blip r:embed="rId4">
            <a:alphaModFix/>
          </a:blip>
          <a:srcRect b="0" l="0" r="0" t="0"/>
          <a:stretch/>
        </p:blipFill>
        <p:spPr>
          <a:xfrm>
            <a:off x="6137645" y="281846"/>
            <a:ext cx="3207386" cy="1878381"/>
          </a:xfrm>
          <a:prstGeom prst="rect">
            <a:avLst/>
          </a:prstGeom>
          <a:noFill/>
          <a:ln>
            <a:noFill/>
          </a:ln>
        </p:spPr>
      </p:pic>
      <p:pic>
        <p:nvPicPr>
          <p:cNvPr id="102" name="Google Shape;102;p17"/>
          <p:cNvPicPr preferRelativeResize="0"/>
          <p:nvPr/>
        </p:nvPicPr>
        <p:blipFill rotWithShape="1">
          <a:blip r:embed="rId5">
            <a:alphaModFix/>
          </a:blip>
          <a:srcRect b="0" l="0" r="0" t="0"/>
          <a:stretch/>
        </p:blipFill>
        <p:spPr>
          <a:xfrm>
            <a:off x="-402841" y="565605"/>
            <a:ext cx="2612291" cy="3513079"/>
          </a:xfrm>
          <a:prstGeom prst="rect">
            <a:avLst/>
          </a:prstGeom>
          <a:noFill/>
          <a:ln>
            <a:noFill/>
          </a:ln>
        </p:spPr>
      </p:pic>
      <p:pic>
        <p:nvPicPr>
          <p:cNvPr id="103" name="Google Shape;103;p17"/>
          <p:cNvPicPr preferRelativeResize="0"/>
          <p:nvPr/>
        </p:nvPicPr>
        <p:blipFill rotWithShape="1">
          <a:blip r:embed="rId6">
            <a:alphaModFix/>
          </a:blip>
          <a:srcRect b="0" l="0" r="0" t="0"/>
          <a:stretch/>
        </p:blipFill>
        <p:spPr>
          <a:xfrm rot="4277967">
            <a:off x="7924872" y="2916617"/>
            <a:ext cx="1652449" cy="1808586"/>
          </a:xfrm>
          <a:prstGeom prst="rect">
            <a:avLst/>
          </a:prstGeom>
          <a:noFill/>
          <a:ln>
            <a:noFill/>
          </a:ln>
        </p:spPr>
      </p:pic>
      <p:sp>
        <p:nvSpPr>
          <p:cNvPr id="104" name="Google Shape;104;p17"/>
          <p:cNvSpPr/>
          <p:nvPr/>
        </p:nvSpPr>
        <p:spPr>
          <a:xfrm>
            <a:off x="4206819" y="3382574"/>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05" name="Google Shape;105;p17"/>
          <p:cNvSpPr/>
          <p:nvPr/>
        </p:nvSpPr>
        <p:spPr>
          <a:xfrm>
            <a:off x="3291427" y="4693583"/>
            <a:ext cx="2561147" cy="230833"/>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fr" sz="1100">
                <a:solidFill>
                  <a:schemeClr val="dk1"/>
                </a:solidFill>
                <a:latin typeface="Poppins Medium"/>
                <a:ea typeface="Poppins Medium"/>
                <a:cs typeface="Poppins Medium"/>
                <a:sym typeface="Poppins Medium"/>
              </a:rPr>
              <a:t>L’École des Ingénieurs Scientifiques</a:t>
            </a:r>
            <a:endParaRPr sz="1100"/>
          </a:p>
        </p:txBody>
      </p:sp>
      <p:pic>
        <p:nvPicPr>
          <p:cNvPr id="106" name="Google Shape;106;p17"/>
          <p:cNvPicPr preferRelativeResize="0"/>
          <p:nvPr/>
        </p:nvPicPr>
        <p:blipFill rotWithShape="1">
          <a:blip r:embed="rId7">
            <a:alphaModFix/>
          </a:blip>
          <a:srcRect b="0" l="0" r="0" t="0"/>
          <a:stretch/>
        </p:blipFill>
        <p:spPr>
          <a:xfrm>
            <a:off x="3363443" y="4330706"/>
            <a:ext cx="2417114" cy="302740"/>
          </a:xfrm>
          <a:prstGeom prst="rect">
            <a:avLst/>
          </a:prstGeom>
          <a:noFill/>
          <a:ln>
            <a:noFill/>
          </a:ln>
        </p:spPr>
      </p:pic>
      <p:sp>
        <p:nvSpPr>
          <p:cNvPr id="107" name="Google Shape;107;p17"/>
          <p:cNvSpPr txBox="1"/>
          <p:nvPr>
            <p:ph idx="1" type="body"/>
          </p:nvPr>
        </p:nvSpPr>
        <p:spPr>
          <a:xfrm>
            <a:off x="2393362" y="2258932"/>
            <a:ext cx="4357277" cy="407879"/>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800"/>
              </a:spcBef>
              <a:spcAft>
                <a:spcPts val="0"/>
              </a:spcAft>
              <a:buClr>
                <a:schemeClr val="dk1"/>
              </a:buClr>
              <a:buSzPts val="3600"/>
              <a:buFont typeface="Arial"/>
              <a:buNone/>
              <a:defRPr b="1" i="0" sz="36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108" name="Google Shape;108;p17"/>
          <p:cNvSpPr txBox="1"/>
          <p:nvPr>
            <p:ph idx="2" type="body"/>
          </p:nvPr>
        </p:nvSpPr>
        <p:spPr>
          <a:xfrm>
            <a:off x="2393362" y="2750694"/>
            <a:ext cx="4357277" cy="334360"/>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800"/>
              </a:spcBef>
              <a:spcAft>
                <a:spcPts val="0"/>
              </a:spcAft>
              <a:buClr>
                <a:srgbClr val="7B949E"/>
              </a:buClr>
              <a:buSzPts val="2400"/>
              <a:buFont typeface="Arial"/>
              <a:buNone/>
              <a:defRPr b="0" i="0" sz="2400" u="none" cap="none" strike="noStrike">
                <a:solidFill>
                  <a:srgbClr val="7B949E"/>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109" name="Google Shape;109;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latin typeface="Poppins"/>
                <a:ea typeface="Poppins"/>
                <a:cs typeface="Poppins"/>
                <a:sym typeface="Poppins"/>
              </a:defRPr>
            </a:lvl1pPr>
            <a:lvl2pPr lvl="1">
              <a:buNone/>
              <a:defRPr>
                <a:solidFill>
                  <a:schemeClr val="dk1"/>
                </a:solidFill>
                <a:latin typeface="Poppins"/>
                <a:ea typeface="Poppins"/>
                <a:cs typeface="Poppins"/>
                <a:sym typeface="Poppins"/>
              </a:defRPr>
            </a:lvl2pPr>
            <a:lvl3pPr lvl="2">
              <a:buNone/>
              <a:defRPr>
                <a:solidFill>
                  <a:schemeClr val="dk1"/>
                </a:solidFill>
                <a:latin typeface="Poppins"/>
                <a:ea typeface="Poppins"/>
                <a:cs typeface="Poppins"/>
                <a:sym typeface="Poppins"/>
              </a:defRPr>
            </a:lvl3pPr>
            <a:lvl4pPr lvl="3">
              <a:buNone/>
              <a:defRPr>
                <a:solidFill>
                  <a:schemeClr val="dk1"/>
                </a:solidFill>
                <a:latin typeface="Poppins"/>
                <a:ea typeface="Poppins"/>
                <a:cs typeface="Poppins"/>
                <a:sym typeface="Poppins"/>
              </a:defRPr>
            </a:lvl4pPr>
            <a:lvl5pPr lvl="4">
              <a:buNone/>
              <a:defRPr>
                <a:solidFill>
                  <a:schemeClr val="dk1"/>
                </a:solidFill>
                <a:latin typeface="Poppins"/>
                <a:ea typeface="Poppins"/>
                <a:cs typeface="Poppins"/>
                <a:sym typeface="Poppins"/>
              </a:defRPr>
            </a:lvl5pPr>
            <a:lvl6pPr lvl="5">
              <a:buNone/>
              <a:defRPr>
                <a:solidFill>
                  <a:schemeClr val="dk1"/>
                </a:solidFill>
                <a:latin typeface="Poppins"/>
                <a:ea typeface="Poppins"/>
                <a:cs typeface="Poppins"/>
                <a:sym typeface="Poppins"/>
              </a:defRPr>
            </a:lvl6pPr>
            <a:lvl7pPr lvl="6">
              <a:buNone/>
              <a:defRPr>
                <a:solidFill>
                  <a:schemeClr val="dk1"/>
                </a:solidFill>
                <a:latin typeface="Poppins"/>
                <a:ea typeface="Poppins"/>
                <a:cs typeface="Poppins"/>
                <a:sym typeface="Poppins"/>
              </a:defRPr>
            </a:lvl7pPr>
            <a:lvl8pPr lvl="7">
              <a:buNone/>
              <a:defRPr>
                <a:solidFill>
                  <a:schemeClr val="dk1"/>
                </a:solidFill>
                <a:latin typeface="Poppins"/>
                <a:ea typeface="Poppins"/>
                <a:cs typeface="Poppins"/>
                <a:sym typeface="Poppins"/>
              </a:defRPr>
            </a:lvl8pPr>
            <a:lvl9pPr lvl="8">
              <a:buNone/>
              <a:defRPr>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section pour changer de partie">
  <p:cSld name="Diapositive de section pour changer de partie">
    <p:spTree>
      <p:nvGrpSpPr>
        <p:cNvPr id="110" name="Shape 110"/>
        <p:cNvGrpSpPr/>
        <p:nvPr/>
      </p:nvGrpSpPr>
      <p:grpSpPr>
        <a:xfrm>
          <a:off x="0" y="0"/>
          <a:ext cx="0" cy="0"/>
          <a:chOff x="0" y="0"/>
          <a:chExt cx="0" cy="0"/>
        </a:xfrm>
      </p:grpSpPr>
      <p:sp>
        <p:nvSpPr>
          <p:cNvPr id="111" name="Google Shape;111;p18"/>
          <p:cNvSpPr/>
          <p:nvPr/>
        </p:nvSpPr>
        <p:spPr>
          <a:xfrm>
            <a:off x="374716" y="-6532"/>
            <a:ext cx="8769285" cy="5067032"/>
          </a:xfrm>
          <a:prstGeom prst="rect">
            <a:avLst/>
          </a:prstGeom>
          <a:solidFill>
            <a:srgbClr val="7B949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2" name="Google Shape;112;p18"/>
          <p:cNvSpPr/>
          <p:nvPr/>
        </p:nvSpPr>
        <p:spPr>
          <a:xfrm>
            <a:off x="-1" y="-10069"/>
            <a:ext cx="5492930" cy="5082626"/>
          </a:xfrm>
          <a:custGeom>
            <a:rect b="b" l="l" r="r" t="t"/>
            <a:pathLst>
              <a:path extrusionOk="0" h="6938127" w="4666268">
                <a:moveTo>
                  <a:pt x="0" y="0"/>
                </a:moveTo>
                <a:lnTo>
                  <a:pt x="0" y="6938127"/>
                </a:lnTo>
                <a:lnTo>
                  <a:pt x="4666268" y="6938127"/>
                </a:lnTo>
                <a:lnTo>
                  <a:pt x="3733014" y="0"/>
                </a:lnTo>
                <a:lnTo>
                  <a:pt x="0"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grpSp>
        <p:nvGrpSpPr>
          <p:cNvPr id="113" name="Google Shape;113;p18"/>
          <p:cNvGrpSpPr/>
          <p:nvPr/>
        </p:nvGrpSpPr>
        <p:grpSpPr>
          <a:xfrm>
            <a:off x="0" y="5060500"/>
            <a:ext cx="9154885" cy="92528"/>
            <a:chOff x="-14514" y="6444343"/>
            <a:chExt cx="2185249" cy="413657"/>
          </a:xfrm>
        </p:grpSpPr>
        <p:sp>
          <p:nvSpPr>
            <p:cNvPr id="114" name="Google Shape;114;p18"/>
            <p:cNvSpPr/>
            <p:nvPr/>
          </p:nvSpPr>
          <p:spPr>
            <a:xfrm>
              <a:off x="-14514" y="6444343"/>
              <a:ext cx="437050" cy="413657"/>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5" name="Google Shape;115;p18"/>
            <p:cNvSpPr/>
            <p:nvPr/>
          </p:nvSpPr>
          <p:spPr>
            <a:xfrm>
              <a:off x="422536" y="6444343"/>
              <a:ext cx="437050" cy="413657"/>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6" name="Google Shape;116;p18"/>
            <p:cNvSpPr/>
            <p:nvPr/>
          </p:nvSpPr>
          <p:spPr>
            <a:xfrm>
              <a:off x="859585" y="6444343"/>
              <a:ext cx="437050" cy="413657"/>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7" name="Google Shape;117;p18"/>
            <p:cNvSpPr/>
            <p:nvPr/>
          </p:nvSpPr>
          <p:spPr>
            <a:xfrm>
              <a:off x="1296635" y="6444343"/>
              <a:ext cx="437050" cy="413657"/>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8" name="Google Shape;118;p18"/>
            <p:cNvSpPr/>
            <p:nvPr/>
          </p:nvSpPr>
          <p:spPr>
            <a:xfrm>
              <a:off x="1733685" y="6444343"/>
              <a:ext cx="437050" cy="413657"/>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grpSp>
      <p:pic>
        <p:nvPicPr>
          <p:cNvPr id="119" name="Google Shape;119;p18"/>
          <p:cNvPicPr preferRelativeResize="0"/>
          <p:nvPr/>
        </p:nvPicPr>
        <p:blipFill rotWithShape="1">
          <a:blip r:embed="rId2">
            <a:alphaModFix/>
          </a:blip>
          <a:srcRect b="0" l="0" r="0" t="0"/>
          <a:stretch/>
        </p:blipFill>
        <p:spPr>
          <a:xfrm>
            <a:off x="613518" y="3676989"/>
            <a:ext cx="784051" cy="870656"/>
          </a:xfrm>
          <a:prstGeom prst="rect">
            <a:avLst/>
          </a:prstGeom>
          <a:noFill/>
          <a:ln>
            <a:noFill/>
          </a:ln>
        </p:spPr>
      </p:pic>
      <p:pic>
        <p:nvPicPr>
          <p:cNvPr id="120" name="Google Shape;120;p18"/>
          <p:cNvPicPr preferRelativeResize="0"/>
          <p:nvPr/>
        </p:nvPicPr>
        <p:blipFill rotWithShape="1">
          <a:blip r:embed="rId3">
            <a:alphaModFix/>
          </a:blip>
          <a:srcRect b="0" l="0" r="0" t="0"/>
          <a:stretch/>
        </p:blipFill>
        <p:spPr>
          <a:xfrm>
            <a:off x="6750311" y="2126504"/>
            <a:ext cx="2749424" cy="2619575"/>
          </a:xfrm>
          <a:prstGeom prst="rect">
            <a:avLst/>
          </a:prstGeom>
          <a:noFill/>
          <a:ln>
            <a:noFill/>
          </a:ln>
        </p:spPr>
      </p:pic>
      <p:pic>
        <p:nvPicPr>
          <p:cNvPr id="121" name="Google Shape;121;p18"/>
          <p:cNvPicPr preferRelativeResize="0"/>
          <p:nvPr/>
        </p:nvPicPr>
        <p:blipFill rotWithShape="1">
          <a:blip r:embed="rId4">
            <a:alphaModFix/>
          </a:blip>
          <a:srcRect b="0" l="0" r="0" t="0"/>
          <a:stretch/>
        </p:blipFill>
        <p:spPr>
          <a:xfrm rot="9167959">
            <a:off x="5461580" y="-521917"/>
            <a:ext cx="2245886" cy="1821918"/>
          </a:xfrm>
          <a:prstGeom prst="rect">
            <a:avLst/>
          </a:prstGeom>
          <a:noFill/>
          <a:ln>
            <a:noFill/>
          </a:ln>
        </p:spPr>
      </p:pic>
      <p:sp>
        <p:nvSpPr>
          <p:cNvPr id="122" name="Google Shape;122;p18"/>
          <p:cNvSpPr txBox="1"/>
          <p:nvPr>
            <p:ph idx="1" type="body"/>
          </p:nvPr>
        </p:nvSpPr>
        <p:spPr>
          <a:xfrm>
            <a:off x="693175" y="1671797"/>
            <a:ext cx="2499284" cy="370799"/>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2100"/>
              <a:buFont typeface="Arial"/>
              <a:buNone/>
              <a:defRPr b="1" i="0" sz="21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123" name="Google Shape;123;p18"/>
          <p:cNvSpPr txBox="1"/>
          <p:nvPr>
            <p:ph idx="2" type="subTitle"/>
          </p:nvPr>
        </p:nvSpPr>
        <p:spPr>
          <a:xfrm>
            <a:off x="693175" y="1417189"/>
            <a:ext cx="2445894" cy="228193"/>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Poppins"/>
                <a:ea typeface="Poppins"/>
                <a:cs typeface="Poppins"/>
                <a:sym typeface="Poppins"/>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9pPr>
          </a:lstStyle>
          <a:p/>
        </p:txBody>
      </p:sp>
      <p:sp>
        <p:nvSpPr>
          <p:cNvPr id="124" name="Google Shape;124;p18"/>
          <p:cNvSpPr/>
          <p:nvPr/>
        </p:nvSpPr>
        <p:spPr>
          <a:xfrm>
            <a:off x="782383" y="2202548"/>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5" name="Google Shape;125;p18"/>
          <p:cNvSpPr txBox="1"/>
          <p:nvPr>
            <p:ph idx="3" type="body"/>
          </p:nvPr>
        </p:nvSpPr>
        <p:spPr>
          <a:xfrm>
            <a:off x="693175" y="2386326"/>
            <a:ext cx="2526332" cy="22179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Poppins Medium"/>
                <a:ea typeface="Poppins Medium"/>
                <a:cs typeface="Poppins Medium"/>
                <a:sym typeface="Poppins Medium"/>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126" name="Google Shape;126;p18"/>
          <p:cNvSpPr txBox="1"/>
          <p:nvPr>
            <p:ph idx="4" type="body"/>
          </p:nvPr>
        </p:nvSpPr>
        <p:spPr>
          <a:xfrm>
            <a:off x="693174" y="2619323"/>
            <a:ext cx="2526332" cy="660454"/>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900"/>
              <a:buFont typeface="Arial"/>
              <a:buNone/>
              <a:defRPr b="0" i="0" sz="9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127" name="Google Shape;127;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latin typeface="Poppins"/>
                <a:ea typeface="Poppins"/>
                <a:cs typeface="Poppins"/>
                <a:sym typeface="Poppins"/>
              </a:defRPr>
            </a:lvl1pPr>
            <a:lvl2pPr lvl="1">
              <a:buNone/>
              <a:defRPr>
                <a:solidFill>
                  <a:schemeClr val="dk1"/>
                </a:solidFill>
                <a:latin typeface="Poppins"/>
                <a:ea typeface="Poppins"/>
                <a:cs typeface="Poppins"/>
                <a:sym typeface="Poppins"/>
              </a:defRPr>
            </a:lvl2pPr>
            <a:lvl3pPr lvl="2">
              <a:buNone/>
              <a:defRPr>
                <a:solidFill>
                  <a:schemeClr val="dk1"/>
                </a:solidFill>
                <a:latin typeface="Poppins"/>
                <a:ea typeface="Poppins"/>
                <a:cs typeface="Poppins"/>
                <a:sym typeface="Poppins"/>
              </a:defRPr>
            </a:lvl3pPr>
            <a:lvl4pPr lvl="3">
              <a:buNone/>
              <a:defRPr>
                <a:solidFill>
                  <a:schemeClr val="dk1"/>
                </a:solidFill>
                <a:latin typeface="Poppins"/>
                <a:ea typeface="Poppins"/>
                <a:cs typeface="Poppins"/>
                <a:sym typeface="Poppins"/>
              </a:defRPr>
            </a:lvl4pPr>
            <a:lvl5pPr lvl="4">
              <a:buNone/>
              <a:defRPr>
                <a:solidFill>
                  <a:schemeClr val="dk1"/>
                </a:solidFill>
                <a:latin typeface="Poppins"/>
                <a:ea typeface="Poppins"/>
                <a:cs typeface="Poppins"/>
                <a:sym typeface="Poppins"/>
              </a:defRPr>
            </a:lvl5pPr>
            <a:lvl6pPr lvl="5">
              <a:buNone/>
              <a:defRPr>
                <a:solidFill>
                  <a:schemeClr val="dk1"/>
                </a:solidFill>
                <a:latin typeface="Poppins"/>
                <a:ea typeface="Poppins"/>
                <a:cs typeface="Poppins"/>
                <a:sym typeface="Poppins"/>
              </a:defRPr>
            </a:lvl6pPr>
            <a:lvl7pPr lvl="6">
              <a:buNone/>
              <a:defRPr>
                <a:solidFill>
                  <a:schemeClr val="dk1"/>
                </a:solidFill>
                <a:latin typeface="Poppins"/>
                <a:ea typeface="Poppins"/>
                <a:cs typeface="Poppins"/>
                <a:sym typeface="Poppins"/>
              </a:defRPr>
            </a:lvl7pPr>
            <a:lvl8pPr lvl="7">
              <a:buNone/>
              <a:defRPr>
                <a:solidFill>
                  <a:schemeClr val="dk1"/>
                </a:solidFill>
                <a:latin typeface="Poppins"/>
                <a:ea typeface="Poppins"/>
                <a:cs typeface="Poppins"/>
                <a:sym typeface="Poppins"/>
              </a:defRPr>
            </a:lvl8pPr>
            <a:lvl9pPr lvl="8">
              <a:buNone/>
              <a:defRPr>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ge contenu titre">
  <p:cSld name="Page contenu titre">
    <p:spTree>
      <p:nvGrpSpPr>
        <p:cNvPr id="128" name="Shape 128"/>
        <p:cNvGrpSpPr/>
        <p:nvPr/>
      </p:nvGrpSpPr>
      <p:grpSpPr>
        <a:xfrm>
          <a:off x="0" y="0"/>
          <a:ext cx="0" cy="0"/>
          <a:chOff x="0" y="0"/>
          <a:chExt cx="0" cy="0"/>
        </a:xfrm>
      </p:grpSpPr>
      <p:sp>
        <p:nvSpPr>
          <p:cNvPr id="129" name="Google Shape;129;p19"/>
          <p:cNvSpPr/>
          <p:nvPr/>
        </p:nvSpPr>
        <p:spPr>
          <a:xfrm>
            <a:off x="700871" y="766821"/>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30" name="Google Shape;130;p19"/>
          <p:cNvSpPr txBox="1"/>
          <p:nvPr>
            <p:ph idx="1" type="body"/>
          </p:nvPr>
        </p:nvSpPr>
        <p:spPr>
          <a:xfrm>
            <a:off x="615085" y="382455"/>
            <a:ext cx="3480666" cy="29051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700"/>
              <a:buFont typeface="Arial"/>
              <a:buNone/>
              <a:defRPr b="1" i="0" sz="1700" u="none" cap="none" strike="noStrike">
                <a:solidFill>
                  <a:schemeClr val="dk1"/>
                </a:solidFill>
                <a:latin typeface="Poppins SemiBold"/>
                <a:ea typeface="Poppins SemiBold"/>
                <a:cs typeface="Poppins SemiBold"/>
                <a:sym typeface="Poppins SemiBold"/>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pic>
        <p:nvPicPr>
          <p:cNvPr id="131" name="Google Shape;131;p19"/>
          <p:cNvPicPr preferRelativeResize="0"/>
          <p:nvPr/>
        </p:nvPicPr>
        <p:blipFill rotWithShape="1">
          <a:blip r:embed="rId2">
            <a:alphaModFix/>
          </a:blip>
          <a:srcRect b="0" l="0" r="0" t="0"/>
          <a:stretch/>
        </p:blipFill>
        <p:spPr>
          <a:xfrm>
            <a:off x="8329352" y="93518"/>
            <a:ext cx="711497" cy="790088"/>
          </a:xfrm>
          <a:prstGeom prst="rect">
            <a:avLst/>
          </a:prstGeom>
          <a:noFill/>
          <a:ln>
            <a:noFill/>
          </a:ln>
        </p:spPr>
      </p:pic>
      <p:sp>
        <p:nvSpPr>
          <p:cNvPr id="132" name="Google Shape;132;p19"/>
          <p:cNvSpPr txBox="1"/>
          <p:nvPr>
            <p:ph idx="2" type="subTitle"/>
          </p:nvPr>
        </p:nvSpPr>
        <p:spPr>
          <a:xfrm>
            <a:off x="615085" y="1442030"/>
            <a:ext cx="6658352" cy="267277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Poppins"/>
                <a:ea typeface="Poppins"/>
                <a:cs typeface="Poppins"/>
                <a:sym typeface="Poppins"/>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9pPr>
          </a:lstStyle>
          <a:p/>
        </p:txBody>
      </p:sp>
      <p:sp>
        <p:nvSpPr>
          <p:cNvPr id="133" name="Google Shape;133;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latin typeface="Poppins"/>
                <a:ea typeface="Poppins"/>
                <a:cs typeface="Poppins"/>
                <a:sym typeface="Poppins"/>
              </a:defRPr>
            </a:lvl1pPr>
            <a:lvl2pPr lvl="1">
              <a:buNone/>
              <a:defRPr>
                <a:solidFill>
                  <a:schemeClr val="dk1"/>
                </a:solidFill>
                <a:latin typeface="Poppins"/>
                <a:ea typeface="Poppins"/>
                <a:cs typeface="Poppins"/>
                <a:sym typeface="Poppins"/>
              </a:defRPr>
            </a:lvl2pPr>
            <a:lvl3pPr lvl="2">
              <a:buNone/>
              <a:defRPr>
                <a:solidFill>
                  <a:schemeClr val="dk1"/>
                </a:solidFill>
                <a:latin typeface="Poppins"/>
                <a:ea typeface="Poppins"/>
                <a:cs typeface="Poppins"/>
                <a:sym typeface="Poppins"/>
              </a:defRPr>
            </a:lvl3pPr>
            <a:lvl4pPr lvl="3">
              <a:buNone/>
              <a:defRPr>
                <a:solidFill>
                  <a:schemeClr val="dk1"/>
                </a:solidFill>
                <a:latin typeface="Poppins"/>
                <a:ea typeface="Poppins"/>
                <a:cs typeface="Poppins"/>
                <a:sym typeface="Poppins"/>
              </a:defRPr>
            </a:lvl4pPr>
            <a:lvl5pPr lvl="4">
              <a:buNone/>
              <a:defRPr>
                <a:solidFill>
                  <a:schemeClr val="dk1"/>
                </a:solidFill>
                <a:latin typeface="Poppins"/>
                <a:ea typeface="Poppins"/>
                <a:cs typeface="Poppins"/>
                <a:sym typeface="Poppins"/>
              </a:defRPr>
            </a:lvl5pPr>
            <a:lvl6pPr lvl="5">
              <a:buNone/>
              <a:defRPr>
                <a:solidFill>
                  <a:schemeClr val="dk1"/>
                </a:solidFill>
                <a:latin typeface="Poppins"/>
                <a:ea typeface="Poppins"/>
                <a:cs typeface="Poppins"/>
                <a:sym typeface="Poppins"/>
              </a:defRPr>
            </a:lvl6pPr>
            <a:lvl7pPr lvl="6">
              <a:buNone/>
              <a:defRPr>
                <a:solidFill>
                  <a:schemeClr val="dk1"/>
                </a:solidFill>
                <a:latin typeface="Poppins"/>
                <a:ea typeface="Poppins"/>
                <a:cs typeface="Poppins"/>
                <a:sym typeface="Poppins"/>
              </a:defRPr>
            </a:lvl7pPr>
            <a:lvl8pPr lvl="7">
              <a:buNone/>
              <a:defRPr>
                <a:solidFill>
                  <a:schemeClr val="dk1"/>
                </a:solidFill>
                <a:latin typeface="Poppins"/>
                <a:ea typeface="Poppins"/>
                <a:cs typeface="Poppins"/>
                <a:sym typeface="Poppins"/>
              </a:defRPr>
            </a:lvl8pPr>
            <a:lvl9pPr lvl="8">
              <a:buNone/>
              <a:defRPr>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extLst>
    <p:ext uri="{DCECCB84-F9BA-43D5-87BE-67443E8EF086}">
      <p15:sldGuideLst>
        <p15:guide id="1" pos="2880">
          <p15:clr>
            <a:srgbClr val="FBAE40"/>
          </p15:clr>
        </p15:guide>
        <p15:guide id="2" pos="2795">
          <p15:clr>
            <a:srgbClr val="FBAE40"/>
          </p15:clr>
        </p15:guide>
        <p15:guide id="3" pos="296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texte">
  <p:cSld name="1_Slide texte">
    <p:spTree>
      <p:nvGrpSpPr>
        <p:cNvPr id="134" name="Shape 134"/>
        <p:cNvGrpSpPr/>
        <p:nvPr/>
      </p:nvGrpSpPr>
      <p:grpSpPr>
        <a:xfrm>
          <a:off x="0" y="0"/>
          <a:ext cx="0" cy="0"/>
          <a:chOff x="0" y="0"/>
          <a:chExt cx="0" cy="0"/>
        </a:xfrm>
      </p:grpSpPr>
      <p:sp>
        <p:nvSpPr>
          <p:cNvPr id="135" name="Google Shape;135;p20"/>
          <p:cNvSpPr/>
          <p:nvPr/>
        </p:nvSpPr>
        <p:spPr>
          <a:xfrm>
            <a:off x="0" y="0"/>
            <a:ext cx="4381226" cy="5064369"/>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36" name="Google Shape;136;p20"/>
          <p:cNvSpPr/>
          <p:nvPr/>
        </p:nvSpPr>
        <p:spPr>
          <a:xfrm>
            <a:off x="700871" y="766821"/>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37" name="Google Shape;137;p20"/>
          <p:cNvSpPr txBox="1"/>
          <p:nvPr>
            <p:ph idx="1" type="body"/>
          </p:nvPr>
        </p:nvSpPr>
        <p:spPr>
          <a:xfrm>
            <a:off x="615085" y="382455"/>
            <a:ext cx="3480666" cy="29051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700"/>
              <a:buFont typeface="Arial"/>
              <a:buNone/>
              <a:defRPr b="1" i="0" sz="1700" u="none" cap="none" strike="noStrike">
                <a:solidFill>
                  <a:schemeClr val="dk1"/>
                </a:solidFill>
                <a:latin typeface="Poppins SemiBold"/>
                <a:ea typeface="Poppins SemiBold"/>
                <a:cs typeface="Poppins SemiBold"/>
                <a:sym typeface="Poppins SemiBold"/>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138" name="Google Shape;138;p20"/>
          <p:cNvSpPr txBox="1"/>
          <p:nvPr>
            <p:ph idx="2" type="body"/>
          </p:nvPr>
        </p:nvSpPr>
        <p:spPr>
          <a:xfrm>
            <a:off x="700871" y="1079527"/>
            <a:ext cx="3142799" cy="3141599"/>
          </a:xfrm>
          <a:prstGeom prst="rect">
            <a:avLst/>
          </a:prstGeom>
          <a:noFill/>
          <a:ln>
            <a:noFill/>
          </a:ln>
        </p:spPr>
        <p:txBody>
          <a:bodyPr anchorCtr="0" anchor="t" bIns="34275" lIns="68575" spcFirstLastPara="1" rIns="68575" wrap="square" tIns="34275">
            <a:noAutofit/>
          </a:bodyPr>
          <a:lstStyle>
            <a:lvl1pPr indent="-228600" lvl="0" marL="457200" marR="0" rtl="0" algn="just">
              <a:lnSpc>
                <a:spcPct val="133333"/>
              </a:lnSpc>
              <a:spcBef>
                <a:spcPts val="800"/>
              </a:spcBef>
              <a:spcAft>
                <a:spcPts val="0"/>
              </a:spcAft>
              <a:buClr>
                <a:schemeClr val="dk1"/>
              </a:buClr>
              <a:buSzPts val="900"/>
              <a:buFont typeface="Arial"/>
              <a:buNone/>
              <a:defRPr b="0" i="0" sz="9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pic>
        <p:nvPicPr>
          <p:cNvPr id="139" name="Google Shape;139;p20"/>
          <p:cNvPicPr preferRelativeResize="0"/>
          <p:nvPr/>
        </p:nvPicPr>
        <p:blipFill rotWithShape="1">
          <a:blip r:embed="rId2">
            <a:alphaModFix/>
          </a:blip>
          <a:srcRect b="0" l="0" r="0" t="0"/>
          <a:stretch/>
        </p:blipFill>
        <p:spPr>
          <a:xfrm>
            <a:off x="8329352" y="93518"/>
            <a:ext cx="711497" cy="790088"/>
          </a:xfrm>
          <a:prstGeom prst="rect">
            <a:avLst/>
          </a:prstGeom>
          <a:noFill/>
          <a:ln>
            <a:noFill/>
          </a:ln>
        </p:spPr>
      </p:pic>
      <p:sp>
        <p:nvSpPr>
          <p:cNvPr id="140" name="Google Shape;140;p20"/>
          <p:cNvSpPr txBox="1"/>
          <p:nvPr>
            <p:ph idx="3" type="body"/>
          </p:nvPr>
        </p:nvSpPr>
        <p:spPr>
          <a:xfrm>
            <a:off x="4888208" y="1079527"/>
            <a:ext cx="3142799" cy="3141599"/>
          </a:xfrm>
          <a:prstGeom prst="rect">
            <a:avLst/>
          </a:prstGeom>
          <a:noFill/>
          <a:ln>
            <a:noFill/>
          </a:ln>
        </p:spPr>
        <p:txBody>
          <a:bodyPr anchorCtr="0" anchor="t" bIns="34275" lIns="68575" spcFirstLastPara="1" rIns="68575" wrap="square" tIns="34275">
            <a:noAutofit/>
          </a:bodyPr>
          <a:lstStyle>
            <a:lvl1pPr indent="-228600" lvl="0" marL="457200" marR="0" rtl="0" algn="just">
              <a:lnSpc>
                <a:spcPct val="133333"/>
              </a:lnSpc>
              <a:spcBef>
                <a:spcPts val="800"/>
              </a:spcBef>
              <a:spcAft>
                <a:spcPts val="0"/>
              </a:spcAft>
              <a:buClr>
                <a:schemeClr val="dk1"/>
              </a:buClr>
              <a:buSzPts val="900"/>
              <a:buFont typeface="Arial"/>
              <a:buNone/>
              <a:defRPr b="0" i="0" sz="9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141" name="Google Shape;141;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latin typeface="Poppins SemiBold"/>
                <a:ea typeface="Poppins SemiBold"/>
                <a:cs typeface="Poppins SemiBold"/>
                <a:sym typeface="Poppins SemiBold"/>
              </a:defRPr>
            </a:lvl1pPr>
            <a:lvl2pPr lvl="1">
              <a:buNone/>
              <a:defRPr>
                <a:solidFill>
                  <a:schemeClr val="dk1"/>
                </a:solidFill>
                <a:latin typeface="Poppins SemiBold"/>
                <a:ea typeface="Poppins SemiBold"/>
                <a:cs typeface="Poppins SemiBold"/>
                <a:sym typeface="Poppins SemiBold"/>
              </a:defRPr>
            </a:lvl2pPr>
            <a:lvl3pPr lvl="2">
              <a:buNone/>
              <a:defRPr>
                <a:solidFill>
                  <a:schemeClr val="dk1"/>
                </a:solidFill>
                <a:latin typeface="Poppins SemiBold"/>
                <a:ea typeface="Poppins SemiBold"/>
                <a:cs typeface="Poppins SemiBold"/>
                <a:sym typeface="Poppins SemiBold"/>
              </a:defRPr>
            </a:lvl3pPr>
            <a:lvl4pPr lvl="3">
              <a:buNone/>
              <a:defRPr>
                <a:solidFill>
                  <a:schemeClr val="dk1"/>
                </a:solidFill>
                <a:latin typeface="Poppins SemiBold"/>
                <a:ea typeface="Poppins SemiBold"/>
                <a:cs typeface="Poppins SemiBold"/>
                <a:sym typeface="Poppins SemiBold"/>
              </a:defRPr>
            </a:lvl4pPr>
            <a:lvl5pPr lvl="4">
              <a:buNone/>
              <a:defRPr>
                <a:solidFill>
                  <a:schemeClr val="dk1"/>
                </a:solidFill>
                <a:latin typeface="Poppins SemiBold"/>
                <a:ea typeface="Poppins SemiBold"/>
                <a:cs typeface="Poppins SemiBold"/>
                <a:sym typeface="Poppins SemiBold"/>
              </a:defRPr>
            </a:lvl5pPr>
            <a:lvl6pPr lvl="5">
              <a:buNone/>
              <a:defRPr>
                <a:solidFill>
                  <a:schemeClr val="dk1"/>
                </a:solidFill>
                <a:latin typeface="Poppins SemiBold"/>
                <a:ea typeface="Poppins SemiBold"/>
                <a:cs typeface="Poppins SemiBold"/>
                <a:sym typeface="Poppins SemiBold"/>
              </a:defRPr>
            </a:lvl6pPr>
            <a:lvl7pPr lvl="6">
              <a:buNone/>
              <a:defRPr>
                <a:solidFill>
                  <a:schemeClr val="dk1"/>
                </a:solidFill>
                <a:latin typeface="Poppins SemiBold"/>
                <a:ea typeface="Poppins SemiBold"/>
                <a:cs typeface="Poppins SemiBold"/>
                <a:sym typeface="Poppins SemiBold"/>
              </a:defRPr>
            </a:lvl7pPr>
            <a:lvl8pPr lvl="7">
              <a:buNone/>
              <a:defRPr>
                <a:solidFill>
                  <a:schemeClr val="dk1"/>
                </a:solidFill>
                <a:latin typeface="Poppins SemiBold"/>
                <a:ea typeface="Poppins SemiBold"/>
                <a:cs typeface="Poppins SemiBold"/>
                <a:sym typeface="Poppins SemiBold"/>
              </a:defRPr>
            </a:lvl8pPr>
            <a:lvl9pPr lvl="8">
              <a:buNone/>
              <a:defRPr>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extLst>
    <p:ext uri="{DCECCB84-F9BA-43D5-87BE-67443E8EF086}">
      <p15:sldGuideLst>
        <p15:guide id="1" pos="2880">
          <p15:clr>
            <a:srgbClr val="FBAE40"/>
          </p15:clr>
        </p15:guide>
        <p15:guide id="2" pos="2795">
          <p15:clr>
            <a:srgbClr val="FBAE40"/>
          </p15:clr>
        </p15:guide>
        <p15:guide id="3" pos="296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vide logo">
  <p:cSld name="Diapositive vide logo">
    <p:spTree>
      <p:nvGrpSpPr>
        <p:cNvPr id="142" name="Shape 142"/>
        <p:cNvGrpSpPr/>
        <p:nvPr/>
      </p:nvGrpSpPr>
      <p:grpSpPr>
        <a:xfrm>
          <a:off x="0" y="0"/>
          <a:ext cx="0" cy="0"/>
          <a:chOff x="0" y="0"/>
          <a:chExt cx="0" cy="0"/>
        </a:xfrm>
      </p:grpSpPr>
      <p:pic>
        <p:nvPicPr>
          <p:cNvPr id="143" name="Google Shape;143;p21"/>
          <p:cNvPicPr preferRelativeResize="0"/>
          <p:nvPr/>
        </p:nvPicPr>
        <p:blipFill rotWithShape="1">
          <a:blip r:embed="rId2">
            <a:alphaModFix/>
          </a:blip>
          <a:srcRect b="0" l="0" r="0" t="0"/>
          <a:stretch/>
        </p:blipFill>
        <p:spPr>
          <a:xfrm>
            <a:off x="8329352" y="93518"/>
            <a:ext cx="711497" cy="790088"/>
          </a:xfrm>
          <a:prstGeom prst="rect">
            <a:avLst/>
          </a:prstGeom>
          <a:noFill/>
          <a:ln>
            <a:noFill/>
          </a:ln>
        </p:spPr>
      </p:pic>
      <p:sp>
        <p:nvSpPr>
          <p:cNvPr id="144" name="Google Shape;144;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extLst>
    <p:ext uri="{DCECCB84-F9BA-43D5-87BE-67443E8EF086}">
      <p15:sldGuideLst>
        <p15:guide id="1" pos="2880">
          <p15:clr>
            <a:srgbClr val="FBAE40"/>
          </p15:clr>
        </p15:guide>
        <p15:guide id="2" pos="2795">
          <p15:clr>
            <a:srgbClr val="FBAE40"/>
          </p15:clr>
        </p15:guide>
        <p15:guide id="3" pos="296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fin">
  <p:cSld name="Diapositive de fin">
    <p:spTree>
      <p:nvGrpSpPr>
        <p:cNvPr id="145" name="Shape 145"/>
        <p:cNvGrpSpPr/>
        <p:nvPr/>
      </p:nvGrpSpPr>
      <p:grpSpPr>
        <a:xfrm>
          <a:off x="0" y="0"/>
          <a:ext cx="0" cy="0"/>
          <a:chOff x="0" y="0"/>
          <a:chExt cx="0" cy="0"/>
        </a:xfrm>
      </p:grpSpPr>
      <p:pic>
        <p:nvPicPr>
          <p:cNvPr id="146" name="Google Shape;146;p22"/>
          <p:cNvPicPr preferRelativeResize="0"/>
          <p:nvPr/>
        </p:nvPicPr>
        <p:blipFill rotWithShape="1">
          <a:blip r:embed="rId2">
            <a:alphaModFix/>
          </a:blip>
          <a:srcRect b="0" l="0" r="0" t="0"/>
          <a:stretch/>
        </p:blipFill>
        <p:spPr>
          <a:xfrm>
            <a:off x="-3085" y="-11251"/>
            <a:ext cx="9157970" cy="1180377"/>
          </a:xfrm>
          <a:prstGeom prst="rect">
            <a:avLst/>
          </a:prstGeom>
          <a:noFill/>
          <a:ln>
            <a:noFill/>
          </a:ln>
        </p:spPr>
      </p:pic>
      <p:sp>
        <p:nvSpPr>
          <p:cNvPr id="147" name="Google Shape;147;p22"/>
          <p:cNvSpPr txBox="1"/>
          <p:nvPr/>
        </p:nvSpPr>
        <p:spPr>
          <a:xfrm>
            <a:off x="2840415" y="2187980"/>
            <a:ext cx="3468962" cy="6232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fr" sz="3600" cap="none">
                <a:solidFill>
                  <a:schemeClr val="dk1"/>
                </a:solidFill>
                <a:latin typeface="Poppins"/>
                <a:ea typeface="Poppins"/>
                <a:cs typeface="Poppins"/>
                <a:sym typeface="Poppins"/>
              </a:rPr>
              <a:t>MERCI</a:t>
            </a:r>
            <a:endParaRPr b="1" i="0" sz="2700">
              <a:solidFill>
                <a:schemeClr val="dk1"/>
              </a:solidFill>
              <a:latin typeface="Poppins"/>
              <a:ea typeface="Poppins"/>
              <a:cs typeface="Poppins"/>
              <a:sym typeface="Poppins"/>
            </a:endParaRPr>
          </a:p>
        </p:txBody>
      </p:sp>
      <p:sp>
        <p:nvSpPr>
          <p:cNvPr id="148" name="Google Shape;148;p22"/>
          <p:cNvSpPr/>
          <p:nvPr/>
        </p:nvSpPr>
        <p:spPr>
          <a:xfrm>
            <a:off x="3842558" y="-12138"/>
            <a:ext cx="1458884" cy="1320882"/>
          </a:xfrm>
          <a:prstGeom prst="rect">
            <a:avLst/>
          </a:prstGeom>
          <a:solidFill>
            <a:schemeClr val="lt1"/>
          </a:solidFill>
          <a:ln>
            <a:noFill/>
          </a:ln>
          <a:effectLst>
            <a:outerShdw blurRad="419100" sx="99000" rotWithShape="0" algn="ctr" dir="5400000" dist="63500" sy="99000">
              <a:srgbClr val="000000">
                <a:alpha val="9803"/>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149" name="Google Shape;149;p22"/>
          <p:cNvPicPr preferRelativeResize="0"/>
          <p:nvPr/>
        </p:nvPicPr>
        <p:blipFill rotWithShape="1">
          <a:blip r:embed="rId3">
            <a:alphaModFix/>
          </a:blip>
          <a:srcRect b="0" l="0" r="0" t="0"/>
          <a:stretch/>
        </p:blipFill>
        <p:spPr>
          <a:xfrm>
            <a:off x="3991801" y="0"/>
            <a:ext cx="1189493" cy="1320882"/>
          </a:xfrm>
          <a:prstGeom prst="rect">
            <a:avLst/>
          </a:prstGeom>
          <a:noFill/>
          <a:ln>
            <a:noFill/>
          </a:ln>
        </p:spPr>
      </p:pic>
      <p:sp>
        <p:nvSpPr>
          <p:cNvPr id="150" name="Google Shape;150;p22"/>
          <p:cNvSpPr/>
          <p:nvPr/>
        </p:nvSpPr>
        <p:spPr>
          <a:xfrm>
            <a:off x="3403520" y="2753190"/>
            <a:ext cx="2336960" cy="346249"/>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7B949E"/>
              </a:buClr>
              <a:buSzPts val="1800"/>
              <a:buFont typeface="Poppins"/>
              <a:buNone/>
            </a:pPr>
            <a:r>
              <a:rPr b="0" i="0" lang="fr" sz="1800">
                <a:solidFill>
                  <a:srgbClr val="7B949E"/>
                </a:solidFill>
                <a:latin typeface="Poppins"/>
                <a:ea typeface="Poppins"/>
                <a:cs typeface="Poppins"/>
                <a:sym typeface="Poppins"/>
              </a:rPr>
              <a:t>pour votre écoute</a:t>
            </a:r>
            <a:endParaRPr sz="1100"/>
          </a:p>
        </p:txBody>
      </p:sp>
      <p:pic>
        <p:nvPicPr>
          <p:cNvPr id="151" name="Google Shape;151;p22"/>
          <p:cNvPicPr preferRelativeResize="0"/>
          <p:nvPr/>
        </p:nvPicPr>
        <p:blipFill rotWithShape="1">
          <a:blip r:embed="rId4">
            <a:alphaModFix/>
          </a:blip>
          <a:srcRect b="0" l="0" r="0" t="0"/>
          <a:stretch/>
        </p:blipFill>
        <p:spPr>
          <a:xfrm>
            <a:off x="6193134" y="739363"/>
            <a:ext cx="3207386" cy="1878381"/>
          </a:xfrm>
          <a:prstGeom prst="rect">
            <a:avLst/>
          </a:prstGeom>
          <a:noFill/>
          <a:ln>
            <a:noFill/>
          </a:ln>
        </p:spPr>
      </p:pic>
      <p:pic>
        <p:nvPicPr>
          <p:cNvPr id="152" name="Google Shape;152;p22"/>
          <p:cNvPicPr preferRelativeResize="0"/>
          <p:nvPr/>
        </p:nvPicPr>
        <p:blipFill rotWithShape="1">
          <a:blip r:embed="rId5">
            <a:alphaModFix/>
          </a:blip>
          <a:srcRect b="0" l="0" r="0" t="0"/>
          <a:stretch/>
        </p:blipFill>
        <p:spPr>
          <a:xfrm>
            <a:off x="-314825" y="621057"/>
            <a:ext cx="1948677" cy="2620634"/>
          </a:xfrm>
          <a:prstGeom prst="rect">
            <a:avLst/>
          </a:prstGeom>
          <a:noFill/>
          <a:ln>
            <a:noFill/>
          </a:ln>
        </p:spPr>
      </p:pic>
      <p:pic>
        <p:nvPicPr>
          <p:cNvPr id="153" name="Google Shape;153;p22"/>
          <p:cNvPicPr preferRelativeResize="0"/>
          <p:nvPr/>
        </p:nvPicPr>
        <p:blipFill rotWithShape="1">
          <a:blip r:embed="rId6">
            <a:alphaModFix/>
          </a:blip>
          <a:srcRect b="0" l="0" r="0" t="0"/>
          <a:stretch/>
        </p:blipFill>
        <p:spPr>
          <a:xfrm rot="4277967">
            <a:off x="7900596" y="3166665"/>
            <a:ext cx="1652449" cy="1808586"/>
          </a:xfrm>
          <a:prstGeom prst="rect">
            <a:avLst/>
          </a:prstGeom>
          <a:noFill/>
          <a:ln>
            <a:noFill/>
          </a:ln>
        </p:spPr>
      </p:pic>
      <p:sp>
        <p:nvSpPr>
          <p:cNvPr id="154" name="Google Shape;154;p22"/>
          <p:cNvSpPr/>
          <p:nvPr/>
        </p:nvSpPr>
        <p:spPr>
          <a:xfrm>
            <a:off x="3291427" y="4693583"/>
            <a:ext cx="2561147" cy="230833"/>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fr" sz="1100">
                <a:solidFill>
                  <a:schemeClr val="dk1"/>
                </a:solidFill>
                <a:latin typeface="Poppins Medium"/>
                <a:ea typeface="Poppins Medium"/>
                <a:cs typeface="Poppins Medium"/>
                <a:sym typeface="Poppins Medium"/>
              </a:rPr>
              <a:t>L’École des Ingénieurs Scientifiques</a:t>
            </a:r>
            <a:endParaRPr sz="1100"/>
          </a:p>
        </p:txBody>
      </p:sp>
      <p:pic>
        <p:nvPicPr>
          <p:cNvPr id="155" name="Google Shape;155;p22"/>
          <p:cNvPicPr preferRelativeResize="0"/>
          <p:nvPr/>
        </p:nvPicPr>
        <p:blipFill rotWithShape="1">
          <a:blip r:embed="rId7">
            <a:alphaModFix/>
          </a:blip>
          <a:srcRect b="0" l="0" r="0" t="0"/>
          <a:stretch/>
        </p:blipFill>
        <p:spPr>
          <a:xfrm>
            <a:off x="3363443" y="4330706"/>
            <a:ext cx="2417114" cy="302740"/>
          </a:xfrm>
          <a:prstGeom prst="rect">
            <a:avLst/>
          </a:prstGeom>
          <a:noFill/>
          <a:ln>
            <a:noFill/>
          </a:ln>
        </p:spPr>
      </p:pic>
      <p:sp>
        <p:nvSpPr>
          <p:cNvPr id="156" name="Google Shape;156;p22"/>
          <p:cNvSpPr/>
          <p:nvPr/>
        </p:nvSpPr>
        <p:spPr>
          <a:xfrm>
            <a:off x="4206818" y="3222567"/>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57" name="Google Shape;157;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ge covuerture">
  <p:cSld name="Page covuerture">
    <p:spTree>
      <p:nvGrpSpPr>
        <p:cNvPr id="158" name="Shape 158"/>
        <p:cNvGrpSpPr/>
        <p:nvPr/>
      </p:nvGrpSpPr>
      <p:grpSpPr>
        <a:xfrm>
          <a:off x="0" y="0"/>
          <a:ext cx="0" cy="0"/>
          <a:chOff x="0" y="0"/>
          <a:chExt cx="0" cy="0"/>
        </a:xfrm>
      </p:grpSpPr>
      <p:sp>
        <p:nvSpPr>
          <p:cNvPr id="159" name="Google Shape;159;p23"/>
          <p:cNvSpPr/>
          <p:nvPr/>
        </p:nvSpPr>
        <p:spPr>
          <a:xfrm>
            <a:off x="8520139" y="0"/>
            <a:ext cx="623861" cy="623861"/>
          </a:xfrm>
          <a:prstGeom prst="rect">
            <a:avLst/>
          </a:prstGeom>
          <a:solidFill>
            <a:srgbClr val="BAA64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60" name="Google Shape;160;p23"/>
          <p:cNvSpPr/>
          <p:nvPr/>
        </p:nvSpPr>
        <p:spPr>
          <a:xfrm>
            <a:off x="0" y="0"/>
            <a:ext cx="623861" cy="623861"/>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161" name="Google Shape;161;p23"/>
          <p:cNvPicPr preferRelativeResize="0"/>
          <p:nvPr/>
        </p:nvPicPr>
        <p:blipFill rotWithShape="1">
          <a:blip r:embed="rId2">
            <a:alphaModFix/>
          </a:blip>
          <a:srcRect b="6393" l="0" r="0" t="30613"/>
          <a:stretch/>
        </p:blipFill>
        <p:spPr>
          <a:xfrm>
            <a:off x="239154" y="204065"/>
            <a:ext cx="8665693" cy="3645263"/>
          </a:xfrm>
          <a:prstGeom prst="rect">
            <a:avLst/>
          </a:prstGeom>
          <a:noFill/>
          <a:ln>
            <a:noFill/>
          </a:ln>
        </p:spPr>
      </p:pic>
      <p:sp>
        <p:nvSpPr>
          <p:cNvPr id="162" name="Google Shape;162;p23"/>
          <p:cNvSpPr/>
          <p:nvPr/>
        </p:nvSpPr>
        <p:spPr>
          <a:xfrm>
            <a:off x="235131" y="3849329"/>
            <a:ext cx="1469572" cy="210599"/>
          </a:xfrm>
          <a:prstGeom prst="rect">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163" name="Google Shape;163;p23"/>
          <p:cNvPicPr preferRelativeResize="0"/>
          <p:nvPr/>
        </p:nvPicPr>
        <p:blipFill rotWithShape="1">
          <a:blip r:embed="rId3">
            <a:alphaModFix/>
          </a:blip>
          <a:srcRect b="0" l="0" r="0" t="0"/>
          <a:stretch/>
        </p:blipFill>
        <p:spPr>
          <a:xfrm>
            <a:off x="3002813" y="4443299"/>
            <a:ext cx="3138376" cy="393076"/>
          </a:xfrm>
          <a:prstGeom prst="rect">
            <a:avLst/>
          </a:prstGeom>
          <a:noFill/>
          <a:ln>
            <a:noFill/>
          </a:ln>
        </p:spPr>
      </p:pic>
      <p:sp>
        <p:nvSpPr>
          <p:cNvPr id="164" name="Google Shape;164;p23"/>
          <p:cNvSpPr/>
          <p:nvPr/>
        </p:nvSpPr>
        <p:spPr>
          <a:xfrm>
            <a:off x="3852949" y="204065"/>
            <a:ext cx="1458884" cy="1320882"/>
          </a:xfrm>
          <a:prstGeom prst="rect">
            <a:avLst/>
          </a:prstGeom>
          <a:solidFill>
            <a:schemeClr val="lt1"/>
          </a:solidFill>
          <a:ln>
            <a:noFill/>
          </a:ln>
          <a:effectLst>
            <a:outerShdw blurRad="419100" sx="99000" rotWithShape="0" algn="ctr" dir="5400000" dist="63500" sy="99000">
              <a:srgbClr val="000000">
                <a:alpha val="9803"/>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165" name="Google Shape;165;p23"/>
          <p:cNvPicPr preferRelativeResize="0"/>
          <p:nvPr/>
        </p:nvPicPr>
        <p:blipFill rotWithShape="1">
          <a:blip r:embed="rId4">
            <a:alphaModFix/>
          </a:blip>
          <a:srcRect b="0" l="0" r="0" t="0"/>
          <a:stretch/>
        </p:blipFill>
        <p:spPr>
          <a:xfrm>
            <a:off x="4002192" y="204065"/>
            <a:ext cx="1189493" cy="1320882"/>
          </a:xfrm>
          <a:prstGeom prst="rect">
            <a:avLst/>
          </a:prstGeom>
          <a:noFill/>
          <a:ln>
            <a:noFill/>
          </a:ln>
        </p:spPr>
      </p:pic>
      <p:sp>
        <p:nvSpPr>
          <p:cNvPr id="166" name="Google Shape;166;p23"/>
          <p:cNvSpPr/>
          <p:nvPr/>
        </p:nvSpPr>
        <p:spPr>
          <a:xfrm>
            <a:off x="145223" y="2583478"/>
            <a:ext cx="1912177" cy="462451"/>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67" name="Google Shape;167;p23"/>
          <p:cNvSpPr txBox="1"/>
          <p:nvPr/>
        </p:nvSpPr>
        <p:spPr>
          <a:xfrm>
            <a:off x="358040" y="2631389"/>
            <a:ext cx="1769102" cy="438581"/>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fr" sz="2400" cap="none">
                <a:solidFill>
                  <a:schemeClr val="dk1"/>
                </a:solidFill>
                <a:latin typeface="Poppins"/>
                <a:ea typeface="Poppins"/>
                <a:cs typeface="Poppins"/>
                <a:sym typeface="Poppins"/>
              </a:rPr>
              <a:t>L’ENSICAEN</a:t>
            </a:r>
            <a:endParaRPr b="1" i="0" sz="1500">
              <a:solidFill>
                <a:schemeClr val="dk1"/>
              </a:solidFill>
              <a:latin typeface="Poppins"/>
              <a:ea typeface="Poppins"/>
              <a:cs typeface="Poppins"/>
              <a:sym typeface="Poppins"/>
            </a:endParaRPr>
          </a:p>
        </p:txBody>
      </p:sp>
      <p:sp>
        <p:nvSpPr>
          <p:cNvPr id="168" name="Google Shape;168;p23"/>
          <p:cNvSpPr/>
          <p:nvPr/>
        </p:nvSpPr>
        <p:spPr>
          <a:xfrm>
            <a:off x="235130" y="3099518"/>
            <a:ext cx="3341284" cy="462451"/>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69" name="Google Shape;169;p23"/>
          <p:cNvSpPr txBox="1"/>
          <p:nvPr/>
        </p:nvSpPr>
        <p:spPr>
          <a:xfrm>
            <a:off x="374303" y="3154734"/>
            <a:ext cx="3131609"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fr" sz="2100">
                <a:solidFill>
                  <a:srgbClr val="7B949E"/>
                </a:solidFill>
                <a:latin typeface="Poppins Medium"/>
                <a:ea typeface="Poppins Medium"/>
                <a:cs typeface="Poppins Medium"/>
                <a:sym typeface="Poppins Medium"/>
              </a:rPr>
              <a:t>boosteur d’innovation</a:t>
            </a:r>
            <a:endParaRPr sz="1100"/>
          </a:p>
        </p:txBody>
      </p:sp>
      <p:sp>
        <p:nvSpPr>
          <p:cNvPr id="170" name="Google Shape;170;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en-tête 1">
  <p:cSld name="Diapositive en-tête 1">
    <p:spTree>
      <p:nvGrpSpPr>
        <p:cNvPr id="171" name="Shape 171"/>
        <p:cNvGrpSpPr/>
        <p:nvPr/>
      </p:nvGrpSpPr>
      <p:grpSpPr>
        <a:xfrm>
          <a:off x="0" y="0"/>
          <a:ext cx="0" cy="0"/>
          <a:chOff x="0" y="0"/>
          <a:chExt cx="0" cy="0"/>
        </a:xfrm>
      </p:grpSpPr>
      <p:sp>
        <p:nvSpPr>
          <p:cNvPr id="172" name="Google Shape;172;p24"/>
          <p:cNvSpPr/>
          <p:nvPr/>
        </p:nvSpPr>
        <p:spPr>
          <a:xfrm>
            <a:off x="8520139" y="0"/>
            <a:ext cx="623861" cy="623861"/>
          </a:xfrm>
          <a:prstGeom prst="rect">
            <a:avLst/>
          </a:prstGeom>
          <a:solidFill>
            <a:srgbClr val="BAA64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73" name="Google Shape;173;p24"/>
          <p:cNvSpPr/>
          <p:nvPr/>
        </p:nvSpPr>
        <p:spPr>
          <a:xfrm>
            <a:off x="0" y="0"/>
            <a:ext cx="623861" cy="623861"/>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174" name="Google Shape;174;p24"/>
          <p:cNvPicPr preferRelativeResize="0"/>
          <p:nvPr/>
        </p:nvPicPr>
        <p:blipFill rotWithShape="1">
          <a:blip r:embed="rId2">
            <a:alphaModFix/>
          </a:blip>
          <a:srcRect b="0" l="0" r="0" t="0"/>
          <a:stretch/>
        </p:blipFill>
        <p:spPr>
          <a:xfrm>
            <a:off x="235131" y="210353"/>
            <a:ext cx="8669716" cy="2381790"/>
          </a:xfrm>
          <a:prstGeom prst="rect">
            <a:avLst/>
          </a:prstGeom>
          <a:noFill/>
          <a:ln>
            <a:noFill/>
          </a:ln>
        </p:spPr>
      </p:pic>
      <p:grpSp>
        <p:nvGrpSpPr>
          <p:cNvPr id="175" name="Google Shape;175;p24"/>
          <p:cNvGrpSpPr/>
          <p:nvPr/>
        </p:nvGrpSpPr>
        <p:grpSpPr>
          <a:xfrm>
            <a:off x="0" y="5060500"/>
            <a:ext cx="9154885" cy="92528"/>
            <a:chOff x="-14514" y="6444343"/>
            <a:chExt cx="2185249" cy="413657"/>
          </a:xfrm>
        </p:grpSpPr>
        <p:sp>
          <p:nvSpPr>
            <p:cNvPr id="176" name="Google Shape;176;p24"/>
            <p:cNvSpPr/>
            <p:nvPr/>
          </p:nvSpPr>
          <p:spPr>
            <a:xfrm>
              <a:off x="-14514" y="6444343"/>
              <a:ext cx="437050" cy="413657"/>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77" name="Google Shape;177;p24"/>
            <p:cNvSpPr/>
            <p:nvPr/>
          </p:nvSpPr>
          <p:spPr>
            <a:xfrm>
              <a:off x="422536" y="6444343"/>
              <a:ext cx="437050" cy="413657"/>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78" name="Google Shape;178;p24"/>
            <p:cNvSpPr/>
            <p:nvPr/>
          </p:nvSpPr>
          <p:spPr>
            <a:xfrm>
              <a:off x="859585" y="6444343"/>
              <a:ext cx="437050" cy="413657"/>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79" name="Google Shape;179;p24"/>
            <p:cNvSpPr/>
            <p:nvPr/>
          </p:nvSpPr>
          <p:spPr>
            <a:xfrm>
              <a:off x="1296635" y="6444343"/>
              <a:ext cx="437050" cy="413657"/>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80" name="Google Shape;180;p24"/>
            <p:cNvSpPr/>
            <p:nvPr/>
          </p:nvSpPr>
          <p:spPr>
            <a:xfrm>
              <a:off x="1733685" y="6444343"/>
              <a:ext cx="437050" cy="413657"/>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grpSp>
      <p:sp>
        <p:nvSpPr>
          <p:cNvPr id="181" name="Google Shape;181;p24"/>
          <p:cNvSpPr/>
          <p:nvPr/>
        </p:nvSpPr>
        <p:spPr>
          <a:xfrm>
            <a:off x="7435275" y="2590355"/>
            <a:ext cx="1469572" cy="210599"/>
          </a:xfrm>
          <a:prstGeom prst="rect">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82" name="Google Shape;182;p24"/>
          <p:cNvSpPr/>
          <p:nvPr/>
        </p:nvSpPr>
        <p:spPr>
          <a:xfrm>
            <a:off x="3852949" y="204065"/>
            <a:ext cx="1458884" cy="1320882"/>
          </a:xfrm>
          <a:prstGeom prst="rect">
            <a:avLst/>
          </a:prstGeom>
          <a:solidFill>
            <a:schemeClr val="lt1"/>
          </a:solidFill>
          <a:ln>
            <a:noFill/>
          </a:ln>
          <a:effectLst>
            <a:outerShdw blurRad="419100" sx="99000" rotWithShape="0" algn="ctr" dir="5400000" dist="63500" sy="99000">
              <a:srgbClr val="000000">
                <a:alpha val="9803"/>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183" name="Google Shape;183;p24"/>
          <p:cNvPicPr preferRelativeResize="0"/>
          <p:nvPr/>
        </p:nvPicPr>
        <p:blipFill rotWithShape="1">
          <a:blip r:embed="rId3">
            <a:alphaModFix/>
          </a:blip>
          <a:srcRect b="0" l="0" r="0" t="0"/>
          <a:stretch/>
        </p:blipFill>
        <p:spPr>
          <a:xfrm>
            <a:off x="4002192" y="204065"/>
            <a:ext cx="1189493" cy="1320882"/>
          </a:xfrm>
          <a:prstGeom prst="rect">
            <a:avLst/>
          </a:prstGeom>
          <a:noFill/>
          <a:ln>
            <a:noFill/>
          </a:ln>
        </p:spPr>
      </p:pic>
      <p:sp>
        <p:nvSpPr>
          <p:cNvPr id="184" name="Google Shape;184;p24"/>
          <p:cNvSpPr/>
          <p:nvPr/>
        </p:nvSpPr>
        <p:spPr>
          <a:xfrm>
            <a:off x="6327949" y="4598225"/>
            <a:ext cx="2561147" cy="230833"/>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fr" sz="1100">
                <a:solidFill>
                  <a:schemeClr val="dk1"/>
                </a:solidFill>
                <a:latin typeface="Poppins Medium"/>
                <a:ea typeface="Poppins Medium"/>
                <a:cs typeface="Poppins Medium"/>
                <a:sym typeface="Poppins Medium"/>
              </a:rPr>
              <a:t>L’École des Ingénieurs Scientifiques</a:t>
            </a:r>
            <a:endParaRPr sz="1100"/>
          </a:p>
        </p:txBody>
      </p:sp>
      <p:pic>
        <p:nvPicPr>
          <p:cNvPr id="185" name="Google Shape;185;p24"/>
          <p:cNvPicPr preferRelativeResize="0"/>
          <p:nvPr/>
        </p:nvPicPr>
        <p:blipFill rotWithShape="1">
          <a:blip r:embed="rId4">
            <a:alphaModFix/>
          </a:blip>
          <a:srcRect b="0" l="0" r="0" t="0"/>
          <a:stretch/>
        </p:blipFill>
        <p:spPr>
          <a:xfrm>
            <a:off x="6399966" y="4235348"/>
            <a:ext cx="2417114" cy="302740"/>
          </a:xfrm>
          <a:prstGeom prst="rect">
            <a:avLst/>
          </a:prstGeom>
          <a:noFill/>
          <a:ln>
            <a:noFill/>
          </a:ln>
        </p:spPr>
      </p:pic>
      <p:sp>
        <p:nvSpPr>
          <p:cNvPr id="186" name="Google Shape;186;p24"/>
          <p:cNvSpPr txBox="1"/>
          <p:nvPr>
            <p:ph idx="1" type="body"/>
          </p:nvPr>
        </p:nvSpPr>
        <p:spPr>
          <a:xfrm>
            <a:off x="760083" y="3173929"/>
            <a:ext cx="2499284" cy="370798"/>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2700"/>
              <a:buFont typeface="Arial"/>
              <a:buNone/>
              <a:defRPr b="1" i="0" sz="27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187" name="Google Shape;187;p24"/>
          <p:cNvSpPr txBox="1"/>
          <p:nvPr>
            <p:ph idx="2" type="subTitle"/>
          </p:nvPr>
        </p:nvSpPr>
        <p:spPr>
          <a:xfrm>
            <a:off x="760083" y="2919321"/>
            <a:ext cx="2445894" cy="228194"/>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1"/>
              </a:buClr>
              <a:buSzPts val="1400"/>
              <a:buFont typeface="Arial"/>
              <a:buNone/>
              <a:defRPr b="0" i="0" sz="1400" u="none" cap="none" strike="noStrike">
                <a:solidFill>
                  <a:schemeClr val="dk1"/>
                </a:solidFill>
                <a:latin typeface="Poppins"/>
                <a:ea typeface="Poppins"/>
                <a:cs typeface="Poppins"/>
                <a:sym typeface="Poppins"/>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9pPr>
          </a:lstStyle>
          <a:p/>
        </p:txBody>
      </p:sp>
      <p:sp>
        <p:nvSpPr>
          <p:cNvPr id="188" name="Google Shape;188;p24"/>
          <p:cNvSpPr/>
          <p:nvPr/>
        </p:nvSpPr>
        <p:spPr>
          <a:xfrm>
            <a:off x="854866" y="3671227"/>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89" name="Google Shape;189;p24"/>
          <p:cNvSpPr txBox="1"/>
          <p:nvPr>
            <p:ph idx="3" type="body"/>
          </p:nvPr>
        </p:nvSpPr>
        <p:spPr>
          <a:xfrm>
            <a:off x="760083" y="3832703"/>
            <a:ext cx="2526332" cy="22179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100"/>
              <a:buFont typeface="Arial"/>
              <a:buNone/>
              <a:defRPr b="0" i="0" sz="1100" u="none" cap="none" strike="noStrike">
                <a:solidFill>
                  <a:schemeClr val="dk1"/>
                </a:solidFill>
                <a:latin typeface="Poppins Medium"/>
                <a:ea typeface="Poppins Medium"/>
                <a:cs typeface="Poppins Medium"/>
                <a:sym typeface="Poppins Medium"/>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190" name="Google Shape;190;p24"/>
          <p:cNvSpPr txBox="1"/>
          <p:nvPr>
            <p:ph idx="4" type="body"/>
          </p:nvPr>
        </p:nvSpPr>
        <p:spPr>
          <a:xfrm>
            <a:off x="760083" y="4275330"/>
            <a:ext cx="2526332" cy="163893"/>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800"/>
              <a:buFont typeface="Arial"/>
              <a:buNone/>
              <a:defRPr b="0" i="0" sz="8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191" name="Google Shape;191;p24"/>
          <p:cNvSpPr txBox="1"/>
          <p:nvPr>
            <p:ph idx="5" type="body"/>
          </p:nvPr>
        </p:nvSpPr>
        <p:spPr>
          <a:xfrm>
            <a:off x="760083" y="4055728"/>
            <a:ext cx="2526332" cy="22179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100"/>
              <a:buFont typeface="Arial"/>
              <a:buNone/>
              <a:defRPr b="0" i="0" sz="11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192" name="Google Shape;192;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latin typeface="Poppins"/>
                <a:ea typeface="Poppins"/>
                <a:cs typeface="Poppins"/>
                <a:sym typeface="Poppins"/>
              </a:defRPr>
            </a:lvl1pPr>
            <a:lvl2pPr lvl="1">
              <a:buNone/>
              <a:defRPr>
                <a:solidFill>
                  <a:schemeClr val="dk1"/>
                </a:solidFill>
                <a:latin typeface="Poppins"/>
                <a:ea typeface="Poppins"/>
                <a:cs typeface="Poppins"/>
                <a:sym typeface="Poppins"/>
              </a:defRPr>
            </a:lvl2pPr>
            <a:lvl3pPr lvl="2">
              <a:buNone/>
              <a:defRPr>
                <a:solidFill>
                  <a:schemeClr val="dk1"/>
                </a:solidFill>
                <a:latin typeface="Poppins"/>
                <a:ea typeface="Poppins"/>
                <a:cs typeface="Poppins"/>
                <a:sym typeface="Poppins"/>
              </a:defRPr>
            </a:lvl3pPr>
            <a:lvl4pPr lvl="3">
              <a:buNone/>
              <a:defRPr>
                <a:solidFill>
                  <a:schemeClr val="dk1"/>
                </a:solidFill>
                <a:latin typeface="Poppins"/>
                <a:ea typeface="Poppins"/>
                <a:cs typeface="Poppins"/>
                <a:sym typeface="Poppins"/>
              </a:defRPr>
            </a:lvl4pPr>
            <a:lvl5pPr lvl="4">
              <a:buNone/>
              <a:defRPr>
                <a:solidFill>
                  <a:schemeClr val="dk1"/>
                </a:solidFill>
                <a:latin typeface="Poppins"/>
                <a:ea typeface="Poppins"/>
                <a:cs typeface="Poppins"/>
                <a:sym typeface="Poppins"/>
              </a:defRPr>
            </a:lvl5pPr>
            <a:lvl6pPr lvl="5">
              <a:buNone/>
              <a:defRPr>
                <a:solidFill>
                  <a:schemeClr val="dk1"/>
                </a:solidFill>
                <a:latin typeface="Poppins"/>
                <a:ea typeface="Poppins"/>
                <a:cs typeface="Poppins"/>
                <a:sym typeface="Poppins"/>
              </a:defRPr>
            </a:lvl6pPr>
            <a:lvl7pPr lvl="6">
              <a:buNone/>
              <a:defRPr>
                <a:solidFill>
                  <a:schemeClr val="dk1"/>
                </a:solidFill>
                <a:latin typeface="Poppins"/>
                <a:ea typeface="Poppins"/>
                <a:cs typeface="Poppins"/>
                <a:sym typeface="Poppins"/>
              </a:defRPr>
            </a:lvl7pPr>
            <a:lvl8pPr lvl="7">
              <a:buNone/>
              <a:defRPr>
                <a:solidFill>
                  <a:schemeClr val="dk1"/>
                </a:solidFill>
                <a:latin typeface="Poppins"/>
                <a:ea typeface="Poppins"/>
                <a:cs typeface="Poppins"/>
                <a:sym typeface="Poppins"/>
              </a:defRPr>
            </a:lvl8pPr>
            <a:lvl9pPr lvl="8">
              <a:buNone/>
              <a:defRPr>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en-tête 3">
  <p:cSld name="Diapositive en-tête 3">
    <p:spTree>
      <p:nvGrpSpPr>
        <p:cNvPr id="193" name="Shape 193"/>
        <p:cNvGrpSpPr/>
        <p:nvPr/>
      </p:nvGrpSpPr>
      <p:grpSpPr>
        <a:xfrm>
          <a:off x="0" y="0"/>
          <a:ext cx="0" cy="0"/>
          <a:chOff x="0" y="0"/>
          <a:chExt cx="0" cy="0"/>
        </a:xfrm>
      </p:grpSpPr>
      <p:sp>
        <p:nvSpPr>
          <p:cNvPr id="194" name="Google Shape;194;p25"/>
          <p:cNvSpPr/>
          <p:nvPr/>
        </p:nvSpPr>
        <p:spPr>
          <a:xfrm>
            <a:off x="285493" y="4330336"/>
            <a:ext cx="472154" cy="472154"/>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95" name="Google Shape;195;p25"/>
          <p:cNvSpPr/>
          <p:nvPr/>
        </p:nvSpPr>
        <p:spPr>
          <a:xfrm>
            <a:off x="4298360" y="107234"/>
            <a:ext cx="591525" cy="591525"/>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196" name="Google Shape;196;p25"/>
          <p:cNvPicPr preferRelativeResize="0"/>
          <p:nvPr/>
        </p:nvPicPr>
        <p:blipFill rotWithShape="1">
          <a:blip r:embed="rId2">
            <a:alphaModFix/>
          </a:blip>
          <a:srcRect b="0" l="0" r="0" t="0"/>
          <a:stretch/>
        </p:blipFill>
        <p:spPr>
          <a:xfrm>
            <a:off x="7935735" y="3858238"/>
            <a:ext cx="1015116" cy="1127244"/>
          </a:xfrm>
          <a:prstGeom prst="rect">
            <a:avLst/>
          </a:prstGeom>
          <a:noFill/>
          <a:ln>
            <a:noFill/>
          </a:ln>
        </p:spPr>
      </p:pic>
      <p:pic>
        <p:nvPicPr>
          <p:cNvPr id="197" name="Google Shape;197;p25"/>
          <p:cNvPicPr preferRelativeResize="0"/>
          <p:nvPr/>
        </p:nvPicPr>
        <p:blipFill rotWithShape="1">
          <a:blip r:embed="rId3">
            <a:alphaModFix/>
          </a:blip>
          <a:srcRect b="0" l="0" r="0" t="0"/>
          <a:stretch/>
        </p:blipFill>
        <p:spPr>
          <a:xfrm>
            <a:off x="7525972" y="311395"/>
            <a:ext cx="3528125" cy="2066219"/>
          </a:xfrm>
          <a:prstGeom prst="rect">
            <a:avLst/>
          </a:prstGeom>
          <a:noFill/>
          <a:ln>
            <a:noFill/>
          </a:ln>
        </p:spPr>
      </p:pic>
      <p:sp>
        <p:nvSpPr>
          <p:cNvPr id="198" name="Google Shape;198;p25"/>
          <p:cNvSpPr txBox="1"/>
          <p:nvPr>
            <p:ph idx="1" type="body"/>
          </p:nvPr>
        </p:nvSpPr>
        <p:spPr>
          <a:xfrm>
            <a:off x="5287478" y="2053231"/>
            <a:ext cx="2499284" cy="370799"/>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2700"/>
              <a:buFont typeface="Arial"/>
              <a:buNone/>
              <a:defRPr b="1" i="0" sz="27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199" name="Google Shape;199;p25"/>
          <p:cNvSpPr txBox="1"/>
          <p:nvPr>
            <p:ph idx="2" type="subTitle"/>
          </p:nvPr>
        </p:nvSpPr>
        <p:spPr>
          <a:xfrm>
            <a:off x="5287478" y="1798623"/>
            <a:ext cx="2445894" cy="228194"/>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1"/>
              </a:buClr>
              <a:buSzPts val="1400"/>
              <a:buFont typeface="Arial"/>
              <a:buNone/>
              <a:defRPr b="0" i="0" sz="1400" u="none" cap="none" strike="noStrike">
                <a:solidFill>
                  <a:schemeClr val="dk1"/>
                </a:solidFill>
                <a:latin typeface="Poppins"/>
                <a:ea typeface="Poppins"/>
                <a:cs typeface="Poppins"/>
                <a:sym typeface="Poppins"/>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9pPr>
          </a:lstStyle>
          <a:p/>
        </p:txBody>
      </p:sp>
      <p:sp>
        <p:nvSpPr>
          <p:cNvPr id="200" name="Google Shape;200;p25"/>
          <p:cNvSpPr/>
          <p:nvPr/>
        </p:nvSpPr>
        <p:spPr>
          <a:xfrm>
            <a:off x="5382262" y="2550530"/>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201" name="Google Shape;201;p25"/>
          <p:cNvSpPr txBox="1"/>
          <p:nvPr>
            <p:ph idx="3" type="body"/>
          </p:nvPr>
        </p:nvSpPr>
        <p:spPr>
          <a:xfrm>
            <a:off x="5287478" y="2712005"/>
            <a:ext cx="2526332" cy="22179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100"/>
              <a:buFont typeface="Arial"/>
              <a:buNone/>
              <a:defRPr b="0" i="0" sz="1100" u="none" cap="none" strike="noStrike">
                <a:solidFill>
                  <a:schemeClr val="dk1"/>
                </a:solidFill>
                <a:latin typeface="Poppins Medium"/>
                <a:ea typeface="Poppins Medium"/>
                <a:cs typeface="Poppins Medium"/>
                <a:sym typeface="Poppins Medium"/>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202" name="Google Shape;202;p25"/>
          <p:cNvSpPr txBox="1"/>
          <p:nvPr>
            <p:ph idx="4" type="body"/>
          </p:nvPr>
        </p:nvSpPr>
        <p:spPr>
          <a:xfrm>
            <a:off x="5287478" y="3154632"/>
            <a:ext cx="2526332" cy="163893"/>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800"/>
              <a:buFont typeface="Arial"/>
              <a:buNone/>
              <a:defRPr b="0" i="0" sz="8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203" name="Google Shape;203;p25"/>
          <p:cNvSpPr txBox="1"/>
          <p:nvPr>
            <p:ph idx="5" type="body"/>
          </p:nvPr>
        </p:nvSpPr>
        <p:spPr>
          <a:xfrm>
            <a:off x="5287478" y="2935030"/>
            <a:ext cx="2526332" cy="22179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100"/>
              <a:buFont typeface="Arial"/>
              <a:buNone/>
              <a:defRPr b="0" i="0" sz="11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204" name="Google Shape;204;p25"/>
          <p:cNvSpPr/>
          <p:nvPr>
            <p:ph idx="6" type="pic"/>
          </p:nvPr>
        </p:nvSpPr>
        <p:spPr>
          <a:xfrm>
            <a:off x="439341" y="379810"/>
            <a:ext cx="4168378" cy="4249340"/>
          </a:xfrm>
          <a:prstGeom prst="rect">
            <a:avLst/>
          </a:prstGeom>
          <a:noFill/>
          <a:ln>
            <a:noFill/>
          </a:ln>
        </p:spPr>
      </p:sp>
      <p:sp>
        <p:nvSpPr>
          <p:cNvPr id="205" name="Google Shape;205;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latin typeface="Poppins"/>
                <a:ea typeface="Poppins"/>
                <a:cs typeface="Poppins"/>
                <a:sym typeface="Poppins"/>
              </a:defRPr>
            </a:lvl1pPr>
            <a:lvl2pPr lvl="1">
              <a:buNone/>
              <a:defRPr>
                <a:solidFill>
                  <a:schemeClr val="dk1"/>
                </a:solidFill>
                <a:latin typeface="Poppins"/>
                <a:ea typeface="Poppins"/>
                <a:cs typeface="Poppins"/>
                <a:sym typeface="Poppins"/>
              </a:defRPr>
            </a:lvl2pPr>
            <a:lvl3pPr lvl="2">
              <a:buNone/>
              <a:defRPr>
                <a:solidFill>
                  <a:schemeClr val="dk1"/>
                </a:solidFill>
                <a:latin typeface="Poppins"/>
                <a:ea typeface="Poppins"/>
                <a:cs typeface="Poppins"/>
                <a:sym typeface="Poppins"/>
              </a:defRPr>
            </a:lvl3pPr>
            <a:lvl4pPr lvl="3">
              <a:buNone/>
              <a:defRPr>
                <a:solidFill>
                  <a:schemeClr val="dk1"/>
                </a:solidFill>
                <a:latin typeface="Poppins"/>
                <a:ea typeface="Poppins"/>
                <a:cs typeface="Poppins"/>
                <a:sym typeface="Poppins"/>
              </a:defRPr>
            </a:lvl4pPr>
            <a:lvl5pPr lvl="4">
              <a:buNone/>
              <a:defRPr>
                <a:solidFill>
                  <a:schemeClr val="dk1"/>
                </a:solidFill>
                <a:latin typeface="Poppins"/>
                <a:ea typeface="Poppins"/>
                <a:cs typeface="Poppins"/>
                <a:sym typeface="Poppins"/>
              </a:defRPr>
            </a:lvl5pPr>
            <a:lvl6pPr lvl="5">
              <a:buNone/>
              <a:defRPr>
                <a:solidFill>
                  <a:schemeClr val="dk1"/>
                </a:solidFill>
                <a:latin typeface="Poppins"/>
                <a:ea typeface="Poppins"/>
                <a:cs typeface="Poppins"/>
                <a:sym typeface="Poppins"/>
              </a:defRPr>
            </a:lvl6pPr>
            <a:lvl7pPr lvl="6">
              <a:buNone/>
              <a:defRPr>
                <a:solidFill>
                  <a:schemeClr val="dk1"/>
                </a:solidFill>
                <a:latin typeface="Poppins"/>
                <a:ea typeface="Poppins"/>
                <a:cs typeface="Poppins"/>
                <a:sym typeface="Poppins"/>
              </a:defRPr>
            </a:lvl7pPr>
            <a:lvl8pPr lvl="7">
              <a:buNone/>
              <a:defRPr>
                <a:solidFill>
                  <a:schemeClr val="dk1"/>
                </a:solidFill>
                <a:latin typeface="Poppins"/>
                <a:ea typeface="Poppins"/>
                <a:cs typeface="Poppins"/>
                <a:sym typeface="Poppins"/>
              </a:defRPr>
            </a:lvl8pPr>
            <a:lvl9pPr lvl="8">
              <a:buNone/>
              <a:defRPr>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e en-tête 3">
  <p:cSld name="1_Diapositive en-tête 3">
    <p:spTree>
      <p:nvGrpSpPr>
        <p:cNvPr id="206" name="Shape 206"/>
        <p:cNvGrpSpPr/>
        <p:nvPr/>
      </p:nvGrpSpPr>
      <p:grpSpPr>
        <a:xfrm>
          <a:off x="0" y="0"/>
          <a:ext cx="0" cy="0"/>
          <a:chOff x="0" y="0"/>
          <a:chExt cx="0" cy="0"/>
        </a:xfrm>
      </p:grpSpPr>
      <p:sp>
        <p:nvSpPr>
          <p:cNvPr id="207" name="Google Shape;207;p26"/>
          <p:cNvSpPr/>
          <p:nvPr/>
        </p:nvSpPr>
        <p:spPr>
          <a:xfrm>
            <a:off x="285493" y="4330336"/>
            <a:ext cx="472154" cy="472154"/>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208" name="Google Shape;208;p26"/>
          <p:cNvSpPr/>
          <p:nvPr/>
        </p:nvSpPr>
        <p:spPr>
          <a:xfrm>
            <a:off x="4298360" y="107234"/>
            <a:ext cx="591525" cy="591525"/>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209" name="Google Shape;209;p26"/>
          <p:cNvPicPr preferRelativeResize="0"/>
          <p:nvPr/>
        </p:nvPicPr>
        <p:blipFill rotWithShape="1">
          <a:blip r:embed="rId2">
            <a:alphaModFix/>
          </a:blip>
          <a:srcRect b="515" l="34297" r="11007" t="254"/>
          <a:stretch/>
        </p:blipFill>
        <p:spPr>
          <a:xfrm>
            <a:off x="461325" y="402996"/>
            <a:ext cx="4132798" cy="4216981"/>
          </a:xfrm>
          <a:prstGeom prst="round2DiagRect">
            <a:avLst>
              <a:gd fmla="val 16667" name="adj1"/>
              <a:gd fmla="val 0" name="adj2"/>
            </a:avLst>
          </a:prstGeom>
          <a:noFill/>
          <a:ln>
            <a:noFill/>
          </a:ln>
        </p:spPr>
      </p:pic>
      <p:pic>
        <p:nvPicPr>
          <p:cNvPr id="210" name="Google Shape;210;p26"/>
          <p:cNvPicPr preferRelativeResize="0"/>
          <p:nvPr/>
        </p:nvPicPr>
        <p:blipFill rotWithShape="1">
          <a:blip r:embed="rId3">
            <a:alphaModFix/>
          </a:blip>
          <a:srcRect b="0" l="0" r="0" t="0"/>
          <a:stretch/>
        </p:blipFill>
        <p:spPr>
          <a:xfrm>
            <a:off x="7935735" y="3858238"/>
            <a:ext cx="1015116" cy="1127244"/>
          </a:xfrm>
          <a:prstGeom prst="rect">
            <a:avLst/>
          </a:prstGeom>
          <a:noFill/>
          <a:ln>
            <a:noFill/>
          </a:ln>
        </p:spPr>
      </p:pic>
      <p:pic>
        <p:nvPicPr>
          <p:cNvPr id="211" name="Google Shape;211;p26"/>
          <p:cNvPicPr preferRelativeResize="0"/>
          <p:nvPr/>
        </p:nvPicPr>
        <p:blipFill rotWithShape="1">
          <a:blip r:embed="rId4">
            <a:alphaModFix/>
          </a:blip>
          <a:srcRect b="0" l="0" r="0" t="0"/>
          <a:stretch/>
        </p:blipFill>
        <p:spPr>
          <a:xfrm>
            <a:off x="7525972" y="311395"/>
            <a:ext cx="3528125" cy="2066219"/>
          </a:xfrm>
          <a:prstGeom prst="rect">
            <a:avLst/>
          </a:prstGeom>
          <a:noFill/>
          <a:ln>
            <a:noFill/>
          </a:ln>
        </p:spPr>
      </p:pic>
      <p:sp>
        <p:nvSpPr>
          <p:cNvPr id="212" name="Google Shape;212;p26"/>
          <p:cNvSpPr txBox="1"/>
          <p:nvPr>
            <p:ph idx="1" type="body"/>
          </p:nvPr>
        </p:nvSpPr>
        <p:spPr>
          <a:xfrm>
            <a:off x="5287478" y="2053231"/>
            <a:ext cx="2499284" cy="370799"/>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2700"/>
              <a:buFont typeface="Arial"/>
              <a:buNone/>
              <a:defRPr b="1" i="0" sz="27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213" name="Google Shape;213;p26"/>
          <p:cNvSpPr txBox="1"/>
          <p:nvPr>
            <p:ph idx="2" type="subTitle"/>
          </p:nvPr>
        </p:nvSpPr>
        <p:spPr>
          <a:xfrm>
            <a:off x="5287478" y="1798623"/>
            <a:ext cx="2445894" cy="228194"/>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1"/>
              </a:buClr>
              <a:buSzPts val="1400"/>
              <a:buFont typeface="Arial"/>
              <a:buNone/>
              <a:defRPr b="0" i="0" sz="1400" u="none" cap="none" strike="noStrike">
                <a:solidFill>
                  <a:schemeClr val="dk1"/>
                </a:solidFill>
                <a:latin typeface="Poppins"/>
                <a:ea typeface="Poppins"/>
                <a:cs typeface="Poppins"/>
                <a:sym typeface="Poppins"/>
              </a:defRPr>
            </a:lvl1pPr>
            <a:lvl2pPr lvl="1" marR="0" rtl="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2pPr>
            <a:lvl3pPr lvl="2" marR="0" rtl="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3pPr>
            <a:lvl4pPr lvl="3"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4pPr>
            <a:lvl5pPr lvl="4"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Quattrocento Sans"/>
                <a:ea typeface="Quattrocento Sans"/>
                <a:cs typeface="Quattrocento Sans"/>
                <a:sym typeface="Quattrocento Sans"/>
              </a:defRPr>
            </a:lvl9pPr>
          </a:lstStyle>
          <a:p/>
        </p:txBody>
      </p:sp>
      <p:sp>
        <p:nvSpPr>
          <p:cNvPr id="214" name="Google Shape;214;p26"/>
          <p:cNvSpPr/>
          <p:nvPr/>
        </p:nvSpPr>
        <p:spPr>
          <a:xfrm>
            <a:off x="5382262" y="2550530"/>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215" name="Google Shape;215;p26"/>
          <p:cNvSpPr txBox="1"/>
          <p:nvPr>
            <p:ph idx="3" type="body"/>
          </p:nvPr>
        </p:nvSpPr>
        <p:spPr>
          <a:xfrm>
            <a:off x="5287478" y="2712005"/>
            <a:ext cx="2526332" cy="22179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100"/>
              <a:buFont typeface="Arial"/>
              <a:buNone/>
              <a:defRPr b="0" i="0" sz="1100" u="none" cap="none" strike="noStrike">
                <a:solidFill>
                  <a:schemeClr val="dk1"/>
                </a:solidFill>
                <a:latin typeface="Poppins Medium"/>
                <a:ea typeface="Poppins Medium"/>
                <a:cs typeface="Poppins Medium"/>
                <a:sym typeface="Poppins Medium"/>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216" name="Google Shape;216;p26"/>
          <p:cNvSpPr txBox="1"/>
          <p:nvPr>
            <p:ph idx="4" type="body"/>
          </p:nvPr>
        </p:nvSpPr>
        <p:spPr>
          <a:xfrm>
            <a:off x="5287478" y="3154632"/>
            <a:ext cx="2526332" cy="163893"/>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800"/>
              <a:buFont typeface="Arial"/>
              <a:buNone/>
              <a:defRPr b="0" i="0" sz="8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217" name="Google Shape;217;p26"/>
          <p:cNvSpPr txBox="1"/>
          <p:nvPr>
            <p:ph idx="5" type="body"/>
          </p:nvPr>
        </p:nvSpPr>
        <p:spPr>
          <a:xfrm>
            <a:off x="5287478" y="2935030"/>
            <a:ext cx="2526332" cy="22179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100"/>
              <a:buFont typeface="Arial"/>
              <a:buNone/>
              <a:defRPr b="0" i="0" sz="11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218" name="Google Shape;218;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latin typeface="Poppins"/>
                <a:ea typeface="Poppins"/>
                <a:cs typeface="Poppins"/>
                <a:sym typeface="Poppins"/>
              </a:defRPr>
            </a:lvl1pPr>
            <a:lvl2pPr lvl="1">
              <a:buNone/>
              <a:defRPr>
                <a:solidFill>
                  <a:schemeClr val="dk1"/>
                </a:solidFill>
                <a:latin typeface="Poppins"/>
                <a:ea typeface="Poppins"/>
                <a:cs typeface="Poppins"/>
                <a:sym typeface="Poppins"/>
              </a:defRPr>
            </a:lvl2pPr>
            <a:lvl3pPr lvl="2">
              <a:buNone/>
              <a:defRPr>
                <a:solidFill>
                  <a:schemeClr val="dk1"/>
                </a:solidFill>
                <a:latin typeface="Poppins"/>
                <a:ea typeface="Poppins"/>
                <a:cs typeface="Poppins"/>
                <a:sym typeface="Poppins"/>
              </a:defRPr>
            </a:lvl3pPr>
            <a:lvl4pPr lvl="3">
              <a:buNone/>
              <a:defRPr>
                <a:solidFill>
                  <a:schemeClr val="dk1"/>
                </a:solidFill>
                <a:latin typeface="Poppins"/>
                <a:ea typeface="Poppins"/>
                <a:cs typeface="Poppins"/>
                <a:sym typeface="Poppins"/>
              </a:defRPr>
            </a:lvl4pPr>
            <a:lvl5pPr lvl="4">
              <a:buNone/>
              <a:defRPr>
                <a:solidFill>
                  <a:schemeClr val="dk1"/>
                </a:solidFill>
                <a:latin typeface="Poppins"/>
                <a:ea typeface="Poppins"/>
                <a:cs typeface="Poppins"/>
                <a:sym typeface="Poppins"/>
              </a:defRPr>
            </a:lvl5pPr>
            <a:lvl6pPr lvl="5">
              <a:buNone/>
              <a:defRPr>
                <a:solidFill>
                  <a:schemeClr val="dk1"/>
                </a:solidFill>
                <a:latin typeface="Poppins"/>
                <a:ea typeface="Poppins"/>
                <a:cs typeface="Poppins"/>
                <a:sym typeface="Poppins"/>
              </a:defRPr>
            </a:lvl6pPr>
            <a:lvl7pPr lvl="6">
              <a:buNone/>
              <a:defRPr>
                <a:solidFill>
                  <a:schemeClr val="dk1"/>
                </a:solidFill>
                <a:latin typeface="Poppins"/>
                <a:ea typeface="Poppins"/>
                <a:cs typeface="Poppins"/>
                <a:sym typeface="Poppins"/>
              </a:defRPr>
            </a:lvl7pPr>
            <a:lvl8pPr lvl="7">
              <a:buNone/>
              <a:defRPr>
                <a:solidFill>
                  <a:schemeClr val="dk1"/>
                </a:solidFill>
                <a:latin typeface="Poppins"/>
                <a:ea typeface="Poppins"/>
                <a:cs typeface="Poppins"/>
                <a:sym typeface="Poppins"/>
              </a:defRPr>
            </a:lvl8pPr>
            <a:lvl9pPr lvl="8">
              <a:buNone/>
              <a:defRPr>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tête accroche recrutement">
  <p:cSld name="En-tête accroche recrutement">
    <p:spTree>
      <p:nvGrpSpPr>
        <p:cNvPr id="219" name="Shape 219"/>
        <p:cNvGrpSpPr/>
        <p:nvPr/>
      </p:nvGrpSpPr>
      <p:grpSpPr>
        <a:xfrm>
          <a:off x="0" y="0"/>
          <a:ext cx="0" cy="0"/>
          <a:chOff x="0" y="0"/>
          <a:chExt cx="0" cy="0"/>
        </a:xfrm>
      </p:grpSpPr>
      <p:pic>
        <p:nvPicPr>
          <p:cNvPr id="220" name="Google Shape;220;p27"/>
          <p:cNvPicPr preferRelativeResize="0"/>
          <p:nvPr/>
        </p:nvPicPr>
        <p:blipFill rotWithShape="1">
          <a:blip r:embed="rId2">
            <a:alphaModFix/>
          </a:blip>
          <a:srcRect b="0" l="0" r="0" t="0"/>
          <a:stretch/>
        </p:blipFill>
        <p:spPr>
          <a:xfrm>
            <a:off x="-3085" y="-11251"/>
            <a:ext cx="9157970" cy="1180377"/>
          </a:xfrm>
          <a:prstGeom prst="rect">
            <a:avLst/>
          </a:prstGeom>
          <a:noFill/>
          <a:ln>
            <a:noFill/>
          </a:ln>
        </p:spPr>
      </p:pic>
      <p:grpSp>
        <p:nvGrpSpPr>
          <p:cNvPr id="221" name="Google Shape;221;p27"/>
          <p:cNvGrpSpPr/>
          <p:nvPr/>
        </p:nvGrpSpPr>
        <p:grpSpPr>
          <a:xfrm>
            <a:off x="3914503" y="-16131"/>
            <a:ext cx="1314995" cy="1232573"/>
            <a:chOff x="5219337" y="-12799"/>
            <a:chExt cx="1753326" cy="1643431"/>
          </a:xfrm>
        </p:grpSpPr>
        <p:sp>
          <p:nvSpPr>
            <p:cNvPr id="222" name="Google Shape;222;p27"/>
            <p:cNvSpPr/>
            <p:nvPr/>
          </p:nvSpPr>
          <p:spPr>
            <a:xfrm>
              <a:off x="5219337" y="-12799"/>
              <a:ext cx="1753326" cy="1623029"/>
            </a:xfrm>
            <a:prstGeom prst="rect">
              <a:avLst/>
            </a:prstGeom>
            <a:solidFill>
              <a:schemeClr val="lt1"/>
            </a:solidFill>
            <a:ln>
              <a:noFill/>
            </a:ln>
            <a:effectLst>
              <a:outerShdw blurRad="419100" sx="99000" rotWithShape="0" algn="ctr" dir="5400000" dist="63500" sy="99000">
                <a:srgbClr val="000000">
                  <a:alpha val="9803"/>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223" name="Google Shape;223;p27"/>
            <p:cNvPicPr preferRelativeResize="0"/>
            <p:nvPr/>
          </p:nvPicPr>
          <p:blipFill rotWithShape="1">
            <a:blip r:embed="rId3">
              <a:alphaModFix/>
            </a:blip>
            <a:srcRect b="0" l="0" r="0" t="0"/>
            <a:stretch/>
          </p:blipFill>
          <p:spPr>
            <a:xfrm>
              <a:off x="5401076" y="48579"/>
              <a:ext cx="1424685" cy="1582053"/>
            </a:xfrm>
            <a:prstGeom prst="rect">
              <a:avLst/>
            </a:prstGeom>
            <a:noFill/>
            <a:ln>
              <a:noFill/>
            </a:ln>
          </p:spPr>
        </p:pic>
      </p:grpSp>
      <p:pic>
        <p:nvPicPr>
          <p:cNvPr id="224" name="Google Shape;224;p27"/>
          <p:cNvPicPr preferRelativeResize="0"/>
          <p:nvPr/>
        </p:nvPicPr>
        <p:blipFill rotWithShape="1">
          <a:blip r:embed="rId4">
            <a:alphaModFix/>
          </a:blip>
          <a:srcRect b="0" l="0" r="0" t="0"/>
          <a:stretch/>
        </p:blipFill>
        <p:spPr>
          <a:xfrm>
            <a:off x="6137645" y="281846"/>
            <a:ext cx="3207386" cy="1878381"/>
          </a:xfrm>
          <a:prstGeom prst="rect">
            <a:avLst/>
          </a:prstGeom>
          <a:noFill/>
          <a:ln>
            <a:noFill/>
          </a:ln>
        </p:spPr>
      </p:pic>
      <p:pic>
        <p:nvPicPr>
          <p:cNvPr id="225" name="Google Shape;225;p27"/>
          <p:cNvPicPr preferRelativeResize="0"/>
          <p:nvPr/>
        </p:nvPicPr>
        <p:blipFill rotWithShape="1">
          <a:blip r:embed="rId5">
            <a:alphaModFix/>
          </a:blip>
          <a:srcRect b="0" l="0" r="0" t="0"/>
          <a:stretch/>
        </p:blipFill>
        <p:spPr>
          <a:xfrm>
            <a:off x="-402841" y="565605"/>
            <a:ext cx="2612291" cy="3513079"/>
          </a:xfrm>
          <a:prstGeom prst="rect">
            <a:avLst/>
          </a:prstGeom>
          <a:noFill/>
          <a:ln>
            <a:noFill/>
          </a:ln>
        </p:spPr>
      </p:pic>
      <p:pic>
        <p:nvPicPr>
          <p:cNvPr id="226" name="Google Shape;226;p27"/>
          <p:cNvPicPr preferRelativeResize="0"/>
          <p:nvPr/>
        </p:nvPicPr>
        <p:blipFill rotWithShape="1">
          <a:blip r:embed="rId6">
            <a:alphaModFix/>
          </a:blip>
          <a:srcRect b="0" l="0" r="0" t="0"/>
          <a:stretch/>
        </p:blipFill>
        <p:spPr>
          <a:xfrm rot="4277967">
            <a:off x="7924872" y="2916617"/>
            <a:ext cx="1652449" cy="1808586"/>
          </a:xfrm>
          <a:prstGeom prst="rect">
            <a:avLst/>
          </a:prstGeom>
          <a:noFill/>
          <a:ln>
            <a:noFill/>
          </a:ln>
        </p:spPr>
      </p:pic>
      <p:grpSp>
        <p:nvGrpSpPr>
          <p:cNvPr id="227" name="Google Shape;227;p27"/>
          <p:cNvGrpSpPr/>
          <p:nvPr/>
        </p:nvGrpSpPr>
        <p:grpSpPr>
          <a:xfrm>
            <a:off x="2823753" y="1949651"/>
            <a:ext cx="3428702" cy="1199930"/>
            <a:chOff x="519845" y="3259539"/>
            <a:chExt cx="3686481" cy="1290144"/>
          </a:xfrm>
        </p:grpSpPr>
        <p:sp>
          <p:nvSpPr>
            <p:cNvPr id="228" name="Google Shape;228;p27"/>
            <p:cNvSpPr/>
            <p:nvPr/>
          </p:nvSpPr>
          <p:spPr>
            <a:xfrm>
              <a:off x="519845" y="3573433"/>
              <a:ext cx="3686481" cy="52322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3600"/>
                <a:buFont typeface="Poppins SemiBold"/>
                <a:buNone/>
              </a:pPr>
              <a:r>
                <a:rPr b="1" i="0" lang="fr" sz="3600" cap="none">
                  <a:solidFill>
                    <a:schemeClr val="dk1"/>
                  </a:solidFill>
                  <a:latin typeface="Poppins SemiBold"/>
                  <a:ea typeface="Poppins SemiBold"/>
                  <a:cs typeface="Poppins SemiBold"/>
                  <a:sym typeface="Poppins SemiBold"/>
                </a:rPr>
                <a:t>INGÉNIEUR</a:t>
              </a:r>
              <a:endParaRPr b="1" i="0" sz="3600">
                <a:solidFill>
                  <a:schemeClr val="dk1"/>
                </a:solidFill>
                <a:latin typeface="Poppins SemiBold"/>
                <a:ea typeface="Poppins SemiBold"/>
                <a:cs typeface="Poppins SemiBold"/>
                <a:sym typeface="Poppins SemiBold"/>
              </a:endParaRPr>
            </a:p>
          </p:txBody>
        </p:sp>
        <p:sp>
          <p:nvSpPr>
            <p:cNvPr id="229" name="Google Shape;229;p27"/>
            <p:cNvSpPr/>
            <p:nvPr/>
          </p:nvSpPr>
          <p:spPr>
            <a:xfrm>
              <a:off x="837622" y="4026463"/>
              <a:ext cx="3205266" cy="52322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7B949E"/>
                </a:buClr>
                <a:buSzPts val="3000"/>
                <a:buFont typeface="Poppins"/>
                <a:buNone/>
              </a:pPr>
              <a:r>
                <a:rPr b="0" i="0" lang="fr" sz="3000">
                  <a:solidFill>
                    <a:srgbClr val="7B949E"/>
                  </a:solidFill>
                  <a:latin typeface="Poppins"/>
                  <a:ea typeface="Poppins"/>
                  <a:cs typeface="Poppins"/>
                  <a:sym typeface="Poppins"/>
                </a:rPr>
                <a:t>Scientifique</a:t>
              </a:r>
              <a:endParaRPr sz="1100"/>
            </a:p>
          </p:txBody>
        </p:sp>
        <p:sp>
          <p:nvSpPr>
            <p:cNvPr id="230" name="Google Shape;230;p27"/>
            <p:cNvSpPr/>
            <p:nvPr/>
          </p:nvSpPr>
          <p:spPr>
            <a:xfrm>
              <a:off x="580214" y="3259539"/>
              <a:ext cx="1681695" cy="373684"/>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800"/>
                <a:buFont typeface="Poppins"/>
                <a:buNone/>
              </a:pPr>
              <a:r>
                <a:rPr b="0" i="0" lang="fr" sz="1800">
                  <a:solidFill>
                    <a:schemeClr val="dk1"/>
                  </a:solidFill>
                  <a:latin typeface="Poppins"/>
                  <a:ea typeface="Poppins"/>
                  <a:cs typeface="Poppins"/>
                  <a:sym typeface="Poppins"/>
                </a:rPr>
                <a:t>Devenez</a:t>
              </a:r>
              <a:endParaRPr sz="1100"/>
            </a:p>
          </p:txBody>
        </p:sp>
      </p:grpSp>
      <p:sp>
        <p:nvSpPr>
          <p:cNvPr id="231" name="Google Shape;231;p27"/>
          <p:cNvSpPr/>
          <p:nvPr/>
        </p:nvSpPr>
        <p:spPr>
          <a:xfrm>
            <a:off x="4191047" y="3317605"/>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232" name="Google Shape;232;p27"/>
          <p:cNvSpPr/>
          <p:nvPr/>
        </p:nvSpPr>
        <p:spPr>
          <a:xfrm>
            <a:off x="3291427" y="4693583"/>
            <a:ext cx="2561147" cy="230833"/>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fr" sz="1100">
                <a:solidFill>
                  <a:schemeClr val="dk1"/>
                </a:solidFill>
                <a:latin typeface="Poppins Medium"/>
                <a:ea typeface="Poppins Medium"/>
                <a:cs typeface="Poppins Medium"/>
                <a:sym typeface="Poppins Medium"/>
              </a:rPr>
              <a:t>L’École des Ingénieurs Scientifiques</a:t>
            </a:r>
            <a:endParaRPr sz="1100"/>
          </a:p>
        </p:txBody>
      </p:sp>
      <p:pic>
        <p:nvPicPr>
          <p:cNvPr id="233" name="Google Shape;233;p27"/>
          <p:cNvPicPr preferRelativeResize="0"/>
          <p:nvPr/>
        </p:nvPicPr>
        <p:blipFill rotWithShape="1">
          <a:blip r:embed="rId7">
            <a:alphaModFix/>
          </a:blip>
          <a:srcRect b="0" l="0" r="0" t="0"/>
          <a:stretch/>
        </p:blipFill>
        <p:spPr>
          <a:xfrm>
            <a:off x="3363443" y="4330706"/>
            <a:ext cx="2417114" cy="302740"/>
          </a:xfrm>
          <a:prstGeom prst="rect">
            <a:avLst/>
          </a:prstGeom>
          <a:noFill/>
          <a:ln>
            <a:noFill/>
          </a:ln>
        </p:spPr>
      </p:pic>
      <p:sp>
        <p:nvSpPr>
          <p:cNvPr id="234" name="Google Shape;234;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tête centre de recherche">
  <p:cSld name="En-tête centre de recherche">
    <p:spTree>
      <p:nvGrpSpPr>
        <p:cNvPr id="235" name="Shape 235"/>
        <p:cNvGrpSpPr/>
        <p:nvPr/>
      </p:nvGrpSpPr>
      <p:grpSpPr>
        <a:xfrm>
          <a:off x="0" y="0"/>
          <a:ext cx="0" cy="0"/>
          <a:chOff x="0" y="0"/>
          <a:chExt cx="0" cy="0"/>
        </a:xfrm>
      </p:grpSpPr>
      <p:pic>
        <p:nvPicPr>
          <p:cNvPr id="236" name="Google Shape;236;p28"/>
          <p:cNvPicPr preferRelativeResize="0"/>
          <p:nvPr/>
        </p:nvPicPr>
        <p:blipFill rotWithShape="1">
          <a:blip r:embed="rId2">
            <a:alphaModFix/>
          </a:blip>
          <a:srcRect b="0" l="0" r="0" t="0"/>
          <a:stretch/>
        </p:blipFill>
        <p:spPr>
          <a:xfrm>
            <a:off x="-3085" y="-11251"/>
            <a:ext cx="9157970" cy="1180377"/>
          </a:xfrm>
          <a:prstGeom prst="rect">
            <a:avLst/>
          </a:prstGeom>
          <a:noFill/>
          <a:ln>
            <a:noFill/>
          </a:ln>
        </p:spPr>
      </p:pic>
      <p:grpSp>
        <p:nvGrpSpPr>
          <p:cNvPr id="237" name="Google Shape;237;p28"/>
          <p:cNvGrpSpPr/>
          <p:nvPr/>
        </p:nvGrpSpPr>
        <p:grpSpPr>
          <a:xfrm>
            <a:off x="3914503" y="-16131"/>
            <a:ext cx="1314995" cy="1232573"/>
            <a:chOff x="5219337" y="-12799"/>
            <a:chExt cx="1753326" cy="1643431"/>
          </a:xfrm>
        </p:grpSpPr>
        <p:sp>
          <p:nvSpPr>
            <p:cNvPr id="238" name="Google Shape;238;p28"/>
            <p:cNvSpPr/>
            <p:nvPr/>
          </p:nvSpPr>
          <p:spPr>
            <a:xfrm>
              <a:off x="5219337" y="-12799"/>
              <a:ext cx="1753326" cy="1623029"/>
            </a:xfrm>
            <a:prstGeom prst="rect">
              <a:avLst/>
            </a:prstGeom>
            <a:solidFill>
              <a:schemeClr val="lt1"/>
            </a:solidFill>
            <a:ln>
              <a:noFill/>
            </a:ln>
            <a:effectLst>
              <a:outerShdw blurRad="419100" sx="99000" rotWithShape="0" algn="ctr" dir="5400000" dist="63500" sy="99000">
                <a:srgbClr val="000000">
                  <a:alpha val="9803"/>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239" name="Google Shape;239;p28"/>
            <p:cNvPicPr preferRelativeResize="0"/>
            <p:nvPr/>
          </p:nvPicPr>
          <p:blipFill rotWithShape="1">
            <a:blip r:embed="rId3">
              <a:alphaModFix/>
            </a:blip>
            <a:srcRect b="0" l="0" r="0" t="0"/>
            <a:stretch/>
          </p:blipFill>
          <p:spPr>
            <a:xfrm>
              <a:off x="5401076" y="48579"/>
              <a:ext cx="1424685" cy="1582053"/>
            </a:xfrm>
            <a:prstGeom prst="rect">
              <a:avLst/>
            </a:prstGeom>
            <a:noFill/>
            <a:ln>
              <a:noFill/>
            </a:ln>
          </p:spPr>
        </p:pic>
      </p:grpSp>
      <p:pic>
        <p:nvPicPr>
          <p:cNvPr id="240" name="Google Shape;240;p28"/>
          <p:cNvPicPr preferRelativeResize="0"/>
          <p:nvPr/>
        </p:nvPicPr>
        <p:blipFill rotWithShape="1">
          <a:blip r:embed="rId4">
            <a:alphaModFix/>
          </a:blip>
          <a:srcRect b="0" l="0" r="0" t="0"/>
          <a:stretch/>
        </p:blipFill>
        <p:spPr>
          <a:xfrm>
            <a:off x="6137645" y="281846"/>
            <a:ext cx="3207386" cy="1878381"/>
          </a:xfrm>
          <a:prstGeom prst="rect">
            <a:avLst/>
          </a:prstGeom>
          <a:noFill/>
          <a:ln>
            <a:noFill/>
          </a:ln>
        </p:spPr>
      </p:pic>
      <p:pic>
        <p:nvPicPr>
          <p:cNvPr id="241" name="Google Shape;241;p28"/>
          <p:cNvPicPr preferRelativeResize="0"/>
          <p:nvPr/>
        </p:nvPicPr>
        <p:blipFill rotWithShape="1">
          <a:blip r:embed="rId5">
            <a:alphaModFix/>
          </a:blip>
          <a:srcRect b="0" l="0" r="0" t="0"/>
          <a:stretch/>
        </p:blipFill>
        <p:spPr>
          <a:xfrm>
            <a:off x="-402841" y="565605"/>
            <a:ext cx="2612291" cy="3513079"/>
          </a:xfrm>
          <a:prstGeom prst="rect">
            <a:avLst/>
          </a:prstGeom>
          <a:noFill/>
          <a:ln>
            <a:noFill/>
          </a:ln>
        </p:spPr>
      </p:pic>
      <p:pic>
        <p:nvPicPr>
          <p:cNvPr id="242" name="Google Shape;242;p28"/>
          <p:cNvPicPr preferRelativeResize="0"/>
          <p:nvPr/>
        </p:nvPicPr>
        <p:blipFill rotWithShape="1">
          <a:blip r:embed="rId6">
            <a:alphaModFix/>
          </a:blip>
          <a:srcRect b="0" l="0" r="0" t="0"/>
          <a:stretch/>
        </p:blipFill>
        <p:spPr>
          <a:xfrm rot="4277967">
            <a:off x="7924872" y="2916617"/>
            <a:ext cx="1652449" cy="1808586"/>
          </a:xfrm>
          <a:prstGeom prst="rect">
            <a:avLst/>
          </a:prstGeom>
          <a:noFill/>
          <a:ln>
            <a:noFill/>
          </a:ln>
        </p:spPr>
      </p:pic>
      <p:grpSp>
        <p:nvGrpSpPr>
          <p:cNvPr id="243" name="Google Shape;243;p28"/>
          <p:cNvGrpSpPr/>
          <p:nvPr/>
        </p:nvGrpSpPr>
        <p:grpSpPr>
          <a:xfrm>
            <a:off x="3092812" y="4203133"/>
            <a:ext cx="2958376" cy="606289"/>
            <a:chOff x="4303699" y="5604177"/>
            <a:chExt cx="3944502" cy="808385"/>
          </a:xfrm>
        </p:grpSpPr>
        <p:pic>
          <p:nvPicPr>
            <p:cNvPr id="244" name="Google Shape;244;p28"/>
            <p:cNvPicPr preferRelativeResize="0"/>
            <p:nvPr/>
          </p:nvPicPr>
          <p:blipFill rotWithShape="1">
            <a:blip r:embed="rId7">
              <a:alphaModFix/>
            </a:blip>
            <a:srcRect b="0" l="0" r="0" t="0"/>
            <a:stretch/>
          </p:blipFill>
          <p:spPr>
            <a:xfrm>
              <a:off x="7389275" y="5679445"/>
              <a:ext cx="858926" cy="706945"/>
            </a:xfrm>
            <a:prstGeom prst="rect">
              <a:avLst/>
            </a:prstGeom>
            <a:noFill/>
            <a:ln>
              <a:noFill/>
            </a:ln>
          </p:spPr>
        </p:pic>
        <p:pic>
          <p:nvPicPr>
            <p:cNvPr id="245" name="Google Shape;245;p28"/>
            <p:cNvPicPr preferRelativeResize="0"/>
            <p:nvPr/>
          </p:nvPicPr>
          <p:blipFill rotWithShape="1">
            <a:blip r:embed="rId8">
              <a:alphaModFix/>
            </a:blip>
            <a:srcRect b="0" l="0" r="0" t="0"/>
            <a:stretch/>
          </p:blipFill>
          <p:spPr>
            <a:xfrm>
              <a:off x="4303699" y="5604177"/>
              <a:ext cx="782213" cy="782213"/>
            </a:xfrm>
            <a:prstGeom prst="rect">
              <a:avLst/>
            </a:prstGeom>
            <a:noFill/>
            <a:ln>
              <a:noFill/>
            </a:ln>
          </p:spPr>
        </p:pic>
        <p:pic>
          <p:nvPicPr>
            <p:cNvPr id="246" name="Google Shape;246;p28"/>
            <p:cNvPicPr preferRelativeResize="0"/>
            <p:nvPr/>
          </p:nvPicPr>
          <p:blipFill rotWithShape="1">
            <a:blip r:embed="rId9">
              <a:alphaModFix/>
            </a:blip>
            <a:srcRect b="0" l="0" r="0" t="0"/>
            <a:stretch/>
          </p:blipFill>
          <p:spPr>
            <a:xfrm>
              <a:off x="5464626" y="5621695"/>
              <a:ext cx="1545911" cy="790867"/>
            </a:xfrm>
            <a:prstGeom prst="rect">
              <a:avLst/>
            </a:prstGeom>
            <a:noFill/>
            <a:ln>
              <a:noFill/>
            </a:ln>
          </p:spPr>
        </p:pic>
      </p:grpSp>
      <p:sp>
        <p:nvSpPr>
          <p:cNvPr id="247" name="Google Shape;247;p28"/>
          <p:cNvSpPr/>
          <p:nvPr/>
        </p:nvSpPr>
        <p:spPr>
          <a:xfrm>
            <a:off x="2677416" y="2673923"/>
            <a:ext cx="3789169" cy="486634"/>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7B949E"/>
              </a:buClr>
              <a:buSzPts val="3000"/>
              <a:buFont typeface="Poppins"/>
              <a:buNone/>
            </a:pPr>
            <a:r>
              <a:rPr b="0" i="0" lang="fr" sz="3000">
                <a:solidFill>
                  <a:srgbClr val="7B949E"/>
                </a:solidFill>
                <a:latin typeface="Poppins"/>
                <a:ea typeface="Poppins"/>
                <a:cs typeface="Poppins"/>
                <a:sym typeface="Poppins"/>
              </a:rPr>
              <a:t>associés au CNRS</a:t>
            </a:r>
            <a:endParaRPr sz="1100"/>
          </a:p>
        </p:txBody>
      </p:sp>
      <p:sp>
        <p:nvSpPr>
          <p:cNvPr id="248" name="Google Shape;248;p28"/>
          <p:cNvSpPr/>
          <p:nvPr/>
        </p:nvSpPr>
        <p:spPr>
          <a:xfrm>
            <a:off x="4249916" y="3230800"/>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249" name="Google Shape;249;p28"/>
          <p:cNvSpPr/>
          <p:nvPr/>
        </p:nvSpPr>
        <p:spPr>
          <a:xfrm>
            <a:off x="2951189" y="2189484"/>
            <a:ext cx="3327816" cy="486634"/>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3000"/>
              <a:buFont typeface="Poppins SemiBold"/>
              <a:buNone/>
            </a:pPr>
            <a:r>
              <a:rPr b="1" i="0" lang="fr" sz="3000" cap="none">
                <a:solidFill>
                  <a:schemeClr val="dk1"/>
                </a:solidFill>
                <a:latin typeface="Poppins SemiBold"/>
                <a:ea typeface="Poppins SemiBold"/>
                <a:cs typeface="Poppins SemiBold"/>
                <a:sym typeface="Poppins SemiBold"/>
              </a:rPr>
              <a:t>6 LABORATOIRES</a:t>
            </a:r>
            <a:endParaRPr b="1" i="0" sz="3000">
              <a:solidFill>
                <a:schemeClr val="dk1"/>
              </a:solidFill>
              <a:latin typeface="Poppins SemiBold"/>
              <a:ea typeface="Poppins SemiBold"/>
              <a:cs typeface="Poppins SemiBold"/>
              <a:sym typeface="Poppins SemiBold"/>
            </a:endParaRPr>
          </a:p>
        </p:txBody>
      </p:sp>
      <p:sp>
        <p:nvSpPr>
          <p:cNvPr id="250" name="Google Shape;250;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En-tête accroche modifiable">
  <p:cSld name="1_En-tête accroche modifiable">
    <p:spTree>
      <p:nvGrpSpPr>
        <p:cNvPr id="251" name="Shape 251"/>
        <p:cNvGrpSpPr/>
        <p:nvPr/>
      </p:nvGrpSpPr>
      <p:grpSpPr>
        <a:xfrm>
          <a:off x="0" y="0"/>
          <a:ext cx="0" cy="0"/>
          <a:chOff x="0" y="0"/>
          <a:chExt cx="0" cy="0"/>
        </a:xfrm>
      </p:grpSpPr>
      <p:pic>
        <p:nvPicPr>
          <p:cNvPr id="252" name="Google Shape;252;p29"/>
          <p:cNvPicPr preferRelativeResize="0"/>
          <p:nvPr/>
        </p:nvPicPr>
        <p:blipFill rotWithShape="1">
          <a:blip r:embed="rId2">
            <a:alphaModFix/>
          </a:blip>
          <a:srcRect b="0" l="0" r="0" t="0"/>
          <a:stretch/>
        </p:blipFill>
        <p:spPr>
          <a:xfrm>
            <a:off x="-7060" y="-13244"/>
            <a:ext cx="9144000" cy="1179871"/>
          </a:xfrm>
          <a:prstGeom prst="rect">
            <a:avLst/>
          </a:prstGeom>
          <a:noFill/>
          <a:ln>
            <a:noFill/>
          </a:ln>
        </p:spPr>
      </p:pic>
      <p:grpSp>
        <p:nvGrpSpPr>
          <p:cNvPr id="253" name="Google Shape;253;p29"/>
          <p:cNvGrpSpPr/>
          <p:nvPr/>
        </p:nvGrpSpPr>
        <p:grpSpPr>
          <a:xfrm>
            <a:off x="3914503" y="-16131"/>
            <a:ext cx="1314995" cy="1232573"/>
            <a:chOff x="5219337" y="-12799"/>
            <a:chExt cx="1753326" cy="1643431"/>
          </a:xfrm>
        </p:grpSpPr>
        <p:sp>
          <p:nvSpPr>
            <p:cNvPr id="254" name="Google Shape;254;p29"/>
            <p:cNvSpPr/>
            <p:nvPr/>
          </p:nvSpPr>
          <p:spPr>
            <a:xfrm>
              <a:off x="5219337" y="-12799"/>
              <a:ext cx="1753326" cy="1623029"/>
            </a:xfrm>
            <a:prstGeom prst="rect">
              <a:avLst/>
            </a:prstGeom>
            <a:solidFill>
              <a:schemeClr val="lt1"/>
            </a:solidFill>
            <a:ln>
              <a:noFill/>
            </a:ln>
            <a:effectLst>
              <a:outerShdw blurRad="419100" sx="99000" rotWithShape="0" algn="ctr" dir="5400000" dist="63500" sy="99000">
                <a:srgbClr val="000000">
                  <a:alpha val="9803"/>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255" name="Google Shape;255;p29"/>
            <p:cNvPicPr preferRelativeResize="0"/>
            <p:nvPr/>
          </p:nvPicPr>
          <p:blipFill rotWithShape="1">
            <a:blip r:embed="rId3">
              <a:alphaModFix/>
            </a:blip>
            <a:srcRect b="0" l="0" r="0" t="0"/>
            <a:stretch/>
          </p:blipFill>
          <p:spPr>
            <a:xfrm>
              <a:off x="5401076" y="48579"/>
              <a:ext cx="1424685" cy="1582053"/>
            </a:xfrm>
            <a:prstGeom prst="rect">
              <a:avLst/>
            </a:prstGeom>
            <a:noFill/>
            <a:ln>
              <a:noFill/>
            </a:ln>
          </p:spPr>
        </p:pic>
      </p:grpSp>
      <p:pic>
        <p:nvPicPr>
          <p:cNvPr id="256" name="Google Shape;256;p29"/>
          <p:cNvPicPr preferRelativeResize="0"/>
          <p:nvPr/>
        </p:nvPicPr>
        <p:blipFill rotWithShape="1">
          <a:blip r:embed="rId4">
            <a:alphaModFix/>
          </a:blip>
          <a:srcRect b="0" l="0" r="0" t="0"/>
          <a:stretch/>
        </p:blipFill>
        <p:spPr>
          <a:xfrm>
            <a:off x="-278956" y="1216442"/>
            <a:ext cx="2800350" cy="2981325"/>
          </a:xfrm>
          <a:prstGeom prst="rect">
            <a:avLst/>
          </a:prstGeom>
          <a:noFill/>
          <a:ln>
            <a:noFill/>
          </a:ln>
        </p:spPr>
      </p:pic>
      <p:pic>
        <p:nvPicPr>
          <p:cNvPr id="257" name="Google Shape;257;p29"/>
          <p:cNvPicPr preferRelativeResize="0"/>
          <p:nvPr/>
        </p:nvPicPr>
        <p:blipFill rotWithShape="1">
          <a:blip r:embed="rId5">
            <a:alphaModFix/>
          </a:blip>
          <a:srcRect b="0" l="0" r="0" t="0"/>
          <a:stretch/>
        </p:blipFill>
        <p:spPr>
          <a:xfrm rot="4277967">
            <a:off x="7924872" y="2916617"/>
            <a:ext cx="1652449" cy="1808586"/>
          </a:xfrm>
          <a:prstGeom prst="rect">
            <a:avLst/>
          </a:prstGeom>
          <a:noFill/>
          <a:ln>
            <a:noFill/>
          </a:ln>
        </p:spPr>
      </p:pic>
      <p:grpSp>
        <p:nvGrpSpPr>
          <p:cNvPr id="258" name="Google Shape;258;p29"/>
          <p:cNvGrpSpPr/>
          <p:nvPr/>
        </p:nvGrpSpPr>
        <p:grpSpPr>
          <a:xfrm>
            <a:off x="2641354" y="2006652"/>
            <a:ext cx="3847172" cy="948612"/>
            <a:chOff x="647248" y="3313553"/>
            <a:chExt cx="4136413" cy="1019928"/>
          </a:xfrm>
        </p:grpSpPr>
        <p:sp>
          <p:nvSpPr>
            <p:cNvPr id="259" name="Google Shape;259;p29"/>
            <p:cNvSpPr/>
            <p:nvPr/>
          </p:nvSpPr>
          <p:spPr>
            <a:xfrm>
              <a:off x="2489045" y="3341742"/>
              <a:ext cx="2294616" cy="52322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3000"/>
                <a:buFont typeface="Poppins SemiBold"/>
                <a:buNone/>
              </a:pPr>
              <a:r>
                <a:rPr b="1" i="0" lang="fr" sz="3000" cap="none">
                  <a:solidFill>
                    <a:schemeClr val="dk1"/>
                  </a:solidFill>
                  <a:latin typeface="Poppins SemiBold"/>
                  <a:ea typeface="Poppins SemiBold"/>
                  <a:cs typeface="Poppins SemiBold"/>
                  <a:sym typeface="Poppins SemiBold"/>
                </a:rPr>
                <a:t>INGÉNIEUR</a:t>
              </a:r>
              <a:endParaRPr b="1" i="0" sz="3000">
                <a:solidFill>
                  <a:schemeClr val="dk1"/>
                </a:solidFill>
                <a:latin typeface="Poppins SemiBold"/>
                <a:ea typeface="Poppins SemiBold"/>
                <a:cs typeface="Poppins SemiBold"/>
                <a:sym typeface="Poppins SemiBold"/>
              </a:endParaRPr>
            </a:p>
          </p:txBody>
        </p:sp>
        <p:sp>
          <p:nvSpPr>
            <p:cNvPr id="260" name="Google Shape;260;p29"/>
            <p:cNvSpPr/>
            <p:nvPr/>
          </p:nvSpPr>
          <p:spPr>
            <a:xfrm>
              <a:off x="1503826" y="3810261"/>
              <a:ext cx="3205266" cy="52322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C0C0C"/>
                </a:buClr>
                <a:buSzPts val="1800"/>
                <a:buFont typeface="Poppins"/>
                <a:buNone/>
              </a:pPr>
              <a:r>
                <a:rPr b="0" i="0" lang="fr" sz="1800">
                  <a:solidFill>
                    <a:srgbClr val="0C0C0C"/>
                  </a:solidFill>
                  <a:latin typeface="Poppins"/>
                  <a:ea typeface="Poppins"/>
                  <a:cs typeface="Poppins"/>
                  <a:sym typeface="Poppins"/>
                </a:rPr>
                <a:t>en</a:t>
              </a:r>
              <a:r>
                <a:rPr b="0" i="0" lang="fr" sz="2400">
                  <a:solidFill>
                    <a:srgbClr val="36C1C2"/>
                  </a:solidFill>
                  <a:latin typeface="Poppins"/>
                  <a:ea typeface="Poppins"/>
                  <a:cs typeface="Poppins"/>
                  <a:sym typeface="Poppins"/>
                </a:rPr>
                <a:t> </a:t>
              </a:r>
              <a:r>
                <a:rPr b="0" i="0" lang="fr" sz="2700">
                  <a:solidFill>
                    <a:srgbClr val="36C1C2"/>
                  </a:solidFill>
                  <a:latin typeface="Poppins"/>
                  <a:ea typeface="Poppins"/>
                  <a:cs typeface="Poppins"/>
                  <a:sym typeface="Poppins"/>
                </a:rPr>
                <a:t>Informatique</a:t>
              </a:r>
              <a:endParaRPr b="0" i="0" sz="2400">
                <a:solidFill>
                  <a:srgbClr val="36C1C2"/>
                </a:solidFill>
                <a:latin typeface="Poppins"/>
                <a:ea typeface="Poppins"/>
                <a:cs typeface="Poppins"/>
                <a:sym typeface="Poppins"/>
              </a:endParaRPr>
            </a:p>
          </p:txBody>
        </p:sp>
        <p:sp>
          <p:nvSpPr>
            <p:cNvPr id="261" name="Google Shape;261;p29"/>
            <p:cNvSpPr/>
            <p:nvPr/>
          </p:nvSpPr>
          <p:spPr>
            <a:xfrm>
              <a:off x="647248" y="3313553"/>
              <a:ext cx="1908831" cy="57083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chemeClr val="dk1"/>
                </a:buClr>
                <a:buSzPts val="3000"/>
                <a:buFont typeface="Poppins"/>
                <a:buNone/>
              </a:pPr>
              <a:r>
                <a:rPr b="0" i="0" lang="fr" sz="3000">
                  <a:solidFill>
                    <a:schemeClr val="dk1"/>
                  </a:solidFill>
                  <a:latin typeface="Poppins"/>
                  <a:ea typeface="Poppins"/>
                  <a:cs typeface="Poppins"/>
                  <a:sym typeface="Poppins"/>
                </a:rPr>
                <a:t>Devenez</a:t>
              </a:r>
              <a:endParaRPr sz="1100"/>
            </a:p>
          </p:txBody>
        </p:sp>
      </p:grpSp>
      <p:sp>
        <p:nvSpPr>
          <p:cNvPr id="262" name="Google Shape;262;p29"/>
          <p:cNvSpPr txBox="1"/>
          <p:nvPr/>
        </p:nvSpPr>
        <p:spPr>
          <a:xfrm>
            <a:off x="2944855" y="3383476"/>
            <a:ext cx="3254291" cy="638636"/>
          </a:xfrm>
          <a:prstGeom prst="rect">
            <a:avLst/>
          </a:prstGeom>
          <a:noFill/>
          <a:ln>
            <a:noFill/>
          </a:ln>
        </p:spPr>
        <p:txBody>
          <a:bodyPr anchorCtr="0" anchor="t" bIns="34275" lIns="68575" spcFirstLastPara="1" rIns="68575" wrap="square" tIns="34275">
            <a:spAutoFit/>
          </a:bodyPr>
          <a:lstStyle/>
          <a:p>
            <a:pPr indent="0" lvl="0" marL="0" marR="0" rtl="0" algn="ctr">
              <a:lnSpc>
                <a:spcPct val="142857"/>
              </a:lnSpc>
              <a:spcBef>
                <a:spcPts val="0"/>
              </a:spcBef>
              <a:spcAft>
                <a:spcPts val="0"/>
              </a:spcAft>
              <a:buClr>
                <a:srgbClr val="0C0C0C"/>
              </a:buClr>
              <a:buSzPts val="1100"/>
              <a:buFont typeface="Poppins Medium"/>
              <a:buNone/>
            </a:pPr>
            <a:r>
              <a:rPr b="0" i="0" lang="fr" sz="1100">
                <a:solidFill>
                  <a:srgbClr val="0C0C0C"/>
                </a:solidFill>
                <a:latin typeface="Poppins Medium"/>
                <a:ea typeface="Poppins Medium"/>
                <a:cs typeface="Poppins Medium"/>
                <a:sym typeface="Poppins Medium"/>
              </a:rPr>
              <a:t>Conception de logiciels</a:t>
            </a:r>
            <a:endParaRPr sz="1100"/>
          </a:p>
          <a:p>
            <a:pPr indent="0" lvl="0" marL="0" marR="0" rtl="0" algn="ctr">
              <a:lnSpc>
                <a:spcPct val="142857"/>
              </a:lnSpc>
              <a:spcBef>
                <a:spcPts val="0"/>
              </a:spcBef>
              <a:spcAft>
                <a:spcPts val="0"/>
              </a:spcAft>
              <a:buClr>
                <a:srgbClr val="0C0C0C"/>
              </a:buClr>
              <a:buSzPts val="1100"/>
              <a:buFont typeface="Poppins"/>
              <a:buNone/>
            </a:pPr>
            <a:r>
              <a:rPr b="0" i="0" lang="fr" sz="1100">
                <a:solidFill>
                  <a:srgbClr val="0C0C0C"/>
                </a:solidFill>
                <a:latin typeface="Poppins"/>
                <a:ea typeface="Poppins"/>
                <a:cs typeface="Poppins"/>
                <a:sym typeface="Poppins"/>
              </a:rPr>
              <a:t>Développement, architecture et maintenance de systèmes logiciels complexes</a:t>
            </a:r>
            <a:endParaRPr sz="1100"/>
          </a:p>
        </p:txBody>
      </p:sp>
      <p:sp>
        <p:nvSpPr>
          <p:cNvPr id="263" name="Google Shape;263;p29"/>
          <p:cNvSpPr/>
          <p:nvPr/>
        </p:nvSpPr>
        <p:spPr>
          <a:xfrm>
            <a:off x="4199758" y="3131119"/>
            <a:ext cx="730363" cy="38246"/>
          </a:xfrm>
          <a:prstGeom prst="rect">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264" name="Google Shape;264;p29"/>
          <p:cNvSpPr txBox="1"/>
          <p:nvPr/>
        </p:nvSpPr>
        <p:spPr>
          <a:xfrm>
            <a:off x="2973430" y="4126426"/>
            <a:ext cx="3254291" cy="446276"/>
          </a:xfrm>
          <a:prstGeom prst="rect">
            <a:avLst/>
          </a:prstGeom>
          <a:noFill/>
          <a:ln>
            <a:noFill/>
          </a:ln>
        </p:spPr>
        <p:txBody>
          <a:bodyPr anchorCtr="0" anchor="t" bIns="34275" lIns="68575" spcFirstLastPara="1" rIns="68575" wrap="square" tIns="34275">
            <a:spAutoFit/>
          </a:bodyPr>
          <a:lstStyle/>
          <a:p>
            <a:pPr indent="0" lvl="0" marL="0" marR="0" rtl="0" algn="ctr">
              <a:lnSpc>
                <a:spcPct val="142857"/>
              </a:lnSpc>
              <a:spcBef>
                <a:spcPts val="0"/>
              </a:spcBef>
              <a:spcAft>
                <a:spcPts val="0"/>
              </a:spcAft>
              <a:buClr>
                <a:srgbClr val="0C0C0C"/>
              </a:buClr>
              <a:buSzPts val="1100"/>
              <a:buFont typeface="Poppins SemiBold"/>
              <a:buNone/>
            </a:pPr>
            <a:r>
              <a:rPr b="1" i="0" lang="fr" sz="1100">
                <a:solidFill>
                  <a:srgbClr val="0C0C0C"/>
                </a:solidFill>
                <a:latin typeface="Poppins SemiBold"/>
                <a:ea typeface="Poppins SemiBold"/>
                <a:cs typeface="Poppins SemiBold"/>
                <a:sym typeface="Poppins SemiBold"/>
              </a:rPr>
              <a:t>Statut étudiant et apprentissage</a:t>
            </a:r>
            <a:endParaRPr sz="1100"/>
          </a:p>
          <a:p>
            <a:pPr indent="0" lvl="0" marL="0" marR="0" rtl="0" algn="ctr">
              <a:lnSpc>
                <a:spcPct val="142857"/>
              </a:lnSpc>
              <a:spcBef>
                <a:spcPts val="0"/>
              </a:spcBef>
              <a:spcAft>
                <a:spcPts val="0"/>
              </a:spcAft>
              <a:buClr>
                <a:srgbClr val="0C0C0C"/>
              </a:buClr>
              <a:buSzPts val="1100"/>
              <a:buFont typeface="Poppins SemiBold"/>
              <a:buNone/>
            </a:pPr>
            <a:r>
              <a:rPr b="1" i="0" lang="fr" sz="1100">
                <a:solidFill>
                  <a:srgbClr val="0C0C0C"/>
                </a:solidFill>
                <a:latin typeface="Poppins SemiBold"/>
                <a:ea typeface="Poppins SemiBold"/>
                <a:cs typeface="Poppins SemiBold"/>
                <a:sym typeface="Poppins SemiBold"/>
              </a:rPr>
              <a:t>Formation continue et VAE</a:t>
            </a:r>
            <a:endParaRPr sz="1100"/>
          </a:p>
        </p:txBody>
      </p:sp>
      <p:sp>
        <p:nvSpPr>
          <p:cNvPr id="265" name="Google Shape;265;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tête accroche modifiable">
  <p:cSld name="2_En-tête accroche modifiable">
    <p:spTree>
      <p:nvGrpSpPr>
        <p:cNvPr id="266" name="Shape 266"/>
        <p:cNvGrpSpPr/>
        <p:nvPr/>
      </p:nvGrpSpPr>
      <p:grpSpPr>
        <a:xfrm>
          <a:off x="0" y="0"/>
          <a:ext cx="0" cy="0"/>
          <a:chOff x="0" y="0"/>
          <a:chExt cx="0" cy="0"/>
        </a:xfrm>
      </p:grpSpPr>
      <p:pic>
        <p:nvPicPr>
          <p:cNvPr id="267" name="Google Shape;267;p30"/>
          <p:cNvPicPr preferRelativeResize="0"/>
          <p:nvPr/>
        </p:nvPicPr>
        <p:blipFill rotWithShape="1">
          <a:blip r:embed="rId2">
            <a:alphaModFix/>
          </a:blip>
          <a:srcRect b="0" l="0" r="0" t="0"/>
          <a:stretch/>
        </p:blipFill>
        <p:spPr>
          <a:xfrm>
            <a:off x="-7061" y="-13244"/>
            <a:ext cx="9144000" cy="1179871"/>
          </a:xfrm>
          <a:prstGeom prst="rect">
            <a:avLst/>
          </a:prstGeom>
          <a:noFill/>
          <a:ln>
            <a:noFill/>
          </a:ln>
        </p:spPr>
      </p:pic>
      <p:grpSp>
        <p:nvGrpSpPr>
          <p:cNvPr id="268" name="Google Shape;268;p30"/>
          <p:cNvGrpSpPr/>
          <p:nvPr/>
        </p:nvGrpSpPr>
        <p:grpSpPr>
          <a:xfrm>
            <a:off x="3914503" y="-16131"/>
            <a:ext cx="1314995" cy="1232573"/>
            <a:chOff x="5219337" y="-12799"/>
            <a:chExt cx="1753326" cy="1643431"/>
          </a:xfrm>
        </p:grpSpPr>
        <p:sp>
          <p:nvSpPr>
            <p:cNvPr id="269" name="Google Shape;269;p30"/>
            <p:cNvSpPr/>
            <p:nvPr/>
          </p:nvSpPr>
          <p:spPr>
            <a:xfrm>
              <a:off x="5219337" y="-12799"/>
              <a:ext cx="1753326" cy="1623029"/>
            </a:xfrm>
            <a:prstGeom prst="rect">
              <a:avLst/>
            </a:prstGeom>
            <a:solidFill>
              <a:schemeClr val="lt1"/>
            </a:solidFill>
            <a:ln>
              <a:noFill/>
            </a:ln>
            <a:effectLst>
              <a:outerShdw blurRad="419100" sx="99000" rotWithShape="0" algn="ctr" dir="5400000" dist="63500" sy="99000">
                <a:srgbClr val="000000">
                  <a:alpha val="9803"/>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270" name="Google Shape;270;p30"/>
            <p:cNvPicPr preferRelativeResize="0"/>
            <p:nvPr/>
          </p:nvPicPr>
          <p:blipFill rotWithShape="1">
            <a:blip r:embed="rId3">
              <a:alphaModFix/>
            </a:blip>
            <a:srcRect b="0" l="0" r="0" t="0"/>
            <a:stretch/>
          </p:blipFill>
          <p:spPr>
            <a:xfrm>
              <a:off x="5401076" y="48579"/>
              <a:ext cx="1424685" cy="1582053"/>
            </a:xfrm>
            <a:prstGeom prst="rect">
              <a:avLst/>
            </a:prstGeom>
            <a:noFill/>
            <a:ln>
              <a:noFill/>
            </a:ln>
          </p:spPr>
        </p:pic>
      </p:grpSp>
      <p:pic>
        <p:nvPicPr>
          <p:cNvPr id="271" name="Google Shape;271;p30"/>
          <p:cNvPicPr preferRelativeResize="0"/>
          <p:nvPr/>
        </p:nvPicPr>
        <p:blipFill rotWithShape="1">
          <a:blip r:embed="rId4">
            <a:alphaModFix/>
          </a:blip>
          <a:srcRect b="0" l="0" r="0" t="0"/>
          <a:stretch/>
        </p:blipFill>
        <p:spPr>
          <a:xfrm>
            <a:off x="-461390" y="1370389"/>
            <a:ext cx="2981325" cy="2838450"/>
          </a:xfrm>
          <a:prstGeom prst="rect">
            <a:avLst/>
          </a:prstGeom>
          <a:noFill/>
          <a:ln>
            <a:noFill/>
          </a:ln>
        </p:spPr>
      </p:pic>
      <p:pic>
        <p:nvPicPr>
          <p:cNvPr id="272" name="Google Shape;272;p30"/>
          <p:cNvPicPr preferRelativeResize="0"/>
          <p:nvPr/>
        </p:nvPicPr>
        <p:blipFill rotWithShape="1">
          <a:blip r:embed="rId5">
            <a:alphaModFix/>
          </a:blip>
          <a:srcRect b="0" l="0" r="0" t="0"/>
          <a:stretch/>
        </p:blipFill>
        <p:spPr>
          <a:xfrm rot="6326477">
            <a:off x="8204662" y="2778542"/>
            <a:ext cx="1537900" cy="1683213"/>
          </a:xfrm>
          <a:prstGeom prst="rect">
            <a:avLst/>
          </a:prstGeom>
          <a:noFill/>
          <a:ln>
            <a:noFill/>
          </a:ln>
        </p:spPr>
      </p:pic>
      <p:grpSp>
        <p:nvGrpSpPr>
          <p:cNvPr id="273" name="Google Shape;273;p30"/>
          <p:cNvGrpSpPr/>
          <p:nvPr/>
        </p:nvGrpSpPr>
        <p:grpSpPr>
          <a:xfrm>
            <a:off x="2854619" y="1708935"/>
            <a:ext cx="3877055" cy="1304691"/>
            <a:chOff x="615118" y="3347069"/>
            <a:chExt cx="4168543" cy="1402777"/>
          </a:xfrm>
        </p:grpSpPr>
        <p:sp>
          <p:nvSpPr>
            <p:cNvPr id="274" name="Google Shape;274;p30"/>
            <p:cNvSpPr/>
            <p:nvPr/>
          </p:nvSpPr>
          <p:spPr>
            <a:xfrm>
              <a:off x="615118" y="4226626"/>
              <a:ext cx="3693000" cy="52322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D25653"/>
                </a:buClr>
                <a:buSzPts val="2100"/>
                <a:buFont typeface="Poppins"/>
                <a:buNone/>
              </a:pPr>
              <a:r>
                <a:rPr b="0" i="0" lang="fr" sz="2100">
                  <a:solidFill>
                    <a:srgbClr val="D25653"/>
                  </a:solidFill>
                  <a:latin typeface="Poppins"/>
                  <a:ea typeface="Poppins"/>
                  <a:cs typeface="Poppins"/>
                  <a:sym typeface="Poppins"/>
                </a:rPr>
                <a:t>et systèmes embarqués</a:t>
              </a:r>
              <a:endParaRPr b="0" i="0" sz="1800">
                <a:solidFill>
                  <a:srgbClr val="D25653"/>
                </a:solidFill>
                <a:latin typeface="Poppins"/>
                <a:ea typeface="Poppins"/>
                <a:cs typeface="Poppins"/>
                <a:sym typeface="Poppins"/>
              </a:endParaRPr>
            </a:p>
          </p:txBody>
        </p:sp>
        <p:sp>
          <p:nvSpPr>
            <p:cNvPr id="275" name="Google Shape;275;p30"/>
            <p:cNvSpPr/>
            <p:nvPr/>
          </p:nvSpPr>
          <p:spPr>
            <a:xfrm>
              <a:off x="2489045" y="3361851"/>
              <a:ext cx="2294616" cy="52322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3000"/>
                <a:buFont typeface="Poppins SemiBold"/>
                <a:buNone/>
              </a:pPr>
              <a:r>
                <a:rPr b="1" i="0" lang="fr" sz="3000" cap="none">
                  <a:solidFill>
                    <a:schemeClr val="dk1"/>
                  </a:solidFill>
                  <a:latin typeface="Poppins SemiBold"/>
                  <a:ea typeface="Poppins SemiBold"/>
                  <a:cs typeface="Poppins SemiBold"/>
                  <a:sym typeface="Poppins SemiBold"/>
                </a:rPr>
                <a:t>INGÉNIEUR</a:t>
              </a:r>
              <a:endParaRPr b="1" i="0" sz="3000">
                <a:solidFill>
                  <a:schemeClr val="dk1"/>
                </a:solidFill>
                <a:latin typeface="Poppins SemiBold"/>
                <a:ea typeface="Poppins SemiBold"/>
                <a:cs typeface="Poppins SemiBold"/>
                <a:sym typeface="Poppins SemiBold"/>
              </a:endParaRPr>
            </a:p>
          </p:txBody>
        </p:sp>
        <p:sp>
          <p:nvSpPr>
            <p:cNvPr id="276" name="Google Shape;276;p30"/>
            <p:cNvSpPr/>
            <p:nvPr/>
          </p:nvSpPr>
          <p:spPr>
            <a:xfrm>
              <a:off x="678545" y="3832156"/>
              <a:ext cx="3566143" cy="52322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C0C0C"/>
                </a:buClr>
                <a:buSzPts val="1800"/>
                <a:buFont typeface="Poppins"/>
                <a:buNone/>
              </a:pPr>
              <a:r>
                <a:rPr b="0" i="0" lang="fr" sz="1800">
                  <a:solidFill>
                    <a:srgbClr val="0C0C0C"/>
                  </a:solidFill>
                  <a:latin typeface="Poppins"/>
                  <a:ea typeface="Poppins"/>
                  <a:cs typeface="Poppins"/>
                  <a:sym typeface="Poppins"/>
                </a:rPr>
                <a:t>en</a:t>
              </a:r>
              <a:r>
                <a:rPr b="0" i="0" lang="fr" sz="2400">
                  <a:solidFill>
                    <a:srgbClr val="36C1C2"/>
                  </a:solidFill>
                  <a:latin typeface="Poppins"/>
                  <a:ea typeface="Poppins"/>
                  <a:cs typeface="Poppins"/>
                  <a:sym typeface="Poppins"/>
                </a:rPr>
                <a:t> </a:t>
              </a:r>
              <a:r>
                <a:rPr b="0" i="0" lang="fr" sz="2100">
                  <a:solidFill>
                    <a:srgbClr val="D25653"/>
                  </a:solidFill>
                  <a:latin typeface="Poppins"/>
                  <a:ea typeface="Poppins"/>
                  <a:cs typeface="Poppins"/>
                  <a:sym typeface="Poppins"/>
                </a:rPr>
                <a:t>Génie physique</a:t>
              </a:r>
              <a:endParaRPr b="0" i="0" sz="2400">
                <a:solidFill>
                  <a:srgbClr val="D25653"/>
                </a:solidFill>
                <a:latin typeface="Poppins"/>
                <a:ea typeface="Poppins"/>
                <a:cs typeface="Poppins"/>
                <a:sym typeface="Poppins"/>
              </a:endParaRPr>
            </a:p>
          </p:txBody>
        </p:sp>
        <p:sp>
          <p:nvSpPr>
            <p:cNvPr id="277" name="Google Shape;277;p30"/>
            <p:cNvSpPr/>
            <p:nvPr/>
          </p:nvSpPr>
          <p:spPr>
            <a:xfrm>
              <a:off x="647248" y="3347069"/>
              <a:ext cx="1908831" cy="57083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chemeClr val="dk1"/>
                </a:buClr>
                <a:buSzPts val="3000"/>
                <a:buFont typeface="Poppins"/>
                <a:buNone/>
              </a:pPr>
              <a:r>
                <a:rPr b="0" i="0" lang="fr" sz="3000">
                  <a:solidFill>
                    <a:schemeClr val="dk1"/>
                  </a:solidFill>
                  <a:latin typeface="Poppins"/>
                  <a:ea typeface="Poppins"/>
                  <a:cs typeface="Poppins"/>
                  <a:sym typeface="Poppins"/>
                </a:rPr>
                <a:t>Devenez</a:t>
              </a:r>
              <a:endParaRPr sz="1100"/>
            </a:p>
          </p:txBody>
        </p:sp>
      </p:grpSp>
      <p:sp>
        <p:nvSpPr>
          <p:cNvPr id="278" name="Google Shape;278;p30"/>
          <p:cNvSpPr txBox="1"/>
          <p:nvPr/>
        </p:nvSpPr>
        <p:spPr>
          <a:xfrm>
            <a:off x="2599805" y="3383476"/>
            <a:ext cx="3970612" cy="638636"/>
          </a:xfrm>
          <a:prstGeom prst="rect">
            <a:avLst/>
          </a:prstGeom>
          <a:noFill/>
          <a:ln>
            <a:noFill/>
          </a:ln>
        </p:spPr>
        <p:txBody>
          <a:bodyPr anchorCtr="0" anchor="t" bIns="34275" lIns="68575" spcFirstLastPara="1" rIns="68575" wrap="square" tIns="34275">
            <a:spAutoFit/>
          </a:bodyPr>
          <a:lstStyle/>
          <a:p>
            <a:pPr indent="0" lvl="0" marL="0" marR="0" rtl="0" algn="ctr">
              <a:lnSpc>
                <a:spcPct val="142857"/>
              </a:lnSpc>
              <a:spcBef>
                <a:spcPts val="0"/>
              </a:spcBef>
              <a:spcAft>
                <a:spcPts val="0"/>
              </a:spcAft>
              <a:buNone/>
            </a:pPr>
            <a:r>
              <a:rPr b="0" i="0" lang="fr" sz="1100">
                <a:solidFill>
                  <a:schemeClr val="dk1"/>
                </a:solidFill>
                <a:latin typeface="Poppins Medium"/>
                <a:ea typeface="Poppins Medium"/>
                <a:cs typeface="Poppins Medium"/>
                <a:sym typeface="Poppins Medium"/>
              </a:rPr>
              <a:t>Formation à la croisée de l'électronique et de la physique appliquée</a:t>
            </a:r>
            <a:r>
              <a:rPr b="0" i="0" lang="fr" sz="1100">
                <a:solidFill>
                  <a:schemeClr val="dk1"/>
                </a:solidFill>
                <a:latin typeface="Poppins"/>
                <a:ea typeface="Poppins"/>
                <a:cs typeface="Poppins"/>
                <a:sym typeface="Poppins"/>
              </a:rPr>
              <a:t>, quatre parcours de formation sont proposés pour obtenir ce diplôme d’ingénieur</a:t>
            </a:r>
            <a:endParaRPr sz="1100"/>
          </a:p>
        </p:txBody>
      </p:sp>
      <p:sp>
        <p:nvSpPr>
          <p:cNvPr id="279" name="Google Shape;279;p30"/>
          <p:cNvSpPr/>
          <p:nvPr/>
        </p:nvSpPr>
        <p:spPr>
          <a:xfrm>
            <a:off x="4199758" y="3125676"/>
            <a:ext cx="730363" cy="38246"/>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280" name="Google Shape;280;p30"/>
          <p:cNvSpPr txBox="1"/>
          <p:nvPr/>
        </p:nvSpPr>
        <p:spPr>
          <a:xfrm>
            <a:off x="2973430" y="4126426"/>
            <a:ext cx="3254291" cy="446276"/>
          </a:xfrm>
          <a:prstGeom prst="rect">
            <a:avLst/>
          </a:prstGeom>
          <a:noFill/>
          <a:ln>
            <a:noFill/>
          </a:ln>
        </p:spPr>
        <p:txBody>
          <a:bodyPr anchorCtr="0" anchor="t" bIns="34275" lIns="68575" spcFirstLastPara="1" rIns="68575" wrap="square" tIns="34275">
            <a:spAutoFit/>
          </a:bodyPr>
          <a:lstStyle/>
          <a:p>
            <a:pPr indent="0" lvl="0" marL="0" marR="0" rtl="0" algn="ctr">
              <a:lnSpc>
                <a:spcPct val="142857"/>
              </a:lnSpc>
              <a:spcBef>
                <a:spcPts val="0"/>
              </a:spcBef>
              <a:spcAft>
                <a:spcPts val="0"/>
              </a:spcAft>
              <a:buClr>
                <a:srgbClr val="0C0C0C"/>
              </a:buClr>
              <a:buSzPts val="1100"/>
              <a:buFont typeface="Poppins SemiBold"/>
              <a:buNone/>
            </a:pPr>
            <a:r>
              <a:rPr b="1" i="0" lang="fr" sz="1100">
                <a:solidFill>
                  <a:srgbClr val="0C0C0C"/>
                </a:solidFill>
                <a:latin typeface="Poppins SemiBold"/>
                <a:ea typeface="Poppins SemiBold"/>
                <a:cs typeface="Poppins SemiBold"/>
                <a:sym typeface="Poppins SemiBold"/>
              </a:rPr>
              <a:t>Statut étudiant et apprentissage</a:t>
            </a:r>
            <a:endParaRPr sz="1100"/>
          </a:p>
          <a:p>
            <a:pPr indent="0" lvl="0" marL="0" marR="0" rtl="0" algn="ctr">
              <a:lnSpc>
                <a:spcPct val="142857"/>
              </a:lnSpc>
              <a:spcBef>
                <a:spcPts val="0"/>
              </a:spcBef>
              <a:spcAft>
                <a:spcPts val="0"/>
              </a:spcAft>
              <a:buClr>
                <a:srgbClr val="0C0C0C"/>
              </a:buClr>
              <a:buSzPts val="1100"/>
              <a:buFont typeface="Poppins SemiBold"/>
              <a:buNone/>
            </a:pPr>
            <a:r>
              <a:rPr b="1" i="0" lang="fr" sz="1100">
                <a:solidFill>
                  <a:srgbClr val="0C0C0C"/>
                </a:solidFill>
                <a:latin typeface="Poppins SemiBold"/>
                <a:ea typeface="Poppins SemiBold"/>
                <a:cs typeface="Poppins SemiBold"/>
                <a:sym typeface="Poppins SemiBold"/>
              </a:rPr>
              <a:t>Formation continue et VAE</a:t>
            </a:r>
            <a:endParaRPr sz="1100"/>
          </a:p>
        </p:txBody>
      </p:sp>
      <p:sp>
        <p:nvSpPr>
          <p:cNvPr id="281" name="Google Shape;281;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En-tête accroche modifiable">
  <p:cSld name="3_En-tête accroche modifiable">
    <p:spTree>
      <p:nvGrpSpPr>
        <p:cNvPr id="282" name="Shape 282"/>
        <p:cNvGrpSpPr/>
        <p:nvPr/>
      </p:nvGrpSpPr>
      <p:grpSpPr>
        <a:xfrm>
          <a:off x="0" y="0"/>
          <a:ext cx="0" cy="0"/>
          <a:chOff x="0" y="0"/>
          <a:chExt cx="0" cy="0"/>
        </a:xfrm>
      </p:grpSpPr>
      <p:pic>
        <p:nvPicPr>
          <p:cNvPr id="283" name="Google Shape;283;p31"/>
          <p:cNvPicPr preferRelativeResize="0"/>
          <p:nvPr/>
        </p:nvPicPr>
        <p:blipFill rotWithShape="1">
          <a:blip r:embed="rId2">
            <a:alphaModFix/>
          </a:blip>
          <a:srcRect b="0" l="0" r="0" t="0"/>
          <a:stretch/>
        </p:blipFill>
        <p:spPr>
          <a:xfrm>
            <a:off x="-7061" y="-16131"/>
            <a:ext cx="9144000" cy="1179871"/>
          </a:xfrm>
          <a:prstGeom prst="rect">
            <a:avLst/>
          </a:prstGeom>
          <a:noFill/>
          <a:ln>
            <a:noFill/>
          </a:ln>
        </p:spPr>
      </p:pic>
      <p:grpSp>
        <p:nvGrpSpPr>
          <p:cNvPr id="284" name="Google Shape;284;p31"/>
          <p:cNvGrpSpPr/>
          <p:nvPr/>
        </p:nvGrpSpPr>
        <p:grpSpPr>
          <a:xfrm>
            <a:off x="3914503" y="-16131"/>
            <a:ext cx="1314995" cy="1232573"/>
            <a:chOff x="5219337" y="-12799"/>
            <a:chExt cx="1753326" cy="1643431"/>
          </a:xfrm>
        </p:grpSpPr>
        <p:sp>
          <p:nvSpPr>
            <p:cNvPr id="285" name="Google Shape;285;p31"/>
            <p:cNvSpPr/>
            <p:nvPr/>
          </p:nvSpPr>
          <p:spPr>
            <a:xfrm>
              <a:off x="5219337" y="-12799"/>
              <a:ext cx="1753326" cy="1623029"/>
            </a:xfrm>
            <a:prstGeom prst="rect">
              <a:avLst/>
            </a:prstGeom>
            <a:solidFill>
              <a:schemeClr val="lt1"/>
            </a:solidFill>
            <a:ln>
              <a:noFill/>
            </a:ln>
            <a:effectLst>
              <a:outerShdw blurRad="419100" sx="99000" rotWithShape="0" algn="ctr" dir="5400000" dist="63500" sy="99000">
                <a:srgbClr val="000000">
                  <a:alpha val="9803"/>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286" name="Google Shape;286;p31"/>
            <p:cNvPicPr preferRelativeResize="0"/>
            <p:nvPr/>
          </p:nvPicPr>
          <p:blipFill rotWithShape="1">
            <a:blip r:embed="rId3">
              <a:alphaModFix/>
            </a:blip>
            <a:srcRect b="0" l="0" r="0" t="0"/>
            <a:stretch/>
          </p:blipFill>
          <p:spPr>
            <a:xfrm>
              <a:off x="5401076" y="48579"/>
              <a:ext cx="1424685" cy="1582053"/>
            </a:xfrm>
            <a:prstGeom prst="rect">
              <a:avLst/>
            </a:prstGeom>
            <a:noFill/>
            <a:ln>
              <a:noFill/>
            </a:ln>
          </p:spPr>
        </p:pic>
      </p:grpSp>
      <p:pic>
        <p:nvPicPr>
          <p:cNvPr id="287" name="Google Shape;287;p31"/>
          <p:cNvPicPr preferRelativeResize="0"/>
          <p:nvPr/>
        </p:nvPicPr>
        <p:blipFill rotWithShape="1">
          <a:blip r:embed="rId4">
            <a:alphaModFix/>
          </a:blip>
          <a:srcRect b="0" l="0" r="0" t="0"/>
          <a:stretch/>
        </p:blipFill>
        <p:spPr>
          <a:xfrm rot="5034372">
            <a:off x="8200332" y="2810691"/>
            <a:ext cx="1276177" cy="1396760"/>
          </a:xfrm>
          <a:prstGeom prst="rect">
            <a:avLst/>
          </a:prstGeom>
          <a:noFill/>
          <a:ln>
            <a:noFill/>
          </a:ln>
        </p:spPr>
      </p:pic>
      <p:pic>
        <p:nvPicPr>
          <p:cNvPr id="288" name="Google Shape;288;p31"/>
          <p:cNvPicPr preferRelativeResize="0"/>
          <p:nvPr/>
        </p:nvPicPr>
        <p:blipFill rotWithShape="1">
          <a:blip r:embed="rId5">
            <a:alphaModFix/>
          </a:blip>
          <a:srcRect b="0" l="0" r="0" t="0"/>
          <a:stretch/>
        </p:blipFill>
        <p:spPr>
          <a:xfrm>
            <a:off x="-343857" y="760614"/>
            <a:ext cx="3219450" cy="3714750"/>
          </a:xfrm>
          <a:prstGeom prst="rect">
            <a:avLst/>
          </a:prstGeom>
          <a:noFill/>
          <a:ln>
            <a:noFill/>
          </a:ln>
        </p:spPr>
      </p:pic>
      <p:grpSp>
        <p:nvGrpSpPr>
          <p:cNvPr id="289" name="Google Shape;289;p31"/>
          <p:cNvGrpSpPr/>
          <p:nvPr/>
        </p:nvGrpSpPr>
        <p:grpSpPr>
          <a:xfrm>
            <a:off x="2641354" y="2054277"/>
            <a:ext cx="3847172" cy="948612"/>
            <a:chOff x="647248" y="3313553"/>
            <a:chExt cx="4136413" cy="1019928"/>
          </a:xfrm>
        </p:grpSpPr>
        <p:sp>
          <p:nvSpPr>
            <p:cNvPr id="290" name="Google Shape;290;p31"/>
            <p:cNvSpPr/>
            <p:nvPr/>
          </p:nvSpPr>
          <p:spPr>
            <a:xfrm>
              <a:off x="2489045" y="3341742"/>
              <a:ext cx="2294616" cy="52322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3000"/>
                <a:buFont typeface="Poppins SemiBold"/>
                <a:buNone/>
              </a:pPr>
              <a:r>
                <a:rPr b="1" i="0" lang="fr" sz="3000" cap="none">
                  <a:solidFill>
                    <a:schemeClr val="dk1"/>
                  </a:solidFill>
                  <a:latin typeface="Poppins SemiBold"/>
                  <a:ea typeface="Poppins SemiBold"/>
                  <a:cs typeface="Poppins SemiBold"/>
                  <a:sym typeface="Poppins SemiBold"/>
                </a:rPr>
                <a:t>INGÉNIEUR</a:t>
              </a:r>
              <a:endParaRPr b="1" i="0" sz="3000">
                <a:solidFill>
                  <a:schemeClr val="dk1"/>
                </a:solidFill>
                <a:latin typeface="Poppins SemiBold"/>
                <a:ea typeface="Poppins SemiBold"/>
                <a:cs typeface="Poppins SemiBold"/>
                <a:sym typeface="Poppins SemiBold"/>
              </a:endParaRPr>
            </a:p>
          </p:txBody>
        </p:sp>
        <p:sp>
          <p:nvSpPr>
            <p:cNvPr id="291" name="Google Shape;291;p31"/>
            <p:cNvSpPr/>
            <p:nvPr/>
          </p:nvSpPr>
          <p:spPr>
            <a:xfrm>
              <a:off x="716533" y="3810261"/>
              <a:ext cx="3992560" cy="52322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C0C0C"/>
                </a:buClr>
                <a:buSzPts val="1800"/>
                <a:buFont typeface="Poppins"/>
                <a:buNone/>
              </a:pPr>
              <a:r>
                <a:rPr b="0" i="0" lang="fr" sz="1800">
                  <a:solidFill>
                    <a:srgbClr val="0C0C0C"/>
                  </a:solidFill>
                  <a:latin typeface="Poppins"/>
                  <a:ea typeface="Poppins"/>
                  <a:cs typeface="Poppins"/>
                  <a:sym typeface="Poppins"/>
                </a:rPr>
                <a:t>en</a:t>
              </a:r>
              <a:r>
                <a:rPr b="0" i="0" lang="fr" sz="2400">
                  <a:solidFill>
                    <a:srgbClr val="36C1C2"/>
                  </a:solidFill>
                  <a:latin typeface="Poppins"/>
                  <a:ea typeface="Poppins"/>
                  <a:cs typeface="Poppins"/>
                  <a:sym typeface="Poppins"/>
                </a:rPr>
                <a:t> </a:t>
              </a:r>
              <a:r>
                <a:rPr b="0" i="0" lang="fr" sz="2700">
                  <a:solidFill>
                    <a:srgbClr val="BAA647"/>
                  </a:solidFill>
                  <a:latin typeface="Poppins"/>
                  <a:ea typeface="Poppins"/>
                  <a:cs typeface="Poppins"/>
                  <a:sym typeface="Poppins"/>
                </a:rPr>
                <a:t>Matériaux-chimie</a:t>
              </a:r>
              <a:endParaRPr b="0" i="0" sz="2400">
                <a:solidFill>
                  <a:srgbClr val="BAA647"/>
                </a:solidFill>
                <a:latin typeface="Poppins"/>
                <a:ea typeface="Poppins"/>
                <a:cs typeface="Poppins"/>
                <a:sym typeface="Poppins"/>
              </a:endParaRPr>
            </a:p>
          </p:txBody>
        </p:sp>
        <p:sp>
          <p:nvSpPr>
            <p:cNvPr id="292" name="Google Shape;292;p31"/>
            <p:cNvSpPr/>
            <p:nvPr/>
          </p:nvSpPr>
          <p:spPr>
            <a:xfrm>
              <a:off x="647248" y="3313553"/>
              <a:ext cx="1908831" cy="57083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chemeClr val="dk1"/>
                </a:buClr>
                <a:buSzPts val="3000"/>
                <a:buFont typeface="Poppins"/>
                <a:buNone/>
              </a:pPr>
              <a:r>
                <a:rPr b="0" i="0" lang="fr" sz="3000">
                  <a:solidFill>
                    <a:schemeClr val="dk1"/>
                  </a:solidFill>
                  <a:latin typeface="Poppins"/>
                  <a:ea typeface="Poppins"/>
                  <a:cs typeface="Poppins"/>
                  <a:sym typeface="Poppins"/>
                </a:rPr>
                <a:t>Devenez</a:t>
              </a:r>
              <a:endParaRPr sz="1100"/>
            </a:p>
          </p:txBody>
        </p:sp>
      </p:grpSp>
      <p:sp>
        <p:nvSpPr>
          <p:cNvPr id="293" name="Google Shape;293;p31"/>
          <p:cNvSpPr txBox="1"/>
          <p:nvPr/>
        </p:nvSpPr>
        <p:spPr>
          <a:xfrm>
            <a:off x="3119210" y="3431101"/>
            <a:ext cx="2905580" cy="638636"/>
          </a:xfrm>
          <a:prstGeom prst="rect">
            <a:avLst/>
          </a:prstGeom>
          <a:noFill/>
          <a:ln>
            <a:noFill/>
          </a:ln>
        </p:spPr>
        <p:txBody>
          <a:bodyPr anchorCtr="0" anchor="t" bIns="34275" lIns="68575" spcFirstLastPara="1" rIns="68575" wrap="square" tIns="34275">
            <a:spAutoFit/>
          </a:bodyPr>
          <a:lstStyle/>
          <a:p>
            <a:pPr indent="0" lvl="0" marL="0" marR="0" rtl="0" algn="ctr">
              <a:lnSpc>
                <a:spcPct val="142857"/>
              </a:lnSpc>
              <a:spcBef>
                <a:spcPts val="0"/>
              </a:spcBef>
              <a:spcAft>
                <a:spcPts val="0"/>
              </a:spcAft>
              <a:buNone/>
            </a:pPr>
            <a:r>
              <a:rPr b="0" i="0" lang="fr" sz="1100">
                <a:solidFill>
                  <a:schemeClr val="dk1"/>
                </a:solidFill>
                <a:latin typeface="Poppins"/>
                <a:ea typeface="Poppins"/>
                <a:cs typeface="Poppins"/>
                <a:sym typeface="Poppins"/>
              </a:rPr>
              <a:t>Conception, synthèse et caractérisation de matériaux innovants ou composés organiques complexes</a:t>
            </a:r>
            <a:endParaRPr sz="1100"/>
          </a:p>
        </p:txBody>
      </p:sp>
      <p:sp>
        <p:nvSpPr>
          <p:cNvPr id="294" name="Google Shape;294;p31"/>
          <p:cNvSpPr/>
          <p:nvPr/>
        </p:nvSpPr>
        <p:spPr>
          <a:xfrm>
            <a:off x="4199758" y="3178744"/>
            <a:ext cx="730363" cy="38246"/>
          </a:xfrm>
          <a:prstGeom prst="rect">
            <a:avLst/>
          </a:prstGeom>
          <a:solidFill>
            <a:srgbClr val="BAA64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295" name="Google Shape;295;p31"/>
          <p:cNvSpPr txBox="1"/>
          <p:nvPr/>
        </p:nvSpPr>
        <p:spPr>
          <a:xfrm>
            <a:off x="2973430" y="4126426"/>
            <a:ext cx="3254291" cy="446276"/>
          </a:xfrm>
          <a:prstGeom prst="rect">
            <a:avLst/>
          </a:prstGeom>
          <a:noFill/>
          <a:ln>
            <a:noFill/>
          </a:ln>
        </p:spPr>
        <p:txBody>
          <a:bodyPr anchorCtr="0" anchor="t" bIns="34275" lIns="68575" spcFirstLastPara="1" rIns="68575" wrap="square" tIns="34275">
            <a:spAutoFit/>
          </a:bodyPr>
          <a:lstStyle/>
          <a:p>
            <a:pPr indent="0" lvl="0" marL="0" marR="0" rtl="0" algn="ctr">
              <a:lnSpc>
                <a:spcPct val="142857"/>
              </a:lnSpc>
              <a:spcBef>
                <a:spcPts val="0"/>
              </a:spcBef>
              <a:spcAft>
                <a:spcPts val="0"/>
              </a:spcAft>
              <a:buClr>
                <a:srgbClr val="0C0C0C"/>
              </a:buClr>
              <a:buSzPts val="1100"/>
              <a:buFont typeface="Poppins SemiBold"/>
              <a:buNone/>
            </a:pPr>
            <a:r>
              <a:rPr b="1" i="0" lang="fr" sz="1100">
                <a:solidFill>
                  <a:srgbClr val="0C0C0C"/>
                </a:solidFill>
                <a:latin typeface="Poppins SemiBold"/>
                <a:ea typeface="Poppins SemiBold"/>
                <a:cs typeface="Poppins SemiBold"/>
                <a:sym typeface="Poppins SemiBold"/>
              </a:rPr>
              <a:t>Statut étudiant et apprentissage</a:t>
            </a:r>
            <a:endParaRPr sz="1100"/>
          </a:p>
          <a:p>
            <a:pPr indent="0" lvl="0" marL="0" marR="0" rtl="0" algn="ctr">
              <a:lnSpc>
                <a:spcPct val="142857"/>
              </a:lnSpc>
              <a:spcBef>
                <a:spcPts val="0"/>
              </a:spcBef>
              <a:spcAft>
                <a:spcPts val="0"/>
              </a:spcAft>
              <a:buClr>
                <a:srgbClr val="0C0C0C"/>
              </a:buClr>
              <a:buSzPts val="1100"/>
              <a:buFont typeface="Poppins SemiBold"/>
              <a:buNone/>
            </a:pPr>
            <a:r>
              <a:rPr b="1" i="0" lang="fr" sz="1100">
                <a:solidFill>
                  <a:srgbClr val="0C0C0C"/>
                </a:solidFill>
                <a:latin typeface="Poppins SemiBold"/>
                <a:ea typeface="Poppins SemiBold"/>
                <a:cs typeface="Poppins SemiBold"/>
                <a:sym typeface="Poppins SemiBold"/>
              </a:rPr>
              <a:t>Formation continue et VAE</a:t>
            </a:r>
            <a:endParaRPr sz="1100"/>
          </a:p>
        </p:txBody>
      </p:sp>
      <p:sp>
        <p:nvSpPr>
          <p:cNvPr id="296" name="Google Shape;296;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En-tête accroche modifiable">
  <p:cSld name="4_En-tête accroche modifiable">
    <p:spTree>
      <p:nvGrpSpPr>
        <p:cNvPr id="297" name="Shape 297"/>
        <p:cNvGrpSpPr/>
        <p:nvPr/>
      </p:nvGrpSpPr>
      <p:grpSpPr>
        <a:xfrm>
          <a:off x="0" y="0"/>
          <a:ext cx="0" cy="0"/>
          <a:chOff x="0" y="0"/>
          <a:chExt cx="0" cy="0"/>
        </a:xfrm>
      </p:grpSpPr>
      <p:pic>
        <p:nvPicPr>
          <p:cNvPr id="298" name="Google Shape;298;p32"/>
          <p:cNvPicPr preferRelativeResize="0"/>
          <p:nvPr/>
        </p:nvPicPr>
        <p:blipFill rotWithShape="1">
          <a:blip r:embed="rId2">
            <a:alphaModFix/>
          </a:blip>
          <a:srcRect b="0" l="0" r="0" t="0"/>
          <a:stretch/>
        </p:blipFill>
        <p:spPr>
          <a:xfrm>
            <a:off x="-7061" y="-16132"/>
            <a:ext cx="9144000" cy="1179871"/>
          </a:xfrm>
          <a:prstGeom prst="rect">
            <a:avLst/>
          </a:prstGeom>
          <a:noFill/>
          <a:ln>
            <a:noFill/>
          </a:ln>
        </p:spPr>
      </p:pic>
      <p:grpSp>
        <p:nvGrpSpPr>
          <p:cNvPr id="299" name="Google Shape;299;p32"/>
          <p:cNvGrpSpPr/>
          <p:nvPr/>
        </p:nvGrpSpPr>
        <p:grpSpPr>
          <a:xfrm>
            <a:off x="3914503" y="-16131"/>
            <a:ext cx="1314995" cy="1232573"/>
            <a:chOff x="5219337" y="-12799"/>
            <a:chExt cx="1753326" cy="1643431"/>
          </a:xfrm>
        </p:grpSpPr>
        <p:sp>
          <p:nvSpPr>
            <p:cNvPr id="300" name="Google Shape;300;p32"/>
            <p:cNvSpPr/>
            <p:nvPr/>
          </p:nvSpPr>
          <p:spPr>
            <a:xfrm>
              <a:off x="5219337" y="-12799"/>
              <a:ext cx="1753326" cy="1623029"/>
            </a:xfrm>
            <a:prstGeom prst="rect">
              <a:avLst/>
            </a:prstGeom>
            <a:solidFill>
              <a:schemeClr val="lt1"/>
            </a:solidFill>
            <a:ln>
              <a:noFill/>
            </a:ln>
            <a:effectLst>
              <a:outerShdw blurRad="419100" sx="99000" rotWithShape="0" algn="ctr" dir="5400000" dist="63500" sy="99000">
                <a:srgbClr val="000000">
                  <a:alpha val="9803"/>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301" name="Google Shape;301;p32"/>
            <p:cNvPicPr preferRelativeResize="0"/>
            <p:nvPr/>
          </p:nvPicPr>
          <p:blipFill rotWithShape="1">
            <a:blip r:embed="rId3">
              <a:alphaModFix/>
            </a:blip>
            <a:srcRect b="0" l="0" r="0" t="0"/>
            <a:stretch/>
          </p:blipFill>
          <p:spPr>
            <a:xfrm>
              <a:off x="5401076" y="48579"/>
              <a:ext cx="1424685" cy="1582053"/>
            </a:xfrm>
            <a:prstGeom prst="rect">
              <a:avLst/>
            </a:prstGeom>
            <a:noFill/>
            <a:ln>
              <a:noFill/>
            </a:ln>
          </p:spPr>
        </p:pic>
      </p:grpSp>
      <p:pic>
        <p:nvPicPr>
          <p:cNvPr id="302" name="Google Shape;302;p32"/>
          <p:cNvPicPr preferRelativeResize="0"/>
          <p:nvPr/>
        </p:nvPicPr>
        <p:blipFill rotWithShape="1">
          <a:blip r:embed="rId4">
            <a:alphaModFix/>
          </a:blip>
          <a:srcRect b="0" l="0" r="0" t="0"/>
          <a:stretch/>
        </p:blipFill>
        <p:spPr>
          <a:xfrm>
            <a:off x="-425273" y="1579331"/>
            <a:ext cx="2914650" cy="2695575"/>
          </a:xfrm>
          <a:prstGeom prst="rect">
            <a:avLst/>
          </a:prstGeom>
          <a:noFill/>
          <a:ln>
            <a:noFill/>
          </a:ln>
        </p:spPr>
      </p:pic>
      <p:pic>
        <p:nvPicPr>
          <p:cNvPr id="303" name="Google Shape;303;p32"/>
          <p:cNvPicPr preferRelativeResize="0"/>
          <p:nvPr/>
        </p:nvPicPr>
        <p:blipFill rotWithShape="1">
          <a:blip r:embed="rId5">
            <a:alphaModFix/>
          </a:blip>
          <a:srcRect b="0" l="0" r="0" t="0"/>
          <a:stretch/>
        </p:blipFill>
        <p:spPr>
          <a:xfrm>
            <a:off x="8129552" y="2927119"/>
            <a:ext cx="1466850" cy="1228725"/>
          </a:xfrm>
          <a:prstGeom prst="rect">
            <a:avLst/>
          </a:prstGeom>
          <a:noFill/>
          <a:ln>
            <a:noFill/>
          </a:ln>
        </p:spPr>
      </p:pic>
      <p:grpSp>
        <p:nvGrpSpPr>
          <p:cNvPr id="304" name="Google Shape;304;p32"/>
          <p:cNvGrpSpPr/>
          <p:nvPr/>
        </p:nvGrpSpPr>
        <p:grpSpPr>
          <a:xfrm>
            <a:off x="2641354" y="2149527"/>
            <a:ext cx="3847172" cy="948612"/>
            <a:chOff x="647248" y="3313553"/>
            <a:chExt cx="4136413" cy="1019928"/>
          </a:xfrm>
        </p:grpSpPr>
        <p:sp>
          <p:nvSpPr>
            <p:cNvPr id="305" name="Google Shape;305;p32"/>
            <p:cNvSpPr/>
            <p:nvPr/>
          </p:nvSpPr>
          <p:spPr>
            <a:xfrm>
              <a:off x="2489045" y="3341742"/>
              <a:ext cx="2294616" cy="52322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3000"/>
                <a:buFont typeface="Poppins SemiBold"/>
                <a:buNone/>
              </a:pPr>
              <a:r>
                <a:rPr b="1" i="0" lang="fr" sz="3000" cap="none">
                  <a:solidFill>
                    <a:schemeClr val="dk1"/>
                  </a:solidFill>
                  <a:latin typeface="Poppins SemiBold"/>
                  <a:ea typeface="Poppins SemiBold"/>
                  <a:cs typeface="Poppins SemiBold"/>
                  <a:sym typeface="Poppins SemiBold"/>
                </a:rPr>
                <a:t>INGÉNIEUR</a:t>
              </a:r>
              <a:endParaRPr b="1" i="0" sz="3000">
                <a:solidFill>
                  <a:schemeClr val="dk1"/>
                </a:solidFill>
                <a:latin typeface="Poppins SemiBold"/>
                <a:ea typeface="Poppins SemiBold"/>
                <a:cs typeface="Poppins SemiBold"/>
                <a:sym typeface="Poppins SemiBold"/>
              </a:endParaRPr>
            </a:p>
          </p:txBody>
        </p:sp>
        <p:sp>
          <p:nvSpPr>
            <p:cNvPr id="306" name="Google Shape;306;p32"/>
            <p:cNvSpPr/>
            <p:nvPr/>
          </p:nvSpPr>
          <p:spPr>
            <a:xfrm>
              <a:off x="1152245" y="3810261"/>
              <a:ext cx="3556848" cy="52322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C0C0C"/>
                </a:buClr>
                <a:buSzPts val="1800"/>
                <a:buFont typeface="Poppins"/>
                <a:buNone/>
              </a:pPr>
              <a:r>
                <a:rPr b="0" i="0" lang="fr" sz="1800">
                  <a:solidFill>
                    <a:srgbClr val="0C0C0C"/>
                  </a:solidFill>
                  <a:latin typeface="Poppins"/>
                  <a:ea typeface="Poppins"/>
                  <a:cs typeface="Poppins"/>
                  <a:sym typeface="Poppins"/>
                </a:rPr>
                <a:t>en</a:t>
              </a:r>
              <a:r>
                <a:rPr b="0" i="0" lang="fr" sz="2400">
                  <a:solidFill>
                    <a:srgbClr val="36C1C2"/>
                  </a:solidFill>
                  <a:latin typeface="Poppins"/>
                  <a:ea typeface="Poppins"/>
                  <a:cs typeface="Poppins"/>
                  <a:sym typeface="Poppins"/>
                </a:rPr>
                <a:t> </a:t>
              </a:r>
              <a:r>
                <a:rPr b="0" i="0" lang="fr" sz="2700">
                  <a:solidFill>
                    <a:srgbClr val="DC943B"/>
                  </a:solidFill>
                  <a:latin typeface="Poppins"/>
                  <a:ea typeface="Poppins"/>
                  <a:cs typeface="Poppins"/>
                  <a:sym typeface="Poppins"/>
                </a:rPr>
                <a:t>Génie industriel</a:t>
              </a:r>
              <a:endParaRPr b="0" i="0" sz="2400">
                <a:solidFill>
                  <a:srgbClr val="DC943B"/>
                </a:solidFill>
                <a:latin typeface="Poppins"/>
                <a:ea typeface="Poppins"/>
                <a:cs typeface="Poppins"/>
                <a:sym typeface="Poppins"/>
              </a:endParaRPr>
            </a:p>
          </p:txBody>
        </p:sp>
        <p:sp>
          <p:nvSpPr>
            <p:cNvPr id="307" name="Google Shape;307;p32"/>
            <p:cNvSpPr/>
            <p:nvPr/>
          </p:nvSpPr>
          <p:spPr>
            <a:xfrm>
              <a:off x="647248" y="3313553"/>
              <a:ext cx="1908831" cy="57083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chemeClr val="dk1"/>
                </a:buClr>
                <a:buSzPts val="3000"/>
                <a:buFont typeface="Poppins"/>
                <a:buNone/>
              </a:pPr>
              <a:r>
                <a:rPr b="0" i="0" lang="fr" sz="3000">
                  <a:solidFill>
                    <a:schemeClr val="dk1"/>
                  </a:solidFill>
                  <a:latin typeface="Poppins"/>
                  <a:ea typeface="Poppins"/>
                  <a:cs typeface="Poppins"/>
                  <a:sym typeface="Poppins"/>
                </a:rPr>
                <a:t>Devenez</a:t>
              </a:r>
              <a:endParaRPr sz="1100"/>
            </a:p>
          </p:txBody>
        </p:sp>
      </p:grpSp>
      <p:sp>
        <p:nvSpPr>
          <p:cNvPr id="308" name="Google Shape;308;p32"/>
          <p:cNvSpPr txBox="1"/>
          <p:nvPr/>
        </p:nvSpPr>
        <p:spPr>
          <a:xfrm>
            <a:off x="2755177" y="3526351"/>
            <a:ext cx="3816034" cy="253915"/>
          </a:xfrm>
          <a:prstGeom prst="rect">
            <a:avLst/>
          </a:prstGeom>
          <a:noFill/>
          <a:ln>
            <a:noFill/>
          </a:ln>
        </p:spPr>
        <p:txBody>
          <a:bodyPr anchorCtr="0" anchor="t" bIns="34275" lIns="68575" spcFirstLastPara="1" rIns="68575" wrap="square" tIns="34275">
            <a:spAutoFit/>
          </a:bodyPr>
          <a:lstStyle/>
          <a:p>
            <a:pPr indent="0" lvl="0" marL="0" marR="0" rtl="0" algn="ctr">
              <a:lnSpc>
                <a:spcPct val="142857"/>
              </a:lnSpc>
              <a:spcBef>
                <a:spcPts val="0"/>
              </a:spcBef>
              <a:spcAft>
                <a:spcPts val="0"/>
              </a:spcAft>
              <a:buNone/>
            </a:pPr>
            <a:r>
              <a:rPr b="1" i="0" lang="fr" sz="1100">
                <a:solidFill>
                  <a:schemeClr val="dk1"/>
                </a:solidFill>
                <a:latin typeface="Poppins SemiBold"/>
                <a:ea typeface="Poppins SemiBold"/>
                <a:cs typeface="Poppins SemiBold"/>
                <a:sym typeface="Poppins SemiBold"/>
              </a:rPr>
              <a:t>Formation continue</a:t>
            </a:r>
            <a:endParaRPr sz="1100"/>
          </a:p>
        </p:txBody>
      </p:sp>
      <p:sp>
        <p:nvSpPr>
          <p:cNvPr id="309" name="Google Shape;309;p32"/>
          <p:cNvSpPr/>
          <p:nvPr/>
        </p:nvSpPr>
        <p:spPr>
          <a:xfrm>
            <a:off x="4199758" y="3273994"/>
            <a:ext cx="730363" cy="38246"/>
          </a:xfrm>
          <a:prstGeom prst="rect">
            <a:avLst/>
          </a:prstGeom>
          <a:solidFill>
            <a:srgbClr val="DC943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310" name="Google Shape;310;p32"/>
          <p:cNvPicPr preferRelativeResize="0"/>
          <p:nvPr/>
        </p:nvPicPr>
        <p:blipFill rotWithShape="1">
          <a:blip r:embed="rId6">
            <a:alphaModFix/>
          </a:blip>
          <a:srcRect b="0" l="0" r="0" t="0"/>
          <a:stretch/>
        </p:blipFill>
        <p:spPr>
          <a:xfrm>
            <a:off x="4264016" y="4260389"/>
            <a:ext cx="855304" cy="712754"/>
          </a:xfrm>
          <a:prstGeom prst="rect">
            <a:avLst/>
          </a:prstGeom>
          <a:noFill/>
          <a:ln>
            <a:noFill/>
          </a:ln>
        </p:spPr>
      </p:pic>
      <p:sp>
        <p:nvSpPr>
          <p:cNvPr id="311" name="Google Shape;311;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pport de cours">
  <p:cSld name="Support de cours">
    <p:spTree>
      <p:nvGrpSpPr>
        <p:cNvPr id="312" name="Shape 312"/>
        <p:cNvGrpSpPr/>
        <p:nvPr/>
      </p:nvGrpSpPr>
      <p:grpSpPr>
        <a:xfrm>
          <a:off x="0" y="0"/>
          <a:ext cx="0" cy="0"/>
          <a:chOff x="0" y="0"/>
          <a:chExt cx="0" cy="0"/>
        </a:xfrm>
      </p:grpSpPr>
      <p:pic>
        <p:nvPicPr>
          <p:cNvPr id="313" name="Google Shape;313;p33"/>
          <p:cNvPicPr preferRelativeResize="0"/>
          <p:nvPr/>
        </p:nvPicPr>
        <p:blipFill rotWithShape="1">
          <a:blip r:embed="rId2">
            <a:alphaModFix/>
          </a:blip>
          <a:srcRect b="0" l="0" r="0" t="0"/>
          <a:stretch/>
        </p:blipFill>
        <p:spPr>
          <a:xfrm>
            <a:off x="8329352" y="93518"/>
            <a:ext cx="711497" cy="790088"/>
          </a:xfrm>
          <a:prstGeom prst="rect">
            <a:avLst/>
          </a:prstGeom>
          <a:noFill/>
          <a:ln>
            <a:noFill/>
          </a:ln>
        </p:spPr>
      </p:pic>
      <p:sp>
        <p:nvSpPr>
          <p:cNvPr id="314" name="Google Shape;314;p33"/>
          <p:cNvSpPr/>
          <p:nvPr/>
        </p:nvSpPr>
        <p:spPr>
          <a:xfrm>
            <a:off x="700871" y="766821"/>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315" name="Google Shape;315;p33"/>
          <p:cNvSpPr txBox="1"/>
          <p:nvPr>
            <p:ph idx="1" type="body"/>
          </p:nvPr>
        </p:nvSpPr>
        <p:spPr>
          <a:xfrm>
            <a:off x="615085" y="377692"/>
            <a:ext cx="4003884" cy="29051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700"/>
              <a:buFont typeface="Arial"/>
              <a:buNone/>
              <a:defRPr b="1" i="0" sz="1700" u="none" cap="none" strike="noStrike">
                <a:solidFill>
                  <a:schemeClr val="dk1"/>
                </a:solidFill>
                <a:latin typeface="Poppins SemiBold"/>
                <a:ea typeface="Poppins SemiBold"/>
                <a:cs typeface="Poppins SemiBold"/>
                <a:sym typeface="Poppins SemiBold"/>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316" name="Google Shape;316;p33"/>
          <p:cNvSpPr/>
          <p:nvPr/>
        </p:nvSpPr>
        <p:spPr>
          <a:xfrm>
            <a:off x="4166020" y="1079527"/>
            <a:ext cx="34289" cy="3315205"/>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317" name="Google Shape;317;p33"/>
          <p:cNvSpPr txBox="1"/>
          <p:nvPr>
            <p:ph idx="2" type="body"/>
          </p:nvPr>
        </p:nvSpPr>
        <p:spPr>
          <a:xfrm>
            <a:off x="700871" y="1079527"/>
            <a:ext cx="3142799" cy="3141599"/>
          </a:xfrm>
          <a:prstGeom prst="rect">
            <a:avLst/>
          </a:prstGeom>
          <a:noFill/>
          <a:ln>
            <a:noFill/>
          </a:ln>
        </p:spPr>
        <p:txBody>
          <a:bodyPr anchorCtr="0" anchor="t" bIns="34275" lIns="68575" spcFirstLastPara="1" rIns="68575" wrap="square" tIns="34275">
            <a:noAutofit/>
          </a:bodyPr>
          <a:lstStyle>
            <a:lvl1pPr indent="-228600" lvl="0" marL="457200" marR="0" rtl="0" algn="just">
              <a:lnSpc>
                <a:spcPct val="123076"/>
              </a:lnSpc>
              <a:spcBef>
                <a:spcPts val="800"/>
              </a:spcBef>
              <a:spcAft>
                <a:spcPts val="0"/>
              </a:spcAft>
              <a:buClr>
                <a:schemeClr val="dk1"/>
              </a:buClr>
              <a:buSzPts val="1000"/>
              <a:buFont typeface="Arial"/>
              <a:buNone/>
              <a:defRPr b="0" i="0" sz="10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318" name="Google Shape;318;p33"/>
          <p:cNvSpPr txBox="1"/>
          <p:nvPr>
            <p:ph idx="3" type="body"/>
          </p:nvPr>
        </p:nvSpPr>
        <p:spPr>
          <a:xfrm>
            <a:off x="4618969" y="1079527"/>
            <a:ext cx="3142799" cy="3141599"/>
          </a:xfrm>
          <a:prstGeom prst="rect">
            <a:avLst/>
          </a:prstGeom>
          <a:noFill/>
          <a:ln>
            <a:noFill/>
          </a:ln>
        </p:spPr>
        <p:txBody>
          <a:bodyPr anchorCtr="0" anchor="t" bIns="34275" lIns="68575" spcFirstLastPara="1" rIns="68575" wrap="square" tIns="34275">
            <a:noAutofit/>
          </a:bodyPr>
          <a:lstStyle>
            <a:lvl1pPr indent="-228600" lvl="0" marL="457200" marR="0" rtl="0" algn="just">
              <a:lnSpc>
                <a:spcPct val="133333"/>
              </a:lnSpc>
              <a:spcBef>
                <a:spcPts val="800"/>
              </a:spcBef>
              <a:spcAft>
                <a:spcPts val="0"/>
              </a:spcAft>
              <a:buClr>
                <a:schemeClr val="dk1"/>
              </a:buClr>
              <a:buSzPts val="900"/>
              <a:buFont typeface="Arial"/>
              <a:buNone/>
              <a:defRPr b="0" i="0" sz="9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319" name="Google Shape;319;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latin typeface="Poppins SemiBold"/>
                <a:ea typeface="Poppins SemiBold"/>
                <a:cs typeface="Poppins SemiBold"/>
                <a:sym typeface="Poppins SemiBold"/>
              </a:defRPr>
            </a:lvl1pPr>
            <a:lvl2pPr lvl="1">
              <a:buNone/>
              <a:defRPr>
                <a:solidFill>
                  <a:schemeClr val="dk1"/>
                </a:solidFill>
                <a:latin typeface="Poppins SemiBold"/>
                <a:ea typeface="Poppins SemiBold"/>
                <a:cs typeface="Poppins SemiBold"/>
                <a:sym typeface="Poppins SemiBold"/>
              </a:defRPr>
            </a:lvl2pPr>
            <a:lvl3pPr lvl="2">
              <a:buNone/>
              <a:defRPr>
                <a:solidFill>
                  <a:schemeClr val="dk1"/>
                </a:solidFill>
                <a:latin typeface="Poppins SemiBold"/>
                <a:ea typeface="Poppins SemiBold"/>
                <a:cs typeface="Poppins SemiBold"/>
                <a:sym typeface="Poppins SemiBold"/>
              </a:defRPr>
            </a:lvl3pPr>
            <a:lvl4pPr lvl="3">
              <a:buNone/>
              <a:defRPr>
                <a:solidFill>
                  <a:schemeClr val="dk1"/>
                </a:solidFill>
                <a:latin typeface="Poppins SemiBold"/>
                <a:ea typeface="Poppins SemiBold"/>
                <a:cs typeface="Poppins SemiBold"/>
                <a:sym typeface="Poppins SemiBold"/>
              </a:defRPr>
            </a:lvl4pPr>
            <a:lvl5pPr lvl="4">
              <a:buNone/>
              <a:defRPr>
                <a:solidFill>
                  <a:schemeClr val="dk1"/>
                </a:solidFill>
                <a:latin typeface="Poppins SemiBold"/>
                <a:ea typeface="Poppins SemiBold"/>
                <a:cs typeface="Poppins SemiBold"/>
                <a:sym typeface="Poppins SemiBold"/>
              </a:defRPr>
            </a:lvl5pPr>
            <a:lvl6pPr lvl="5">
              <a:buNone/>
              <a:defRPr>
                <a:solidFill>
                  <a:schemeClr val="dk1"/>
                </a:solidFill>
                <a:latin typeface="Poppins SemiBold"/>
                <a:ea typeface="Poppins SemiBold"/>
                <a:cs typeface="Poppins SemiBold"/>
                <a:sym typeface="Poppins SemiBold"/>
              </a:defRPr>
            </a:lvl6pPr>
            <a:lvl7pPr lvl="6">
              <a:buNone/>
              <a:defRPr>
                <a:solidFill>
                  <a:schemeClr val="dk1"/>
                </a:solidFill>
                <a:latin typeface="Poppins SemiBold"/>
                <a:ea typeface="Poppins SemiBold"/>
                <a:cs typeface="Poppins SemiBold"/>
                <a:sym typeface="Poppins SemiBold"/>
              </a:defRPr>
            </a:lvl7pPr>
            <a:lvl8pPr lvl="7">
              <a:buNone/>
              <a:defRPr>
                <a:solidFill>
                  <a:schemeClr val="dk1"/>
                </a:solidFill>
                <a:latin typeface="Poppins SemiBold"/>
                <a:ea typeface="Poppins SemiBold"/>
                <a:cs typeface="Poppins SemiBold"/>
                <a:sym typeface="Poppins SemiBold"/>
              </a:defRPr>
            </a:lvl8pPr>
            <a:lvl9pPr lvl="8">
              <a:buNone/>
              <a:defRPr>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texte 1">
  <p:cSld name="Photo / texte 1">
    <p:spTree>
      <p:nvGrpSpPr>
        <p:cNvPr id="320" name="Shape 320"/>
        <p:cNvGrpSpPr/>
        <p:nvPr/>
      </p:nvGrpSpPr>
      <p:grpSpPr>
        <a:xfrm>
          <a:off x="0" y="0"/>
          <a:ext cx="0" cy="0"/>
          <a:chOff x="0" y="0"/>
          <a:chExt cx="0" cy="0"/>
        </a:xfrm>
      </p:grpSpPr>
      <p:sp>
        <p:nvSpPr>
          <p:cNvPr id="321" name="Google Shape;321;p34"/>
          <p:cNvSpPr/>
          <p:nvPr/>
        </p:nvSpPr>
        <p:spPr>
          <a:xfrm>
            <a:off x="0" y="0"/>
            <a:ext cx="4921319" cy="5064369"/>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322" name="Google Shape;322;p34"/>
          <p:cNvPicPr preferRelativeResize="0"/>
          <p:nvPr/>
        </p:nvPicPr>
        <p:blipFill rotWithShape="1">
          <a:blip r:embed="rId2">
            <a:alphaModFix/>
          </a:blip>
          <a:srcRect b="0" l="0" r="0" t="0"/>
          <a:stretch/>
        </p:blipFill>
        <p:spPr>
          <a:xfrm>
            <a:off x="8329352" y="93518"/>
            <a:ext cx="711497" cy="790088"/>
          </a:xfrm>
          <a:prstGeom prst="rect">
            <a:avLst/>
          </a:prstGeom>
          <a:noFill/>
          <a:ln>
            <a:noFill/>
          </a:ln>
        </p:spPr>
      </p:pic>
      <p:sp>
        <p:nvSpPr>
          <p:cNvPr id="323" name="Google Shape;323;p34"/>
          <p:cNvSpPr/>
          <p:nvPr/>
        </p:nvSpPr>
        <p:spPr>
          <a:xfrm>
            <a:off x="700871" y="766821"/>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324" name="Google Shape;324;p34"/>
          <p:cNvSpPr txBox="1"/>
          <p:nvPr>
            <p:ph idx="1" type="body"/>
          </p:nvPr>
        </p:nvSpPr>
        <p:spPr>
          <a:xfrm>
            <a:off x="615084" y="377692"/>
            <a:ext cx="3707051" cy="29051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700"/>
              <a:buFont typeface="Arial"/>
              <a:buNone/>
              <a:defRPr b="1" i="0" sz="1700" u="none" cap="none" strike="noStrike">
                <a:solidFill>
                  <a:schemeClr val="dk1"/>
                </a:solidFill>
                <a:latin typeface="Poppins SemiBold"/>
                <a:ea typeface="Poppins SemiBold"/>
                <a:cs typeface="Poppins SemiBold"/>
                <a:sym typeface="Poppins SemiBold"/>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325" name="Google Shape;325;p34"/>
          <p:cNvSpPr txBox="1"/>
          <p:nvPr>
            <p:ph idx="2" type="body"/>
          </p:nvPr>
        </p:nvSpPr>
        <p:spPr>
          <a:xfrm>
            <a:off x="5453625" y="1244332"/>
            <a:ext cx="3142799" cy="3295440"/>
          </a:xfrm>
          <a:prstGeom prst="rect">
            <a:avLst/>
          </a:prstGeom>
          <a:noFill/>
          <a:ln>
            <a:noFill/>
          </a:ln>
        </p:spPr>
        <p:txBody>
          <a:bodyPr anchorCtr="0" anchor="t" bIns="34275" lIns="68575" spcFirstLastPara="1" rIns="68575" wrap="square" tIns="34275">
            <a:noAutofit/>
          </a:bodyPr>
          <a:lstStyle>
            <a:lvl1pPr indent="-228600" lvl="0" marL="457200" marR="0" rtl="0" algn="just">
              <a:lnSpc>
                <a:spcPct val="133333"/>
              </a:lnSpc>
              <a:spcBef>
                <a:spcPts val="800"/>
              </a:spcBef>
              <a:spcAft>
                <a:spcPts val="0"/>
              </a:spcAft>
              <a:buClr>
                <a:schemeClr val="dk1"/>
              </a:buClr>
              <a:buSzPts val="900"/>
              <a:buFont typeface="Arial"/>
              <a:buNone/>
              <a:defRPr b="0" i="0" sz="9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pic>
        <p:nvPicPr>
          <p:cNvPr id="326" name="Google Shape;326;p34"/>
          <p:cNvPicPr preferRelativeResize="0"/>
          <p:nvPr/>
        </p:nvPicPr>
        <p:blipFill rotWithShape="1">
          <a:blip r:embed="rId3">
            <a:alphaModFix/>
          </a:blip>
          <a:srcRect b="0" l="0" r="0" t="0"/>
          <a:stretch/>
        </p:blipFill>
        <p:spPr>
          <a:xfrm>
            <a:off x="4844434" y="-564168"/>
            <a:ext cx="2650732" cy="1552381"/>
          </a:xfrm>
          <a:prstGeom prst="rect">
            <a:avLst/>
          </a:prstGeom>
          <a:noFill/>
          <a:ln>
            <a:noFill/>
          </a:ln>
        </p:spPr>
      </p:pic>
      <p:sp>
        <p:nvSpPr>
          <p:cNvPr id="327" name="Google Shape;327;p34"/>
          <p:cNvSpPr/>
          <p:nvPr/>
        </p:nvSpPr>
        <p:spPr>
          <a:xfrm>
            <a:off x="3777218" y="1509301"/>
            <a:ext cx="561878" cy="550082"/>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328" name="Google Shape;328;p34"/>
          <p:cNvSpPr/>
          <p:nvPr/>
        </p:nvSpPr>
        <p:spPr>
          <a:xfrm>
            <a:off x="493925" y="4243604"/>
            <a:ext cx="541289" cy="541289"/>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329" name="Google Shape;329;p34"/>
          <p:cNvPicPr preferRelativeResize="0"/>
          <p:nvPr/>
        </p:nvPicPr>
        <p:blipFill rotWithShape="1">
          <a:blip r:embed="rId4">
            <a:alphaModFix/>
          </a:blip>
          <a:srcRect b="30534" l="44073" r="9473" t="994"/>
          <a:stretch/>
        </p:blipFill>
        <p:spPr>
          <a:xfrm>
            <a:off x="700871" y="1646163"/>
            <a:ext cx="3489641" cy="2893609"/>
          </a:xfrm>
          <a:prstGeom prst="round2DiagRect">
            <a:avLst>
              <a:gd fmla="val 16667" name="adj1"/>
              <a:gd fmla="val 0" name="adj2"/>
            </a:avLst>
          </a:prstGeom>
          <a:noFill/>
          <a:ln>
            <a:noFill/>
          </a:ln>
        </p:spPr>
      </p:pic>
      <p:sp>
        <p:nvSpPr>
          <p:cNvPr id="330" name="Google Shape;330;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latin typeface="Poppins SemiBold"/>
                <a:ea typeface="Poppins SemiBold"/>
                <a:cs typeface="Poppins SemiBold"/>
                <a:sym typeface="Poppins SemiBold"/>
              </a:defRPr>
            </a:lvl1pPr>
            <a:lvl2pPr lvl="1">
              <a:buNone/>
              <a:defRPr>
                <a:solidFill>
                  <a:schemeClr val="dk1"/>
                </a:solidFill>
                <a:latin typeface="Poppins SemiBold"/>
                <a:ea typeface="Poppins SemiBold"/>
                <a:cs typeface="Poppins SemiBold"/>
                <a:sym typeface="Poppins SemiBold"/>
              </a:defRPr>
            </a:lvl2pPr>
            <a:lvl3pPr lvl="2">
              <a:buNone/>
              <a:defRPr>
                <a:solidFill>
                  <a:schemeClr val="dk1"/>
                </a:solidFill>
                <a:latin typeface="Poppins SemiBold"/>
                <a:ea typeface="Poppins SemiBold"/>
                <a:cs typeface="Poppins SemiBold"/>
                <a:sym typeface="Poppins SemiBold"/>
              </a:defRPr>
            </a:lvl3pPr>
            <a:lvl4pPr lvl="3">
              <a:buNone/>
              <a:defRPr>
                <a:solidFill>
                  <a:schemeClr val="dk1"/>
                </a:solidFill>
                <a:latin typeface="Poppins SemiBold"/>
                <a:ea typeface="Poppins SemiBold"/>
                <a:cs typeface="Poppins SemiBold"/>
                <a:sym typeface="Poppins SemiBold"/>
              </a:defRPr>
            </a:lvl4pPr>
            <a:lvl5pPr lvl="4">
              <a:buNone/>
              <a:defRPr>
                <a:solidFill>
                  <a:schemeClr val="dk1"/>
                </a:solidFill>
                <a:latin typeface="Poppins SemiBold"/>
                <a:ea typeface="Poppins SemiBold"/>
                <a:cs typeface="Poppins SemiBold"/>
                <a:sym typeface="Poppins SemiBold"/>
              </a:defRPr>
            </a:lvl5pPr>
            <a:lvl6pPr lvl="5">
              <a:buNone/>
              <a:defRPr>
                <a:solidFill>
                  <a:schemeClr val="dk1"/>
                </a:solidFill>
                <a:latin typeface="Poppins SemiBold"/>
                <a:ea typeface="Poppins SemiBold"/>
                <a:cs typeface="Poppins SemiBold"/>
                <a:sym typeface="Poppins SemiBold"/>
              </a:defRPr>
            </a:lvl6pPr>
            <a:lvl7pPr lvl="6">
              <a:buNone/>
              <a:defRPr>
                <a:solidFill>
                  <a:schemeClr val="dk1"/>
                </a:solidFill>
                <a:latin typeface="Poppins SemiBold"/>
                <a:ea typeface="Poppins SemiBold"/>
                <a:cs typeface="Poppins SemiBold"/>
                <a:sym typeface="Poppins SemiBold"/>
              </a:defRPr>
            </a:lvl7pPr>
            <a:lvl8pPr lvl="7">
              <a:buNone/>
              <a:defRPr>
                <a:solidFill>
                  <a:schemeClr val="dk1"/>
                </a:solidFill>
                <a:latin typeface="Poppins SemiBold"/>
                <a:ea typeface="Poppins SemiBold"/>
                <a:cs typeface="Poppins SemiBold"/>
                <a:sym typeface="Poppins SemiBold"/>
              </a:defRPr>
            </a:lvl8pPr>
            <a:lvl9pPr lvl="8">
              <a:buNone/>
              <a:defRPr>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texte 2">
  <p:cSld name="Photo / texte 2">
    <p:spTree>
      <p:nvGrpSpPr>
        <p:cNvPr id="331" name="Shape 331"/>
        <p:cNvGrpSpPr/>
        <p:nvPr/>
      </p:nvGrpSpPr>
      <p:grpSpPr>
        <a:xfrm>
          <a:off x="0" y="0"/>
          <a:ext cx="0" cy="0"/>
          <a:chOff x="0" y="0"/>
          <a:chExt cx="0" cy="0"/>
        </a:xfrm>
      </p:grpSpPr>
      <p:sp>
        <p:nvSpPr>
          <p:cNvPr id="332" name="Google Shape;332;p35"/>
          <p:cNvSpPr/>
          <p:nvPr/>
        </p:nvSpPr>
        <p:spPr>
          <a:xfrm>
            <a:off x="0" y="0"/>
            <a:ext cx="4028747" cy="5064369"/>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333" name="Google Shape;333;p35"/>
          <p:cNvPicPr preferRelativeResize="0"/>
          <p:nvPr/>
        </p:nvPicPr>
        <p:blipFill rotWithShape="1">
          <a:blip r:embed="rId2">
            <a:alphaModFix/>
          </a:blip>
          <a:srcRect b="0" l="0" r="0" t="0"/>
          <a:stretch/>
        </p:blipFill>
        <p:spPr>
          <a:xfrm>
            <a:off x="8329352" y="93518"/>
            <a:ext cx="711497" cy="790088"/>
          </a:xfrm>
          <a:prstGeom prst="rect">
            <a:avLst/>
          </a:prstGeom>
          <a:noFill/>
          <a:ln>
            <a:noFill/>
          </a:ln>
        </p:spPr>
      </p:pic>
      <p:sp>
        <p:nvSpPr>
          <p:cNvPr id="334" name="Google Shape;334;p35"/>
          <p:cNvSpPr/>
          <p:nvPr/>
        </p:nvSpPr>
        <p:spPr>
          <a:xfrm>
            <a:off x="700871" y="766821"/>
            <a:ext cx="730363" cy="38246"/>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335" name="Google Shape;335;p35"/>
          <p:cNvSpPr txBox="1"/>
          <p:nvPr>
            <p:ph idx="1" type="body"/>
          </p:nvPr>
        </p:nvSpPr>
        <p:spPr>
          <a:xfrm>
            <a:off x="615084" y="377692"/>
            <a:ext cx="3707051" cy="29051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700"/>
              <a:buFont typeface="Arial"/>
              <a:buNone/>
              <a:defRPr b="1" i="0" sz="1700" u="none" cap="none" strike="noStrike">
                <a:solidFill>
                  <a:schemeClr val="dk1"/>
                </a:solidFill>
                <a:latin typeface="Poppins SemiBold"/>
                <a:ea typeface="Poppins SemiBold"/>
                <a:cs typeface="Poppins SemiBold"/>
                <a:sym typeface="Poppins SemiBold"/>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336" name="Google Shape;336;p35"/>
          <p:cNvSpPr/>
          <p:nvPr/>
        </p:nvSpPr>
        <p:spPr>
          <a:xfrm>
            <a:off x="3228082" y="1008684"/>
            <a:ext cx="439767" cy="430534"/>
          </a:xfrm>
          <a:prstGeom prst="rect">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337" name="Google Shape;337;p35"/>
          <p:cNvSpPr/>
          <p:nvPr/>
        </p:nvSpPr>
        <p:spPr>
          <a:xfrm>
            <a:off x="493925" y="4243604"/>
            <a:ext cx="466195" cy="466195"/>
          </a:xfrm>
          <a:prstGeom prst="ellipse">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338" name="Google Shape;338;p35"/>
          <p:cNvPicPr preferRelativeResize="0"/>
          <p:nvPr/>
        </p:nvPicPr>
        <p:blipFill rotWithShape="1">
          <a:blip r:embed="rId3">
            <a:alphaModFix/>
          </a:blip>
          <a:srcRect b="-367" l="22664" r="22757" t="1728"/>
          <a:stretch/>
        </p:blipFill>
        <p:spPr>
          <a:xfrm>
            <a:off x="720077" y="1192084"/>
            <a:ext cx="2746793" cy="3314601"/>
          </a:xfrm>
          <a:prstGeom prst="round2DiagRect">
            <a:avLst>
              <a:gd fmla="val 16667" name="adj1"/>
              <a:gd fmla="val 0" name="adj2"/>
            </a:avLst>
          </a:prstGeom>
          <a:noFill/>
          <a:ln>
            <a:noFill/>
          </a:ln>
        </p:spPr>
      </p:pic>
      <p:pic>
        <p:nvPicPr>
          <p:cNvPr id="339" name="Google Shape;339;p35"/>
          <p:cNvPicPr preferRelativeResize="0"/>
          <p:nvPr/>
        </p:nvPicPr>
        <p:blipFill rotWithShape="1">
          <a:blip r:embed="rId4">
            <a:alphaModFix/>
          </a:blip>
          <a:srcRect b="0" l="0" r="0" t="0"/>
          <a:stretch/>
        </p:blipFill>
        <p:spPr>
          <a:xfrm rot="6174197">
            <a:off x="7558608" y="2621883"/>
            <a:ext cx="2650732" cy="1552381"/>
          </a:xfrm>
          <a:prstGeom prst="rect">
            <a:avLst/>
          </a:prstGeom>
          <a:noFill/>
          <a:ln>
            <a:noFill/>
          </a:ln>
        </p:spPr>
      </p:pic>
      <p:sp>
        <p:nvSpPr>
          <p:cNvPr id="340" name="Google Shape;340;p35"/>
          <p:cNvSpPr/>
          <p:nvPr/>
        </p:nvSpPr>
        <p:spPr>
          <a:xfrm>
            <a:off x="6697348" y="238259"/>
            <a:ext cx="170762" cy="170761"/>
          </a:xfrm>
          <a:prstGeom prst="ellipse">
            <a:avLst/>
          </a:prstGeom>
          <a:solidFill>
            <a:srgbClr val="DC943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341" name="Google Shape;341;p35"/>
          <p:cNvSpPr/>
          <p:nvPr/>
        </p:nvSpPr>
        <p:spPr>
          <a:xfrm>
            <a:off x="6996547" y="-249241"/>
            <a:ext cx="502481" cy="502481"/>
          </a:xfrm>
          <a:prstGeom prst="ellipse">
            <a:avLst/>
          </a:prstGeom>
          <a:noFill/>
          <a:ln cap="flat" cmpd="sng" w="57150">
            <a:solidFill>
              <a:srgbClr val="D2565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342" name="Google Shape;342;p35"/>
          <p:cNvSpPr txBox="1"/>
          <p:nvPr>
            <p:ph idx="2" type="body"/>
          </p:nvPr>
        </p:nvSpPr>
        <p:spPr>
          <a:xfrm>
            <a:off x="4640854" y="943882"/>
            <a:ext cx="1585190" cy="265245"/>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1400"/>
              <a:buFont typeface="Arial"/>
              <a:buNone/>
              <a:defRPr b="1" i="0" sz="1400" u="none" cap="none" strike="noStrike">
                <a:solidFill>
                  <a:schemeClr val="dk1"/>
                </a:solidFill>
                <a:latin typeface="Poppins SemiBold"/>
                <a:ea typeface="Poppins SemiBold"/>
                <a:cs typeface="Poppins SemiBold"/>
                <a:sym typeface="Poppins SemiBold"/>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343" name="Google Shape;343;p35"/>
          <p:cNvSpPr txBox="1"/>
          <p:nvPr>
            <p:ph idx="3" type="body"/>
          </p:nvPr>
        </p:nvSpPr>
        <p:spPr>
          <a:xfrm>
            <a:off x="4640854" y="1300381"/>
            <a:ext cx="3169444" cy="1942883"/>
          </a:xfrm>
          <a:prstGeom prst="rect">
            <a:avLst/>
          </a:prstGeom>
          <a:noFill/>
          <a:ln>
            <a:noFill/>
          </a:ln>
        </p:spPr>
        <p:txBody>
          <a:bodyPr anchorCtr="0" anchor="t" bIns="34275" lIns="68575" spcFirstLastPara="1" rIns="68575" wrap="square" tIns="34275">
            <a:noAutofit/>
          </a:bodyPr>
          <a:lstStyle>
            <a:lvl1pPr indent="-228600" lvl="0" marL="457200" marR="0" rtl="0" algn="just">
              <a:lnSpc>
                <a:spcPct val="145454"/>
              </a:lnSpc>
              <a:spcBef>
                <a:spcPts val="800"/>
              </a:spcBef>
              <a:spcAft>
                <a:spcPts val="0"/>
              </a:spcAft>
              <a:buClr>
                <a:schemeClr val="dk1"/>
              </a:buClr>
              <a:buSzPts val="800"/>
              <a:buFont typeface="Arial"/>
              <a:buNone/>
              <a:defRPr b="0" i="0" sz="800" u="none" cap="none" strike="noStrike">
                <a:solidFill>
                  <a:schemeClr val="dk1"/>
                </a:solidFill>
                <a:latin typeface="Poppins"/>
                <a:ea typeface="Poppins"/>
                <a:cs typeface="Poppins"/>
                <a:sym typeface="Poppins"/>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Quattrocento Sans"/>
                <a:ea typeface="Quattrocento Sans"/>
                <a:cs typeface="Quattrocento Sans"/>
                <a:sym typeface="Quattrocen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Quattrocento Sans"/>
                <a:ea typeface="Quattrocento Sans"/>
                <a:cs typeface="Quattrocento Sans"/>
                <a:sym typeface="Quattrocento Sans"/>
              </a:defRPr>
            </a:lvl9pPr>
          </a:lstStyle>
          <a:p/>
        </p:txBody>
      </p:sp>
      <p:sp>
        <p:nvSpPr>
          <p:cNvPr id="344" name="Google Shape;344;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latin typeface="Poppins SemiBold"/>
                <a:ea typeface="Poppins SemiBold"/>
                <a:cs typeface="Poppins SemiBold"/>
                <a:sym typeface="Poppins SemiBold"/>
              </a:defRPr>
            </a:lvl1pPr>
            <a:lvl2pPr lvl="1">
              <a:buNone/>
              <a:defRPr>
                <a:solidFill>
                  <a:schemeClr val="dk1"/>
                </a:solidFill>
                <a:latin typeface="Poppins SemiBold"/>
                <a:ea typeface="Poppins SemiBold"/>
                <a:cs typeface="Poppins SemiBold"/>
                <a:sym typeface="Poppins SemiBold"/>
              </a:defRPr>
            </a:lvl2pPr>
            <a:lvl3pPr lvl="2">
              <a:buNone/>
              <a:defRPr>
                <a:solidFill>
                  <a:schemeClr val="dk1"/>
                </a:solidFill>
                <a:latin typeface="Poppins SemiBold"/>
                <a:ea typeface="Poppins SemiBold"/>
                <a:cs typeface="Poppins SemiBold"/>
                <a:sym typeface="Poppins SemiBold"/>
              </a:defRPr>
            </a:lvl3pPr>
            <a:lvl4pPr lvl="3">
              <a:buNone/>
              <a:defRPr>
                <a:solidFill>
                  <a:schemeClr val="dk1"/>
                </a:solidFill>
                <a:latin typeface="Poppins SemiBold"/>
                <a:ea typeface="Poppins SemiBold"/>
                <a:cs typeface="Poppins SemiBold"/>
                <a:sym typeface="Poppins SemiBold"/>
              </a:defRPr>
            </a:lvl4pPr>
            <a:lvl5pPr lvl="4">
              <a:buNone/>
              <a:defRPr>
                <a:solidFill>
                  <a:schemeClr val="dk1"/>
                </a:solidFill>
                <a:latin typeface="Poppins SemiBold"/>
                <a:ea typeface="Poppins SemiBold"/>
                <a:cs typeface="Poppins SemiBold"/>
                <a:sym typeface="Poppins SemiBold"/>
              </a:defRPr>
            </a:lvl5pPr>
            <a:lvl6pPr lvl="5">
              <a:buNone/>
              <a:defRPr>
                <a:solidFill>
                  <a:schemeClr val="dk1"/>
                </a:solidFill>
                <a:latin typeface="Poppins SemiBold"/>
                <a:ea typeface="Poppins SemiBold"/>
                <a:cs typeface="Poppins SemiBold"/>
                <a:sym typeface="Poppins SemiBold"/>
              </a:defRPr>
            </a:lvl6pPr>
            <a:lvl7pPr lvl="6">
              <a:buNone/>
              <a:defRPr>
                <a:solidFill>
                  <a:schemeClr val="dk1"/>
                </a:solidFill>
                <a:latin typeface="Poppins SemiBold"/>
                <a:ea typeface="Poppins SemiBold"/>
                <a:cs typeface="Poppins SemiBold"/>
                <a:sym typeface="Poppins SemiBold"/>
              </a:defRPr>
            </a:lvl7pPr>
            <a:lvl8pPr lvl="7">
              <a:buNone/>
              <a:defRPr>
                <a:solidFill>
                  <a:schemeClr val="dk1"/>
                </a:solidFill>
                <a:latin typeface="Poppins SemiBold"/>
                <a:ea typeface="Poppins SemiBold"/>
                <a:cs typeface="Poppins SemiBold"/>
                <a:sym typeface="Poppins SemiBold"/>
              </a:defRPr>
            </a:lvl8pPr>
            <a:lvl9pPr lvl="8">
              <a:buNone/>
              <a:defRPr>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vide logo / fond gris">
  <p:cSld name="Diapositive vide logo / fond gris">
    <p:spTree>
      <p:nvGrpSpPr>
        <p:cNvPr id="345" name="Shape 345"/>
        <p:cNvGrpSpPr/>
        <p:nvPr/>
      </p:nvGrpSpPr>
      <p:grpSpPr>
        <a:xfrm>
          <a:off x="0" y="0"/>
          <a:ext cx="0" cy="0"/>
          <a:chOff x="0" y="0"/>
          <a:chExt cx="0" cy="0"/>
        </a:xfrm>
      </p:grpSpPr>
      <p:sp>
        <p:nvSpPr>
          <p:cNvPr id="346" name="Google Shape;346;p36"/>
          <p:cNvSpPr/>
          <p:nvPr/>
        </p:nvSpPr>
        <p:spPr>
          <a:xfrm>
            <a:off x="4568416" y="0"/>
            <a:ext cx="4575584" cy="5064369"/>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347" name="Google Shape;347;p36"/>
          <p:cNvPicPr preferRelativeResize="0"/>
          <p:nvPr/>
        </p:nvPicPr>
        <p:blipFill rotWithShape="1">
          <a:blip r:embed="rId2">
            <a:alphaModFix/>
          </a:blip>
          <a:srcRect b="0" l="0" r="0" t="0"/>
          <a:stretch/>
        </p:blipFill>
        <p:spPr>
          <a:xfrm>
            <a:off x="8329352" y="93518"/>
            <a:ext cx="711497" cy="790088"/>
          </a:xfrm>
          <a:prstGeom prst="rect">
            <a:avLst/>
          </a:prstGeom>
          <a:noFill/>
          <a:ln>
            <a:noFill/>
          </a:ln>
        </p:spPr>
      </p:pic>
      <p:sp>
        <p:nvSpPr>
          <p:cNvPr id="348" name="Google Shape;348;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extLst>
    <p:ext uri="{DCECCB84-F9BA-43D5-87BE-67443E8EF086}">
      <p15:sldGuideLst>
        <p15:guide id="1" pos="2880">
          <p15:clr>
            <a:srgbClr val="FBAE40"/>
          </p15:clr>
        </p15:guide>
        <p15:guide id="2" pos="2795">
          <p15:clr>
            <a:srgbClr val="FBAE40"/>
          </p15:clr>
        </p15:guide>
        <p15:guide id="3" pos="2965">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24" Type="http://schemas.openxmlformats.org/officeDocument/2006/relationships/theme" Target="../theme/theme3.xml"/><Relationship Id="rId12" Type="http://schemas.openxmlformats.org/officeDocument/2006/relationships/slideLayout" Target="../slideLayouts/slideLayout23.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grpSp>
        <p:nvGrpSpPr>
          <p:cNvPr id="51" name="Google Shape;51;p13"/>
          <p:cNvGrpSpPr/>
          <p:nvPr/>
        </p:nvGrpSpPr>
        <p:grpSpPr>
          <a:xfrm>
            <a:off x="0" y="5067151"/>
            <a:ext cx="9144000" cy="76352"/>
            <a:chOff x="0" y="6756197"/>
            <a:chExt cx="12192000" cy="101803"/>
          </a:xfrm>
        </p:grpSpPr>
        <p:sp>
          <p:nvSpPr>
            <p:cNvPr id="52" name="Google Shape;52;p13"/>
            <p:cNvSpPr/>
            <p:nvPr/>
          </p:nvSpPr>
          <p:spPr>
            <a:xfrm>
              <a:off x="0" y="6756197"/>
              <a:ext cx="2438401" cy="101803"/>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53" name="Google Shape;53;p13"/>
            <p:cNvSpPr/>
            <p:nvPr/>
          </p:nvSpPr>
          <p:spPr>
            <a:xfrm>
              <a:off x="2438401" y="6756197"/>
              <a:ext cx="2438401" cy="101803"/>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54" name="Google Shape;54;p13"/>
            <p:cNvSpPr/>
            <p:nvPr/>
          </p:nvSpPr>
          <p:spPr>
            <a:xfrm>
              <a:off x="4876797" y="6756197"/>
              <a:ext cx="2438401" cy="101803"/>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55" name="Google Shape;55;p13"/>
            <p:cNvSpPr/>
            <p:nvPr/>
          </p:nvSpPr>
          <p:spPr>
            <a:xfrm>
              <a:off x="7315198" y="6756197"/>
              <a:ext cx="2438401" cy="101803"/>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Quattrocento Sans"/>
                <a:ea typeface="Quattrocento Sans"/>
                <a:cs typeface="Quattrocento Sans"/>
                <a:sym typeface="Quattrocento Sans"/>
              </a:endParaRPr>
            </a:p>
          </p:txBody>
        </p:sp>
        <p:sp>
          <p:nvSpPr>
            <p:cNvPr id="56" name="Google Shape;56;p13"/>
            <p:cNvSpPr/>
            <p:nvPr/>
          </p:nvSpPr>
          <p:spPr>
            <a:xfrm>
              <a:off x="9753599" y="6756197"/>
              <a:ext cx="2438401" cy="101803"/>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Quattrocento Sans"/>
                <a:ea typeface="Quattrocento Sans"/>
                <a:cs typeface="Quattrocento Sans"/>
                <a:sym typeface="Quattrocento Sans"/>
              </a:endParaRPr>
            </a:p>
          </p:txBody>
        </p:sp>
      </p:grpSp>
      <p:sp>
        <p:nvSpPr>
          <p:cNvPr id="57" name="Google Shape;57;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3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27.png"/><Relationship Id="rId4" Type="http://schemas.openxmlformats.org/officeDocument/2006/relationships/image" Target="../media/image36.png"/><Relationship Id="rId5" Type="http://schemas.openxmlformats.org/officeDocument/2006/relationships/image" Target="../media/image3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31.png"/><Relationship Id="rId5" Type="http://schemas.openxmlformats.org/officeDocument/2006/relationships/image" Target="../media/image29.png"/><Relationship Id="rId6" Type="http://schemas.openxmlformats.org/officeDocument/2006/relationships/image" Target="../media/image37.png"/><Relationship Id="rId7"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45.png"/><Relationship Id="rId4" Type="http://schemas.openxmlformats.org/officeDocument/2006/relationships/image" Target="../media/image36.png"/><Relationship Id="rId5" Type="http://schemas.openxmlformats.org/officeDocument/2006/relationships/image" Target="../media/image32.png"/><Relationship Id="rId6"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4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5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5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45.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4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5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4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4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4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7"/>
          <p:cNvSpPr txBox="1"/>
          <p:nvPr>
            <p:ph idx="1" type="body"/>
          </p:nvPr>
        </p:nvSpPr>
        <p:spPr>
          <a:xfrm>
            <a:off x="2392327" y="3413098"/>
            <a:ext cx="4357200" cy="334500"/>
          </a:xfrm>
          <a:prstGeom prst="rect">
            <a:avLst/>
          </a:prstGeom>
          <a:noFill/>
          <a:ln>
            <a:noFill/>
          </a:ln>
        </p:spPr>
        <p:txBody>
          <a:bodyPr anchorCtr="0" anchor="t" bIns="34275" lIns="68575" spcFirstLastPara="1" rIns="68575" wrap="square" tIns="34275">
            <a:noAutofit/>
          </a:bodyPr>
          <a:lstStyle/>
          <a:p>
            <a:pPr indent="0" lvl="0" marL="0" marR="0" rtl="0" algn="ctr">
              <a:lnSpc>
                <a:spcPct val="90000"/>
              </a:lnSpc>
              <a:spcBef>
                <a:spcPts val="0"/>
              </a:spcBef>
              <a:spcAft>
                <a:spcPts val="0"/>
              </a:spcAft>
              <a:buClr>
                <a:srgbClr val="7B949E"/>
              </a:buClr>
              <a:buSzPts val="2100"/>
              <a:buFont typeface="Arial"/>
              <a:buNone/>
            </a:pPr>
            <a:r>
              <a:rPr b="0" i="0" lang="fr" sz="2100" u="none" cap="none" strike="noStrike">
                <a:solidFill>
                  <a:srgbClr val="7B949E"/>
                </a:solidFill>
                <a:latin typeface="Poppins"/>
                <a:ea typeface="Poppins"/>
                <a:cs typeface="Poppins"/>
                <a:sym typeface="Poppins"/>
              </a:rPr>
              <a:t>de </a:t>
            </a:r>
            <a:r>
              <a:rPr lang="fr" sz="2100">
                <a:solidFill>
                  <a:srgbClr val="7B949E"/>
                </a:solidFill>
                <a:latin typeface="Poppins"/>
                <a:ea typeface="Poppins"/>
                <a:cs typeface="Poppins"/>
                <a:sym typeface="Poppins"/>
              </a:rPr>
              <a:t>Arthur DEFORGE</a:t>
            </a:r>
            <a:endParaRPr b="0" i="0" sz="2100" u="none" cap="none" strike="noStrike">
              <a:solidFill>
                <a:schemeClr val="dk1"/>
              </a:solidFill>
              <a:latin typeface="Quattrocento Sans"/>
              <a:ea typeface="Quattrocento Sans"/>
              <a:cs typeface="Quattrocento Sans"/>
              <a:sym typeface="Quattrocento Sans"/>
            </a:endParaRPr>
          </a:p>
        </p:txBody>
      </p:sp>
      <p:sp>
        <p:nvSpPr>
          <p:cNvPr id="355" name="Google Shape;355;p37"/>
          <p:cNvSpPr txBox="1"/>
          <p:nvPr/>
        </p:nvSpPr>
        <p:spPr>
          <a:xfrm>
            <a:off x="1350000" y="1873502"/>
            <a:ext cx="6441900" cy="1083000"/>
          </a:xfrm>
          <a:prstGeom prst="rect">
            <a:avLst/>
          </a:prstGeom>
          <a:noFill/>
          <a:ln>
            <a:noFill/>
          </a:ln>
        </p:spPr>
        <p:txBody>
          <a:bodyPr anchorCtr="0" anchor="t" bIns="34275" lIns="68575" spcFirstLastPara="1" rIns="68575" wrap="square" tIns="34275">
            <a:noAutofit/>
          </a:bodyPr>
          <a:lstStyle/>
          <a:p>
            <a:pPr indent="0" lvl="0" marL="0" marR="0" rtl="0" algn="ctr">
              <a:lnSpc>
                <a:spcPct val="90000"/>
              </a:lnSpc>
              <a:spcBef>
                <a:spcPts val="0"/>
              </a:spcBef>
              <a:spcAft>
                <a:spcPts val="0"/>
              </a:spcAft>
              <a:buClr>
                <a:schemeClr val="dk1"/>
              </a:buClr>
              <a:buSzPts val="3600"/>
              <a:buFont typeface="Arial"/>
              <a:buNone/>
            </a:pPr>
            <a:r>
              <a:rPr b="1" lang="fr" sz="3600">
                <a:solidFill>
                  <a:schemeClr val="dk1"/>
                </a:solidFill>
                <a:latin typeface="Poppins"/>
                <a:ea typeface="Poppins"/>
                <a:cs typeface="Poppins"/>
                <a:sym typeface="Poppins"/>
              </a:rPr>
              <a:t>ANALYSE ET OPTIMISATION DE LA QUANTIFICATION</a:t>
            </a:r>
            <a:r>
              <a:rPr b="1" lang="fr" sz="3600">
                <a:solidFill>
                  <a:schemeClr val="dk1"/>
                </a:solidFill>
                <a:latin typeface="Poppins"/>
                <a:ea typeface="Poppins"/>
                <a:cs typeface="Poppins"/>
                <a:sym typeface="Poppins"/>
              </a:rPr>
              <a:t> POST-TRAINING</a:t>
            </a:r>
            <a:endParaRPr b="1" i="0" sz="3600" u="none" cap="none" strike="noStrike">
              <a:solidFill>
                <a:schemeClr val="dk1"/>
              </a:solidFill>
              <a:latin typeface="Poppins"/>
              <a:ea typeface="Poppins"/>
              <a:cs typeface="Poppins"/>
              <a:sym typeface="Poppins"/>
            </a:endParaRPr>
          </a:p>
        </p:txBody>
      </p:sp>
      <p:sp>
        <p:nvSpPr>
          <p:cNvPr id="356" name="Google Shape;356;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8"/>
          <p:cNvSpPr/>
          <p:nvPr/>
        </p:nvSpPr>
        <p:spPr>
          <a:xfrm>
            <a:off x="8392850" y="891267"/>
            <a:ext cx="561900" cy="550200"/>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363" name="Google Shape;363;p38"/>
          <p:cNvSpPr/>
          <p:nvPr/>
        </p:nvSpPr>
        <p:spPr>
          <a:xfrm>
            <a:off x="133650" y="2420879"/>
            <a:ext cx="541200" cy="541200"/>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364" name="Google Shape;364;p38"/>
          <p:cNvSpPr txBox="1"/>
          <p:nvPr/>
        </p:nvSpPr>
        <p:spPr>
          <a:xfrm>
            <a:off x="326400" y="640325"/>
            <a:ext cx="4297200" cy="3741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900">
                <a:solidFill>
                  <a:schemeClr val="dk1"/>
                </a:solidFill>
                <a:latin typeface="Poppins"/>
                <a:ea typeface="Poppins"/>
                <a:cs typeface="Poppins"/>
                <a:sym typeface="Poppins"/>
              </a:rPr>
              <a:t>Référence</a:t>
            </a:r>
            <a:r>
              <a:rPr lang="fr" sz="900">
                <a:solidFill>
                  <a:schemeClr val="dk1"/>
                </a:solidFill>
                <a:latin typeface="Poppins"/>
                <a:ea typeface="Poppins"/>
                <a:cs typeface="Poppins"/>
                <a:sym typeface="Poppins"/>
              </a:rPr>
              <a:t> : Exécution du code source officiel (GitHub YOLOP).</a:t>
            </a:r>
            <a:endParaRPr sz="900">
              <a:solidFill>
                <a:schemeClr val="dk1"/>
              </a:solidFill>
              <a:latin typeface="Poppins"/>
              <a:ea typeface="Poppins"/>
              <a:cs typeface="Poppins"/>
              <a:sym typeface="Poppins"/>
            </a:endParaRPr>
          </a:p>
          <a:p>
            <a:pPr indent="0" lvl="0" marL="0" marR="0" rtl="0" algn="just">
              <a:lnSpc>
                <a:spcPct val="120000"/>
              </a:lnSpc>
              <a:spcBef>
                <a:spcPts val="0"/>
              </a:spcBef>
              <a:spcAft>
                <a:spcPts val="0"/>
              </a:spcAft>
              <a:buNone/>
            </a:pPr>
            <a:r>
              <a:rPr b="1" lang="fr" sz="900">
                <a:solidFill>
                  <a:schemeClr val="dk1"/>
                </a:solidFill>
                <a:latin typeface="Poppins"/>
                <a:ea typeface="Poppins"/>
                <a:cs typeface="Poppins"/>
                <a:sym typeface="Poppins"/>
              </a:rPr>
              <a:t>Validation</a:t>
            </a:r>
            <a:r>
              <a:rPr lang="fr" sz="900">
                <a:solidFill>
                  <a:schemeClr val="dk1"/>
                </a:solidFill>
                <a:latin typeface="Poppins"/>
                <a:ea typeface="Poppins"/>
                <a:cs typeface="Poppins"/>
                <a:sym typeface="Poppins"/>
              </a:rPr>
              <a:t> : Métriques alignées avec le README (mAP ~76%, mIOU ~91%).</a:t>
            </a:r>
            <a:endParaRPr sz="900">
              <a:solidFill>
                <a:schemeClr val="dk1"/>
              </a:solidFill>
              <a:latin typeface="Poppins"/>
              <a:ea typeface="Poppins"/>
              <a:cs typeface="Poppins"/>
              <a:sym typeface="Poppins"/>
            </a:endParaRPr>
          </a:p>
        </p:txBody>
      </p:sp>
      <p:pic>
        <p:nvPicPr>
          <p:cNvPr id="365" name="Google Shape;365;p38"/>
          <p:cNvPicPr preferRelativeResize="0"/>
          <p:nvPr/>
        </p:nvPicPr>
        <p:blipFill rotWithShape="1">
          <a:blip r:embed="rId3">
            <a:alphaModFix/>
          </a:blip>
          <a:srcRect b="0" l="0" r="0" t="0"/>
          <a:stretch/>
        </p:blipFill>
        <p:spPr>
          <a:xfrm>
            <a:off x="5742109" y="-565093"/>
            <a:ext cx="2650733" cy="1552380"/>
          </a:xfrm>
          <a:prstGeom prst="rect">
            <a:avLst/>
          </a:prstGeom>
          <a:noFill/>
          <a:ln>
            <a:noFill/>
          </a:ln>
        </p:spPr>
      </p:pic>
      <p:sp>
        <p:nvSpPr>
          <p:cNvPr id="366" name="Google Shape;366;p38"/>
          <p:cNvSpPr txBox="1"/>
          <p:nvPr/>
        </p:nvSpPr>
        <p:spPr>
          <a:xfrm>
            <a:off x="4520550" y="2962075"/>
            <a:ext cx="4297200" cy="1454700"/>
          </a:xfrm>
          <a:prstGeom prst="rect">
            <a:avLst/>
          </a:prstGeom>
          <a:noFill/>
          <a:ln>
            <a:noFill/>
          </a:ln>
        </p:spPr>
        <p:txBody>
          <a:bodyPr anchorCtr="0" anchor="t" bIns="34275" lIns="68575" spcFirstLastPara="1" rIns="68575" wrap="square" tIns="34275">
            <a:spAutoFit/>
          </a:bodyPr>
          <a:lstStyle/>
          <a:p>
            <a:pPr indent="-292100" lvl="0" marL="457200" marR="0" rtl="0" algn="just">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Paramétrage critique : </a:t>
            </a:r>
            <a:r>
              <a:rPr lang="fr" sz="1000">
                <a:solidFill>
                  <a:schemeClr val="dk1"/>
                </a:solidFill>
                <a:latin typeface="Poppins"/>
                <a:ea typeface="Poppins"/>
                <a:cs typeface="Poppins"/>
                <a:sym typeface="Poppins"/>
              </a:rPr>
              <a:t>Seuil de confiance (conf_thres) fixé à 0.001 (0.1%).</a:t>
            </a:r>
            <a:endParaRPr sz="1000">
              <a:solidFill>
                <a:schemeClr val="dk1"/>
              </a:solidFill>
              <a:latin typeface="Poppins"/>
              <a:ea typeface="Poppins"/>
              <a:cs typeface="Poppins"/>
              <a:sym typeface="Poppins"/>
            </a:endParaRPr>
          </a:p>
          <a:p>
            <a:pPr indent="-292100" lvl="0" marL="457200" marR="0" rtl="0" algn="just">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Conséquence visuelle :</a:t>
            </a:r>
            <a:r>
              <a:rPr lang="fr" sz="1000">
                <a:solidFill>
                  <a:schemeClr val="dk1"/>
                </a:solidFill>
                <a:latin typeface="Poppins"/>
                <a:ea typeface="Poppins"/>
                <a:cs typeface="Poppins"/>
                <a:sym typeface="Poppins"/>
              </a:rPr>
              <a:t> "Bruit" massif et sur-détection.</a:t>
            </a:r>
            <a:endParaRPr sz="1000">
              <a:solidFill>
                <a:schemeClr val="dk1"/>
              </a:solidFill>
              <a:latin typeface="Poppins"/>
              <a:ea typeface="Poppins"/>
              <a:cs typeface="Poppins"/>
              <a:sym typeface="Poppins"/>
            </a:endParaRPr>
          </a:p>
          <a:p>
            <a:pPr indent="-292100" lvl="1" marL="914400" marR="0" rtl="0" algn="just">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Raison :</a:t>
            </a:r>
            <a:r>
              <a:rPr lang="fr" sz="1000">
                <a:solidFill>
                  <a:schemeClr val="dk1"/>
                </a:solidFill>
                <a:latin typeface="Poppins"/>
                <a:ea typeface="Poppins"/>
                <a:cs typeface="Poppins"/>
                <a:sym typeface="Poppins"/>
              </a:rPr>
              <a:t> Conservation de toutes les prédictions faibles pour maximiser le calcul du Recall.</a:t>
            </a:r>
            <a:endParaRPr sz="1000">
              <a:solidFill>
                <a:schemeClr val="dk1"/>
              </a:solidFill>
              <a:latin typeface="Poppins"/>
              <a:ea typeface="Poppins"/>
              <a:cs typeface="Poppins"/>
              <a:sym typeface="Poppins"/>
            </a:endParaRPr>
          </a:p>
          <a:p>
            <a:pPr indent="-292100" lvl="0" marL="457200" marR="0" rtl="0" algn="just">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Performance (164 FPS) :</a:t>
            </a:r>
            <a:r>
              <a:rPr lang="fr" sz="1000">
                <a:solidFill>
                  <a:schemeClr val="dk1"/>
                </a:solidFill>
                <a:latin typeface="Poppins"/>
                <a:ea typeface="Poppins"/>
                <a:cs typeface="Poppins"/>
                <a:sym typeface="Poppins"/>
              </a:rPr>
              <a:t> GPU</a:t>
            </a:r>
            <a:endParaRPr sz="1000">
              <a:solidFill>
                <a:schemeClr val="dk1"/>
              </a:solidFill>
              <a:latin typeface="Poppins"/>
              <a:ea typeface="Poppins"/>
              <a:cs typeface="Poppins"/>
              <a:sym typeface="Poppins"/>
            </a:endParaRPr>
          </a:p>
          <a:p>
            <a:pPr indent="0" lvl="0" marL="914400" marR="0" rtl="0" algn="just">
              <a:lnSpc>
                <a:spcPct val="133333"/>
              </a:lnSpc>
              <a:spcBef>
                <a:spcPts val="0"/>
              </a:spcBef>
              <a:spcAft>
                <a:spcPts val="0"/>
              </a:spcAft>
              <a:buNone/>
            </a:pPr>
            <a:r>
              <a:t/>
            </a:r>
            <a:endParaRPr sz="1000">
              <a:solidFill>
                <a:schemeClr val="dk1"/>
              </a:solidFill>
              <a:latin typeface="Poppins"/>
              <a:ea typeface="Poppins"/>
              <a:cs typeface="Poppins"/>
              <a:sym typeface="Poppins"/>
            </a:endParaRPr>
          </a:p>
        </p:txBody>
      </p:sp>
      <p:sp>
        <p:nvSpPr>
          <p:cNvPr id="367" name="Google Shape;367;p38"/>
          <p:cNvSpPr/>
          <p:nvPr/>
        </p:nvSpPr>
        <p:spPr>
          <a:xfrm>
            <a:off x="700871" y="602229"/>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graphicFrame>
        <p:nvGraphicFramePr>
          <p:cNvPr id="368" name="Google Shape;368;p38"/>
          <p:cNvGraphicFramePr/>
          <p:nvPr/>
        </p:nvGraphicFramePr>
        <p:xfrm>
          <a:off x="1053968" y="2962077"/>
          <a:ext cx="3000000" cy="3000000"/>
        </p:xfrm>
        <a:graphic>
          <a:graphicData uri="http://schemas.openxmlformats.org/drawingml/2006/table">
            <a:tbl>
              <a:tblPr>
                <a:noFill/>
                <a:tableStyleId>{F016ABE3-ACDB-41B1-A64A-B1E2F77EB6C7}</a:tableStyleId>
              </a:tblPr>
              <a:tblGrid>
                <a:gridCol w="1014075"/>
                <a:gridCol w="1014075"/>
                <a:gridCol w="1014075"/>
              </a:tblGrid>
              <a:tr h="297150">
                <a:tc gridSpan="3">
                  <a:txBody>
                    <a:bodyPr/>
                    <a:lstStyle/>
                    <a:p>
                      <a:pPr indent="0" lvl="0" marL="0" rtl="0" algn="ctr">
                        <a:lnSpc>
                          <a:spcPct val="50000"/>
                        </a:lnSpc>
                        <a:spcBef>
                          <a:spcPts val="0"/>
                        </a:spcBef>
                        <a:spcAft>
                          <a:spcPts val="0"/>
                        </a:spcAft>
                        <a:buNone/>
                      </a:pPr>
                      <a:r>
                        <a:rPr b="1" lang="fr" sz="1200">
                          <a:solidFill>
                            <a:schemeClr val="lt2"/>
                          </a:solidFill>
                        </a:rPr>
                        <a:t>Traffic Object Detection Result</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hMerge="1"/>
                <a:tc hMerge="1"/>
              </a:tr>
              <a:tr h="297150">
                <a:tc>
                  <a:txBody>
                    <a:bodyPr/>
                    <a:lstStyle/>
                    <a:p>
                      <a:pPr indent="0" lvl="0" marL="0" rtl="0" algn="ctr">
                        <a:lnSpc>
                          <a:spcPct val="50000"/>
                        </a:lnSpc>
                        <a:spcBef>
                          <a:spcPts val="0"/>
                        </a:spcBef>
                        <a:spcAft>
                          <a:spcPts val="0"/>
                        </a:spcAft>
                        <a:buNone/>
                      </a:pPr>
                      <a:r>
                        <a:rPr b="1" lang="fr" sz="1200">
                          <a:solidFill>
                            <a:schemeClr val="lt2"/>
                          </a:solidFill>
                        </a:rPr>
                        <a:t>Recall(%)</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rtl="0" algn="ctr">
                        <a:lnSpc>
                          <a:spcPct val="50000"/>
                        </a:lnSpc>
                        <a:spcBef>
                          <a:spcPts val="0"/>
                        </a:spcBef>
                        <a:spcAft>
                          <a:spcPts val="0"/>
                        </a:spcAft>
                        <a:buNone/>
                      </a:pPr>
                      <a:r>
                        <a:rPr b="1" lang="fr" sz="1200">
                          <a:solidFill>
                            <a:schemeClr val="lt2"/>
                          </a:solidFill>
                        </a:rPr>
                        <a:t>mAP50(%)</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rtl="0" algn="ctr">
                        <a:lnSpc>
                          <a:spcPct val="50000"/>
                        </a:lnSpc>
                        <a:spcBef>
                          <a:spcPts val="0"/>
                        </a:spcBef>
                        <a:spcAft>
                          <a:spcPts val="0"/>
                        </a:spcAft>
                        <a:buNone/>
                      </a:pPr>
                      <a:r>
                        <a:rPr b="1" lang="fr" sz="1200">
                          <a:solidFill>
                            <a:schemeClr val="lt2"/>
                          </a:solidFill>
                        </a:rPr>
                        <a:t>Speed(fps)</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r>
              <a:tr h="297150">
                <a:tc>
                  <a:txBody>
                    <a:bodyPr/>
                    <a:lstStyle/>
                    <a:p>
                      <a:pPr indent="0" lvl="0" marL="0" rtl="0" algn="ctr">
                        <a:lnSpc>
                          <a:spcPct val="50000"/>
                        </a:lnSpc>
                        <a:spcBef>
                          <a:spcPts val="0"/>
                        </a:spcBef>
                        <a:spcAft>
                          <a:spcPts val="0"/>
                        </a:spcAft>
                        <a:buNone/>
                      </a:pPr>
                      <a:r>
                        <a:rPr lang="fr" sz="1200">
                          <a:solidFill>
                            <a:schemeClr val="dk1"/>
                          </a:solidFill>
                        </a:rPr>
                        <a:t>89</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76.3</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164</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graphicFrame>
        <p:nvGraphicFramePr>
          <p:cNvPr id="369" name="Google Shape;369;p38"/>
          <p:cNvGraphicFramePr/>
          <p:nvPr/>
        </p:nvGraphicFramePr>
        <p:xfrm>
          <a:off x="526706" y="3971687"/>
          <a:ext cx="3000000" cy="3000000"/>
        </p:xfrm>
        <a:graphic>
          <a:graphicData uri="http://schemas.openxmlformats.org/drawingml/2006/table">
            <a:tbl>
              <a:tblPr>
                <a:noFill/>
                <a:tableStyleId>{F016ABE3-ACDB-41B1-A64A-B1E2F77EB6C7}</a:tableStyleId>
              </a:tblPr>
              <a:tblGrid>
                <a:gridCol w="1014075"/>
                <a:gridCol w="1014075"/>
              </a:tblGrid>
              <a:tr h="297150">
                <a:tc gridSpan="2">
                  <a:txBody>
                    <a:bodyPr/>
                    <a:lstStyle/>
                    <a:p>
                      <a:pPr indent="0" lvl="0" marL="0" rtl="0" algn="ctr">
                        <a:lnSpc>
                          <a:spcPct val="50000"/>
                        </a:lnSpc>
                        <a:spcBef>
                          <a:spcPts val="0"/>
                        </a:spcBef>
                        <a:spcAft>
                          <a:spcPts val="0"/>
                        </a:spcAft>
                        <a:buNone/>
                      </a:pPr>
                      <a:r>
                        <a:rPr b="1" lang="fr" sz="1200">
                          <a:solidFill>
                            <a:schemeClr val="lt2"/>
                          </a:solidFill>
                        </a:rPr>
                        <a:t>Drivable Area Segmentation</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c hMerge="1"/>
              </a:tr>
              <a:tr h="297150">
                <a:tc>
                  <a:txBody>
                    <a:bodyPr/>
                    <a:lstStyle/>
                    <a:p>
                      <a:pPr indent="0" lvl="0" marL="0" rtl="0" algn="ctr">
                        <a:lnSpc>
                          <a:spcPct val="50000"/>
                        </a:lnSpc>
                        <a:spcBef>
                          <a:spcPts val="0"/>
                        </a:spcBef>
                        <a:spcAft>
                          <a:spcPts val="0"/>
                        </a:spcAft>
                        <a:buNone/>
                      </a:pPr>
                      <a:r>
                        <a:rPr b="1" lang="fr" sz="1200">
                          <a:solidFill>
                            <a:schemeClr val="lt2"/>
                          </a:solidFill>
                        </a:rPr>
                        <a:t>mIOU(%)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c>
                  <a:txBody>
                    <a:bodyPr/>
                    <a:lstStyle/>
                    <a:p>
                      <a:pPr indent="0" lvl="0" marL="0" rtl="0" algn="ctr">
                        <a:lnSpc>
                          <a:spcPct val="50000"/>
                        </a:lnSpc>
                        <a:spcBef>
                          <a:spcPts val="0"/>
                        </a:spcBef>
                        <a:spcAft>
                          <a:spcPts val="0"/>
                        </a:spcAft>
                        <a:buNone/>
                      </a:pPr>
                      <a:r>
                        <a:rPr b="1" lang="fr" sz="1200">
                          <a:solidFill>
                            <a:schemeClr val="lt2"/>
                          </a:solidFill>
                        </a:rPr>
                        <a:t>Speed(fps)</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r>
              <a:tr h="297150">
                <a:tc>
                  <a:txBody>
                    <a:bodyPr/>
                    <a:lstStyle/>
                    <a:p>
                      <a:pPr indent="0" lvl="0" marL="0" rtl="0" algn="ctr">
                        <a:lnSpc>
                          <a:spcPct val="50000"/>
                        </a:lnSpc>
                        <a:spcBef>
                          <a:spcPts val="0"/>
                        </a:spcBef>
                        <a:spcAft>
                          <a:spcPts val="0"/>
                        </a:spcAft>
                        <a:buNone/>
                      </a:pPr>
                      <a:r>
                        <a:rPr lang="fr" sz="1200">
                          <a:solidFill>
                            <a:schemeClr val="dk1"/>
                          </a:solidFill>
                        </a:rPr>
                        <a:t>91.4</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164</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graphicFrame>
        <p:nvGraphicFramePr>
          <p:cNvPr id="370" name="Google Shape;370;p38"/>
          <p:cNvGraphicFramePr/>
          <p:nvPr/>
        </p:nvGraphicFramePr>
        <p:xfrm>
          <a:off x="2595306" y="4005974"/>
          <a:ext cx="3000000" cy="3000000"/>
        </p:xfrm>
        <a:graphic>
          <a:graphicData uri="http://schemas.openxmlformats.org/drawingml/2006/table">
            <a:tbl>
              <a:tblPr>
                <a:noFill/>
                <a:tableStyleId>{F016ABE3-ACDB-41B1-A64A-B1E2F77EB6C7}</a:tableStyleId>
              </a:tblPr>
              <a:tblGrid>
                <a:gridCol w="1014075"/>
                <a:gridCol w="1014075"/>
              </a:tblGrid>
              <a:tr h="297150">
                <a:tc gridSpan="2">
                  <a:txBody>
                    <a:bodyPr/>
                    <a:lstStyle/>
                    <a:p>
                      <a:pPr indent="0" lvl="0" marL="0" rtl="0" algn="ctr">
                        <a:lnSpc>
                          <a:spcPct val="50000"/>
                        </a:lnSpc>
                        <a:spcBef>
                          <a:spcPts val="0"/>
                        </a:spcBef>
                        <a:spcAft>
                          <a:spcPts val="0"/>
                        </a:spcAft>
                        <a:buNone/>
                      </a:pPr>
                      <a:r>
                        <a:rPr b="1" lang="fr" sz="1200">
                          <a:solidFill>
                            <a:schemeClr val="lt2"/>
                          </a:solidFill>
                        </a:rPr>
                        <a:t>Lane Detection</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hMerge="1"/>
              </a:tr>
              <a:tr h="297150">
                <a:tc>
                  <a:txBody>
                    <a:bodyPr/>
                    <a:lstStyle/>
                    <a:p>
                      <a:pPr indent="0" lvl="0" marL="0" rtl="0" algn="ctr">
                        <a:lnSpc>
                          <a:spcPct val="50000"/>
                        </a:lnSpc>
                        <a:spcBef>
                          <a:spcPts val="0"/>
                        </a:spcBef>
                        <a:spcAft>
                          <a:spcPts val="0"/>
                        </a:spcAft>
                        <a:buNone/>
                      </a:pPr>
                      <a:r>
                        <a:rPr b="1" lang="fr" sz="1200">
                          <a:solidFill>
                            <a:schemeClr val="lt2"/>
                          </a:solidFill>
                        </a:rPr>
                        <a:t>mIOU(%)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a:txBody>
                    <a:bodyPr/>
                    <a:lstStyle/>
                    <a:p>
                      <a:pPr indent="0" lvl="0" marL="0" rtl="0" algn="ctr">
                        <a:lnSpc>
                          <a:spcPct val="50000"/>
                        </a:lnSpc>
                        <a:spcBef>
                          <a:spcPts val="0"/>
                        </a:spcBef>
                        <a:spcAft>
                          <a:spcPts val="0"/>
                        </a:spcAft>
                        <a:buNone/>
                      </a:pPr>
                      <a:r>
                        <a:rPr b="1" lang="fr" sz="1200">
                          <a:solidFill>
                            <a:schemeClr val="lt2"/>
                          </a:solidFill>
                        </a:rPr>
                        <a:t>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r>
              <a:tr h="297150">
                <a:tc>
                  <a:txBody>
                    <a:bodyPr/>
                    <a:lstStyle/>
                    <a:p>
                      <a:pPr indent="0" lvl="0" marL="0" rtl="0" algn="ctr">
                        <a:lnSpc>
                          <a:spcPct val="50000"/>
                        </a:lnSpc>
                        <a:spcBef>
                          <a:spcPts val="0"/>
                        </a:spcBef>
                        <a:spcAft>
                          <a:spcPts val="0"/>
                        </a:spcAft>
                        <a:buNone/>
                      </a:pPr>
                      <a:r>
                        <a:rPr lang="fr" sz="1200">
                          <a:solidFill>
                            <a:schemeClr val="dk1"/>
                          </a:solidFill>
                        </a:rPr>
                        <a:t>62.3</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26.2</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pic>
        <p:nvPicPr>
          <p:cNvPr id="371" name="Google Shape;371;p38" title="output.png"/>
          <p:cNvPicPr preferRelativeResize="0"/>
          <p:nvPr/>
        </p:nvPicPr>
        <p:blipFill>
          <a:blip r:embed="rId4">
            <a:alphaModFix/>
          </a:blip>
          <a:stretch>
            <a:fillRect/>
          </a:stretch>
        </p:blipFill>
        <p:spPr>
          <a:xfrm>
            <a:off x="326400" y="987282"/>
            <a:ext cx="8491200" cy="1778700"/>
          </a:xfrm>
          <a:prstGeom prst="round2DiagRect">
            <a:avLst>
              <a:gd fmla="val 16667" name="adj1"/>
              <a:gd fmla="val 0" name="adj2"/>
            </a:avLst>
          </a:prstGeom>
          <a:noFill/>
          <a:ln>
            <a:noFill/>
          </a:ln>
        </p:spPr>
      </p:pic>
      <p:sp>
        <p:nvSpPr>
          <p:cNvPr id="372" name="Google Shape;372;p38"/>
          <p:cNvSpPr txBox="1"/>
          <p:nvPr/>
        </p:nvSpPr>
        <p:spPr>
          <a:xfrm>
            <a:off x="4437475" y="640325"/>
            <a:ext cx="4297200" cy="3741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900">
                <a:solidFill>
                  <a:schemeClr val="dk1"/>
                </a:solidFill>
                <a:latin typeface="Poppins"/>
                <a:ea typeface="Poppins"/>
                <a:cs typeface="Poppins"/>
                <a:sym typeface="Poppins"/>
              </a:rPr>
              <a:t>Paramétrage : </a:t>
            </a:r>
            <a:r>
              <a:rPr lang="fr" sz="900">
                <a:solidFill>
                  <a:schemeClr val="dk1"/>
                </a:solidFill>
                <a:latin typeface="Poppins"/>
                <a:ea typeface="Poppins"/>
                <a:cs typeface="Poppins"/>
                <a:sym typeface="Poppins"/>
              </a:rPr>
              <a:t>Seuil de confiance (conf_thres) fixé à 0.001.</a:t>
            </a:r>
            <a:endParaRPr sz="900">
              <a:solidFill>
                <a:schemeClr val="dk1"/>
              </a:solidFill>
              <a:latin typeface="Poppins"/>
              <a:ea typeface="Poppins"/>
              <a:cs typeface="Poppins"/>
              <a:sym typeface="Poppins"/>
            </a:endParaRPr>
          </a:p>
          <a:p>
            <a:pPr indent="0" lvl="0" marL="0" marR="0" rtl="0" algn="just">
              <a:lnSpc>
                <a:spcPct val="120000"/>
              </a:lnSpc>
              <a:spcBef>
                <a:spcPts val="0"/>
              </a:spcBef>
              <a:spcAft>
                <a:spcPts val="0"/>
              </a:spcAft>
              <a:buNone/>
            </a:pPr>
            <a:r>
              <a:t/>
            </a:r>
            <a:endParaRPr b="1" sz="900">
              <a:solidFill>
                <a:schemeClr val="dk1"/>
              </a:solidFill>
              <a:latin typeface="Poppins"/>
              <a:ea typeface="Poppins"/>
              <a:cs typeface="Poppins"/>
              <a:sym typeface="Poppins"/>
            </a:endParaRPr>
          </a:p>
        </p:txBody>
      </p:sp>
      <p:sp>
        <p:nvSpPr>
          <p:cNvPr id="373" name="Google Shape;373;p38"/>
          <p:cNvSpPr txBox="1"/>
          <p:nvPr/>
        </p:nvSpPr>
        <p:spPr>
          <a:xfrm>
            <a:off x="615072" y="196783"/>
            <a:ext cx="25845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Reference Pytorch</a:t>
            </a:r>
            <a:endParaRPr sz="1100"/>
          </a:p>
        </p:txBody>
      </p:sp>
      <p:sp>
        <p:nvSpPr>
          <p:cNvPr id="374" name="Google Shape;374;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9"/>
          <p:cNvSpPr/>
          <p:nvPr/>
        </p:nvSpPr>
        <p:spPr>
          <a:xfrm>
            <a:off x="8392850" y="891267"/>
            <a:ext cx="561900" cy="550200"/>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381" name="Google Shape;381;p39"/>
          <p:cNvSpPr/>
          <p:nvPr/>
        </p:nvSpPr>
        <p:spPr>
          <a:xfrm>
            <a:off x="133650" y="2420879"/>
            <a:ext cx="541200" cy="541200"/>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382" name="Google Shape;382;p39"/>
          <p:cNvSpPr txBox="1"/>
          <p:nvPr/>
        </p:nvSpPr>
        <p:spPr>
          <a:xfrm>
            <a:off x="326400" y="640325"/>
            <a:ext cx="4297200" cy="3741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900">
                <a:solidFill>
                  <a:schemeClr val="dk1"/>
                </a:solidFill>
                <a:latin typeface="Poppins"/>
                <a:ea typeface="Poppins"/>
                <a:cs typeface="Poppins"/>
                <a:sym typeface="Poppins"/>
              </a:rPr>
              <a:t>Objectif : </a:t>
            </a:r>
            <a:r>
              <a:rPr lang="fr" sz="900">
                <a:solidFill>
                  <a:schemeClr val="dk1"/>
                </a:solidFill>
                <a:latin typeface="Poppins"/>
                <a:ea typeface="Poppins"/>
                <a:cs typeface="Poppins"/>
                <a:sym typeface="Poppins"/>
              </a:rPr>
              <a:t>Validation de l'inférence sur le modèle officiel converti (.onnx).</a:t>
            </a:r>
            <a:endParaRPr sz="900">
              <a:solidFill>
                <a:schemeClr val="dk1"/>
              </a:solidFill>
              <a:latin typeface="Poppins"/>
              <a:ea typeface="Poppins"/>
              <a:cs typeface="Poppins"/>
              <a:sym typeface="Poppins"/>
            </a:endParaRPr>
          </a:p>
          <a:p>
            <a:pPr indent="0" lvl="0" marL="0" marR="0" rtl="0" algn="just">
              <a:lnSpc>
                <a:spcPct val="120000"/>
              </a:lnSpc>
              <a:spcBef>
                <a:spcPts val="0"/>
              </a:spcBef>
              <a:spcAft>
                <a:spcPts val="0"/>
              </a:spcAft>
              <a:buNone/>
            </a:pPr>
            <a:r>
              <a:rPr b="1" lang="fr" sz="900">
                <a:solidFill>
                  <a:schemeClr val="dk1"/>
                </a:solidFill>
                <a:latin typeface="Poppins"/>
                <a:ea typeface="Poppins"/>
                <a:cs typeface="Poppins"/>
                <a:sym typeface="Poppins"/>
              </a:rPr>
              <a:t>Format :</a:t>
            </a:r>
            <a:r>
              <a:rPr lang="fr" sz="900">
                <a:solidFill>
                  <a:schemeClr val="dk1"/>
                </a:solidFill>
                <a:latin typeface="Poppins"/>
                <a:ea typeface="Poppins"/>
                <a:cs typeface="Poppins"/>
                <a:sym typeface="Poppins"/>
              </a:rPr>
              <a:t> Entrée contrainte en 640 x 640 (vs taille d'origine).</a:t>
            </a:r>
            <a:endParaRPr sz="900">
              <a:solidFill>
                <a:schemeClr val="dk1"/>
              </a:solidFill>
              <a:latin typeface="Poppins"/>
              <a:ea typeface="Poppins"/>
              <a:cs typeface="Poppins"/>
              <a:sym typeface="Poppins"/>
            </a:endParaRPr>
          </a:p>
        </p:txBody>
      </p:sp>
      <p:pic>
        <p:nvPicPr>
          <p:cNvPr id="383" name="Google Shape;383;p39"/>
          <p:cNvPicPr preferRelativeResize="0"/>
          <p:nvPr/>
        </p:nvPicPr>
        <p:blipFill rotWithShape="1">
          <a:blip r:embed="rId3">
            <a:alphaModFix/>
          </a:blip>
          <a:srcRect b="0" l="0" r="0" t="0"/>
          <a:stretch/>
        </p:blipFill>
        <p:spPr>
          <a:xfrm>
            <a:off x="5742109" y="-565093"/>
            <a:ext cx="2650733" cy="1552380"/>
          </a:xfrm>
          <a:prstGeom prst="rect">
            <a:avLst/>
          </a:prstGeom>
          <a:noFill/>
          <a:ln>
            <a:noFill/>
          </a:ln>
        </p:spPr>
      </p:pic>
      <p:sp>
        <p:nvSpPr>
          <p:cNvPr id="384" name="Google Shape;384;p39"/>
          <p:cNvSpPr txBox="1"/>
          <p:nvPr/>
        </p:nvSpPr>
        <p:spPr>
          <a:xfrm>
            <a:off x="4520550" y="2962075"/>
            <a:ext cx="4297200" cy="2070300"/>
          </a:xfrm>
          <a:prstGeom prst="rect">
            <a:avLst/>
          </a:prstGeom>
          <a:noFill/>
          <a:ln>
            <a:noFill/>
          </a:ln>
        </p:spPr>
        <p:txBody>
          <a:bodyPr anchorCtr="0" anchor="t" bIns="34275" lIns="68575" spcFirstLastPara="1" rIns="68575" wrap="square" tIns="34275">
            <a:spAutoFit/>
          </a:bodyPr>
          <a:lstStyle/>
          <a:p>
            <a:pPr indent="-292100" lvl="0" marL="457200" marR="0" rtl="0" algn="just">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Précision (KPIs) : </a:t>
            </a:r>
            <a:r>
              <a:rPr lang="fr" sz="1000">
                <a:solidFill>
                  <a:schemeClr val="dk1"/>
                </a:solidFill>
                <a:latin typeface="Poppins"/>
                <a:ea typeface="Poppins"/>
                <a:cs typeface="Poppins"/>
                <a:sym typeface="Poppins"/>
              </a:rPr>
              <a:t>Légère baisse globale par rapport à la référence PyTorch.</a:t>
            </a:r>
            <a:endParaRPr sz="1000">
              <a:solidFill>
                <a:schemeClr val="dk1"/>
              </a:solidFill>
              <a:latin typeface="Poppins"/>
              <a:ea typeface="Poppins"/>
              <a:cs typeface="Poppins"/>
              <a:sym typeface="Poppins"/>
            </a:endParaRPr>
          </a:p>
          <a:p>
            <a:pPr indent="-292100" lvl="1" marL="914400" marR="0" rtl="0" algn="just">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Cause :</a:t>
            </a:r>
            <a:r>
              <a:rPr lang="fr" sz="1000">
                <a:solidFill>
                  <a:schemeClr val="dk1"/>
                </a:solidFill>
                <a:latin typeface="Poppins"/>
                <a:ea typeface="Poppins"/>
                <a:cs typeface="Poppins"/>
                <a:sym typeface="Poppins"/>
              </a:rPr>
              <a:t> Perte de détails due au redimensionnement.</a:t>
            </a:r>
            <a:endParaRPr sz="1000">
              <a:solidFill>
                <a:schemeClr val="dk1"/>
              </a:solidFill>
              <a:latin typeface="Poppins"/>
              <a:ea typeface="Poppins"/>
              <a:cs typeface="Poppins"/>
              <a:sym typeface="Poppins"/>
            </a:endParaRPr>
          </a:p>
          <a:p>
            <a:pPr indent="-292100" lvl="0" marL="457200" marR="0" rtl="0" algn="just">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Performance (57 FPS) : </a:t>
            </a:r>
            <a:r>
              <a:rPr lang="fr" sz="1000">
                <a:solidFill>
                  <a:schemeClr val="dk1"/>
                </a:solidFill>
                <a:latin typeface="Poppins"/>
                <a:ea typeface="Poppins"/>
                <a:cs typeface="Poppins"/>
                <a:sym typeface="Poppins"/>
              </a:rPr>
              <a:t>Impactée par l'instrumentation du code.</a:t>
            </a:r>
            <a:endParaRPr sz="1000">
              <a:solidFill>
                <a:schemeClr val="dk1"/>
              </a:solidFill>
              <a:latin typeface="Poppins"/>
              <a:ea typeface="Poppins"/>
              <a:cs typeface="Poppins"/>
              <a:sym typeface="Poppins"/>
            </a:endParaRPr>
          </a:p>
          <a:p>
            <a:pPr indent="-292100" lvl="1" marL="914400" marR="0" rtl="0" algn="just">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Cause : </a:t>
            </a:r>
            <a:r>
              <a:rPr lang="fr" sz="1000">
                <a:solidFill>
                  <a:schemeClr val="dk1"/>
                </a:solidFill>
                <a:latin typeface="Poppins"/>
                <a:ea typeface="Poppins"/>
                <a:cs typeface="Poppins"/>
                <a:sym typeface="Poppins"/>
              </a:rPr>
              <a:t>Calcul temps réel des métriques additionnelles (mAP, IoU) durant l'inférence.</a:t>
            </a:r>
            <a:endParaRPr sz="1000">
              <a:solidFill>
                <a:schemeClr val="dk1"/>
              </a:solidFill>
              <a:latin typeface="Poppins"/>
              <a:ea typeface="Poppins"/>
              <a:cs typeface="Poppins"/>
              <a:sym typeface="Poppins"/>
            </a:endParaRPr>
          </a:p>
          <a:p>
            <a:pPr indent="-292100" lvl="0" marL="457200" marR="0" rtl="0" algn="just">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Conclusion : </a:t>
            </a:r>
            <a:r>
              <a:rPr lang="fr" sz="1000">
                <a:solidFill>
                  <a:schemeClr val="dk1"/>
                </a:solidFill>
                <a:latin typeface="Poppins"/>
                <a:ea typeface="Poppins"/>
                <a:cs typeface="Poppins"/>
                <a:sym typeface="Poppins"/>
              </a:rPr>
              <a:t>Performances cohérentes et très proches de la baseline.</a:t>
            </a:r>
            <a:endParaRPr sz="1000">
              <a:solidFill>
                <a:schemeClr val="dk1"/>
              </a:solidFill>
              <a:latin typeface="Poppins"/>
              <a:ea typeface="Poppins"/>
              <a:cs typeface="Poppins"/>
              <a:sym typeface="Poppins"/>
            </a:endParaRPr>
          </a:p>
        </p:txBody>
      </p:sp>
      <p:sp>
        <p:nvSpPr>
          <p:cNvPr id="385" name="Google Shape;385;p39"/>
          <p:cNvSpPr/>
          <p:nvPr/>
        </p:nvSpPr>
        <p:spPr>
          <a:xfrm>
            <a:off x="700871" y="602229"/>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graphicFrame>
        <p:nvGraphicFramePr>
          <p:cNvPr id="386" name="Google Shape;386;p39"/>
          <p:cNvGraphicFramePr/>
          <p:nvPr/>
        </p:nvGraphicFramePr>
        <p:xfrm>
          <a:off x="1053968" y="2962077"/>
          <a:ext cx="3000000" cy="3000000"/>
        </p:xfrm>
        <a:graphic>
          <a:graphicData uri="http://schemas.openxmlformats.org/drawingml/2006/table">
            <a:tbl>
              <a:tblPr>
                <a:noFill/>
                <a:tableStyleId>{F016ABE3-ACDB-41B1-A64A-B1E2F77EB6C7}</a:tableStyleId>
              </a:tblPr>
              <a:tblGrid>
                <a:gridCol w="1014075"/>
                <a:gridCol w="1014075"/>
                <a:gridCol w="1014075"/>
              </a:tblGrid>
              <a:tr h="297150">
                <a:tc gridSpan="3">
                  <a:txBody>
                    <a:bodyPr/>
                    <a:lstStyle/>
                    <a:p>
                      <a:pPr indent="0" lvl="0" marL="0" rtl="0" algn="ctr">
                        <a:lnSpc>
                          <a:spcPct val="50000"/>
                        </a:lnSpc>
                        <a:spcBef>
                          <a:spcPts val="0"/>
                        </a:spcBef>
                        <a:spcAft>
                          <a:spcPts val="0"/>
                        </a:spcAft>
                        <a:buNone/>
                      </a:pPr>
                      <a:r>
                        <a:rPr b="1" lang="fr" sz="1200">
                          <a:solidFill>
                            <a:schemeClr val="lt2"/>
                          </a:solidFill>
                        </a:rPr>
                        <a:t>Traffic Object Detection Result</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hMerge="1"/>
                <a:tc hMerge="1"/>
              </a:tr>
              <a:tr h="297150">
                <a:tc>
                  <a:txBody>
                    <a:bodyPr/>
                    <a:lstStyle/>
                    <a:p>
                      <a:pPr indent="0" lvl="0" marL="0" rtl="0" algn="ctr">
                        <a:lnSpc>
                          <a:spcPct val="50000"/>
                        </a:lnSpc>
                        <a:spcBef>
                          <a:spcPts val="0"/>
                        </a:spcBef>
                        <a:spcAft>
                          <a:spcPts val="0"/>
                        </a:spcAft>
                        <a:buNone/>
                      </a:pPr>
                      <a:r>
                        <a:rPr b="1" lang="fr" sz="1200">
                          <a:solidFill>
                            <a:schemeClr val="lt2"/>
                          </a:solidFill>
                        </a:rPr>
                        <a:t>Recall(%)</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rtl="0" algn="ctr">
                        <a:lnSpc>
                          <a:spcPct val="50000"/>
                        </a:lnSpc>
                        <a:spcBef>
                          <a:spcPts val="0"/>
                        </a:spcBef>
                        <a:spcAft>
                          <a:spcPts val="0"/>
                        </a:spcAft>
                        <a:buNone/>
                      </a:pPr>
                      <a:r>
                        <a:rPr b="1" lang="fr" sz="1200">
                          <a:solidFill>
                            <a:schemeClr val="lt2"/>
                          </a:solidFill>
                        </a:rPr>
                        <a:t>mAP50(%)</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rtl="0" algn="ctr">
                        <a:lnSpc>
                          <a:spcPct val="50000"/>
                        </a:lnSpc>
                        <a:spcBef>
                          <a:spcPts val="0"/>
                        </a:spcBef>
                        <a:spcAft>
                          <a:spcPts val="0"/>
                        </a:spcAft>
                        <a:buNone/>
                      </a:pPr>
                      <a:r>
                        <a:rPr b="1" lang="fr" sz="1200">
                          <a:solidFill>
                            <a:schemeClr val="lt2"/>
                          </a:solidFill>
                        </a:rPr>
                        <a:t>Speed(fps)</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r>
              <a:tr h="297150">
                <a:tc>
                  <a:txBody>
                    <a:bodyPr/>
                    <a:lstStyle/>
                    <a:p>
                      <a:pPr indent="0" lvl="0" marL="0" rtl="0" algn="ctr">
                        <a:lnSpc>
                          <a:spcPct val="50000"/>
                        </a:lnSpc>
                        <a:spcBef>
                          <a:spcPts val="0"/>
                        </a:spcBef>
                        <a:spcAft>
                          <a:spcPts val="0"/>
                        </a:spcAft>
                        <a:buNone/>
                      </a:pPr>
                      <a:r>
                        <a:rPr lang="fr" sz="1200">
                          <a:solidFill>
                            <a:schemeClr val="dk1"/>
                          </a:solidFill>
                        </a:rPr>
                        <a:t>89.11</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71.94</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90</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graphicFrame>
        <p:nvGraphicFramePr>
          <p:cNvPr id="387" name="Google Shape;387;p39"/>
          <p:cNvGraphicFramePr/>
          <p:nvPr/>
        </p:nvGraphicFramePr>
        <p:xfrm>
          <a:off x="526706" y="3971687"/>
          <a:ext cx="3000000" cy="3000000"/>
        </p:xfrm>
        <a:graphic>
          <a:graphicData uri="http://schemas.openxmlformats.org/drawingml/2006/table">
            <a:tbl>
              <a:tblPr>
                <a:noFill/>
                <a:tableStyleId>{F016ABE3-ACDB-41B1-A64A-B1E2F77EB6C7}</a:tableStyleId>
              </a:tblPr>
              <a:tblGrid>
                <a:gridCol w="1014075"/>
                <a:gridCol w="1014075"/>
              </a:tblGrid>
              <a:tr h="297150">
                <a:tc gridSpan="2">
                  <a:txBody>
                    <a:bodyPr/>
                    <a:lstStyle/>
                    <a:p>
                      <a:pPr indent="0" lvl="0" marL="0" rtl="0" algn="ctr">
                        <a:lnSpc>
                          <a:spcPct val="50000"/>
                        </a:lnSpc>
                        <a:spcBef>
                          <a:spcPts val="0"/>
                        </a:spcBef>
                        <a:spcAft>
                          <a:spcPts val="0"/>
                        </a:spcAft>
                        <a:buNone/>
                      </a:pPr>
                      <a:r>
                        <a:rPr b="1" lang="fr" sz="1200">
                          <a:solidFill>
                            <a:schemeClr val="lt2"/>
                          </a:solidFill>
                        </a:rPr>
                        <a:t>Drivable Area Segmentation</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c hMerge="1"/>
              </a:tr>
              <a:tr h="297150">
                <a:tc>
                  <a:txBody>
                    <a:bodyPr/>
                    <a:lstStyle/>
                    <a:p>
                      <a:pPr indent="0" lvl="0" marL="0" rtl="0" algn="ctr">
                        <a:lnSpc>
                          <a:spcPct val="50000"/>
                        </a:lnSpc>
                        <a:spcBef>
                          <a:spcPts val="0"/>
                        </a:spcBef>
                        <a:spcAft>
                          <a:spcPts val="0"/>
                        </a:spcAft>
                        <a:buNone/>
                      </a:pPr>
                      <a:r>
                        <a:rPr b="1" lang="fr" sz="1200">
                          <a:solidFill>
                            <a:schemeClr val="lt2"/>
                          </a:solidFill>
                        </a:rPr>
                        <a:t>mIOU(%)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c>
                  <a:txBody>
                    <a:bodyPr/>
                    <a:lstStyle/>
                    <a:p>
                      <a:pPr indent="0" lvl="0" marL="0" rtl="0" algn="ctr">
                        <a:lnSpc>
                          <a:spcPct val="50000"/>
                        </a:lnSpc>
                        <a:spcBef>
                          <a:spcPts val="0"/>
                        </a:spcBef>
                        <a:spcAft>
                          <a:spcPts val="0"/>
                        </a:spcAft>
                        <a:buNone/>
                      </a:pPr>
                      <a:r>
                        <a:rPr b="1" lang="fr" sz="1200">
                          <a:solidFill>
                            <a:schemeClr val="lt2"/>
                          </a:solidFill>
                        </a:rPr>
                        <a:t>Speed(fps)</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r>
              <a:tr h="297150">
                <a:tc>
                  <a:txBody>
                    <a:bodyPr/>
                    <a:lstStyle/>
                    <a:p>
                      <a:pPr indent="0" lvl="0" marL="0" rtl="0" algn="ctr">
                        <a:lnSpc>
                          <a:spcPct val="50000"/>
                        </a:lnSpc>
                        <a:spcBef>
                          <a:spcPts val="0"/>
                        </a:spcBef>
                        <a:spcAft>
                          <a:spcPts val="0"/>
                        </a:spcAft>
                        <a:buNone/>
                      </a:pPr>
                      <a:r>
                        <a:rPr lang="fr" sz="1200">
                          <a:solidFill>
                            <a:schemeClr val="dk1"/>
                          </a:solidFill>
                        </a:rPr>
                        <a:t>91.24</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90</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graphicFrame>
        <p:nvGraphicFramePr>
          <p:cNvPr id="388" name="Google Shape;388;p39"/>
          <p:cNvGraphicFramePr/>
          <p:nvPr/>
        </p:nvGraphicFramePr>
        <p:xfrm>
          <a:off x="2595306" y="4005974"/>
          <a:ext cx="3000000" cy="3000000"/>
        </p:xfrm>
        <a:graphic>
          <a:graphicData uri="http://schemas.openxmlformats.org/drawingml/2006/table">
            <a:tbl>
              <a:tblPr>
                <a:noFill/>
                <a:tableStyleId>{F016ABE3-ACDB-41B1-A64A-B1E2F77EB6C7}</a:tableStyleId>
              </a:tblPr>
              <a:tblGrid>
                <a:gridCol w="1014075"/>
                <a:gridCol w="1014075"/>
              </a:tblGrid>
              <a:tr h="297150">
                <a:tc gridSpan="2">
                  <a:txBody>
                    <a:bodyPr/>
                    <a:lstStyle/>
                    <a:p>
                      <a:pPr indent="0" lvl="0" marL="0" rtl="0" algn="ctr">
                        <a:lnSpc>
                          <a:spcPct val="50000"/>
                        </a:lnSpc>
                        <a:spcBef>
                          <a:spcPts val="0"/>
                        </a:spcBef>
                        <a:spcAft>
                          <a:spcPts val="0"/>
                        </a:spcAft>
                        <a:buNone/>
                      </a:pPr>
                      <a:r>
                        <a:rPr b="1" lang="fr" sz="1200">
                          <a:solidFill>
                            <a:schemeClr val="lt2"/>
                          </a:solidFill>
                        </a:rPr>
                        <a:t>Lane Detection</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hMerge="1"/>
              </a:tr>
              <a:tr h="297150">
                <a:tc>
                  <a:txBody>
                    <a:bodyPr/>
                    <a:lstStyle/>
                    <a:p>
                      <a:pPr indent="0" lvl="0" marL="0" rtl="0" algn="ctr">
                        <a:lnSpc>
                          <a:spcPct val="50000"/>
                        </a:lnSpc>
                        <a:spcBef>
                          <a:spcPts val="0"/>
                        </a:spcBef>
                        <a:spcAft>
                          <a:spcPts val="0"/>
                        </a:spcAft>
                        <a:buNone/>
                      </a:pPr>
                      <a:r>
                        <a:rPr b="1" lang="fr" sz="1200">
                          <a:solidFill>
                            <a:schemeClr val="lt2"/>
                          </a:solidFill>
                        </a:rPr>
                        <a:t>mIOU(%)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a:txBody>
                    <a:bodyPr/>
                    <a:lstStyle/>
                    <a:p>
                      <a:pPr indent="0" lvl="0" marL="0" rtl="0" algn="ctr">
                        <a:lnSpc>
                          <a:spcPct val="50000"/>
                        </a:lnSpc>
                        <a:spcBef>
                          <a:spcPts val="0"/>
                        </a:spcBef>
                        <a:spcAft>
                          <a:spcPts val="0"/>
                        </a:spcAft>
                        <a:buNone/>
                      </a:pPr>
                      <a:r>
                        <a:rPr b="1" lang="fr" sz="1200">
                          <a:solidFill>
                            <a:schemeClr val="lt2"/>
                          </a:solidFill>
                        </a:rPr>
                        <a:t>IOU</a:t>
                      </a:r>
                      <a:r>
                        <a:rPr b="1" lang="fr" sz="1200">
                          <a:solidFill>
                            <a:schemeClr val="lt2"/>
                          </a:solidFill>
                        </a:rPr>
                        <a:t>(%)</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r>
              <a:tr h="297150">
                <a:tc>
                  <a:txBody>
                    <a:bodyPr/>
                    <a:lstStyle/>
                    <a:p>
                      <a:pPr indent="0" lvl="0" marL="0" rtl="0" algn="ctr">
                        <a:lnSpc>
                          <a:spcPct val="50000"/>
                        </a:lnSpc>
                        <a:spcBef>
                          <a:spcPts val="0"/>
                        </a:spcBef>
                        <a:spcAft>
                          <a:spcPts val="0"/>
                        </a:spcAft>
                        <a:buNone/>
                      </a:pPr>
                      <a:r>
                        <a:rPr lang="fr" sz="1200">
                          <a:solidFill>
                            <a:schemeClr val="dk1"/>
                          </a:solidFill>
                        </a:rPr>
                        <a:t>59.5</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20.7</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pic>
        <p:nvPicPr>
          <p:cNvPr id="389" name="Google Shape;389;p39" title="output3333.png"/>
          <p:cNvPicPr preferRelativeResize="0"/>
          <p:nvPr/>
        </p:nvPicPr>
        <p:blipFill rotWithShape="1">
          <a:blip r:embed="rId4">
            <a:alphaModFix/>
          </a:blip>
          <a:srcRect b="0" l="0" r="0" t="0"/>
          <a:stretch/>
        </p:blipFill>
        <p:spPr>
          <a:xfrm>
            <a:off x="326400" y="987282"/>
            <a:ext cx="8491200" cy="1778700"/>
          </a:xfrm>
          <a:prstGeom prst="round2DiagRect">
            <a:avLst>
              <a:gd fmla="val 16667" name="adj1"/>
              <a:gd fmla="val 0" name="adj2"/>
            </a:avLst>
          </a:prstGeom>
          <a:noFill/>
          <a:ln>
            <a:noFill/>
          </a:ln>
        </p:spPr>
      </p:pic>
      <p:sp>
        <p:nvSpPr>
          <p:cNvPr id="390" name="Google Shape;390;p39"/>
          <p:cNvSpPr txBox="1"/>
          <p:nvPr/>
        </p:nvSpPr>
        <p:spPr>
          <a:xfrm>
            <a:off x="4572000" y="640325"/>
            <a:ext cx="4162800" cy="3741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900">
                <a:solidFill>
                  <a:schemeClr val="dk1"/>
                </a:solidFill>
                <a:latin typeface="Poppins"/>
                <a:ea typeface="Poppins"/>
                <a:cs typeface="Poppins"/>
                <a:sym typeface="Poppins"/>
              </a:rPr>
              <a:t>Protocole : </a:t>
            </a:r>
            <a:r>
              <a:rPr lang="fr" sz="900">
                <a:solidFill>
                  <a:schemeClr val="dk1"/>
                </a:solidFill>
                <a:latin typeface="Poppins"/>
                <a:ea typeface="Poppins"/>
                <a:cs typeface="Poppins"/>
                <a:sym typeface="Poppins"/>
              </a:rPr>
              <a:t>Conservation stricte des paramètres de référence (conf_thres=0.001).</a:t>
            </a:r>
            <a:endParaRPr sz="900">
              <a:solidFill>
                <a:schemeClr val="dk1"/>
              </a:solidFill>
              <a:latin typeface="Poppins"/>
              <a:ea typeface="Poppins"/>
              <a:cs typeface="Poppins"/>
              <a:sym typeface="Poppins"/>
            </a:endParaRPr>
          </a:p>
        </p:txBody>
      </p:sp>
      <p:sp>
        <p:nvSpPr>
          <p:cNvPr id="391" name="Google Shape;391;p39"/>
          <p:cNvSpPr txBox="1"/>
          <p:nvPr/>
        </p:nvSpPr>
        <p:spPr>
          <a:xfrm>
            <a:off x="615079" y="196775"/>
            <a:ext cx="55881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Inférence du modèle ONNX 640 x 640 </a:t>
            </a:r>
            <a:endParaRPr sz="1100"/>
          </a:p>
        </p:txBody>
      </p:sp>
      <p:sp>
        <p:nvSpPr>
          <p:cNvPr id="392" name="Google Shape;392;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0"/>
          <p:cNvSpPr/>
          <p:nvPr/>
        </p:nvSpPr>
        <p:spPr>
          <a:xfrm>
            <a:off x="0" y="0"/>
            <a:ext cx="3889200" cy="5064300"/>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399" name="Google Shape;399;p40"/>
          <p:cNvSpPr/>
          <p:nvPr/>
        </p:nvSpPr>
        <p:spPr>
          <a:xfrm>
            <a:off x="2451648" y="690566"/>
            <a:ext cx="439800" cy="430500"/>
          </a:xfrm>
          <a:prstGeom prst="rect">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00" name="Google Shape;400;p40"/>
          <p:cNvSpPr/>
          <p:nvPr/>
        </p:nvSpPr>
        <p:spPr>
          <a:xfrm>
            <a:off x="984725" y="3652161"/>
            <a:ext cx="466200" cy="466200"/>
          </a:xfrm>
          <a:prstGeom prst="ellipse">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01" name="Google Shape;401;p40"/>
          <p:cNvSpPr/>
          <p:nvPr/>
        </p:nvSpPr>
        <p:spPr>
          <a:xfrm>
            <a:off x="384121" y="737946"/>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02" name="Google Shape;402;p40"/>
          <p:cNvSpPr txBox="1"/>
          <p:nvPr/>
        </p:nvSpPr>
        <p:spPr>
          <a:xfrm>
            <a:off x="3889200" y="249675"/>
            <a:ext cx="5254800" cy="48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800"/>
              </a:spcBef>
              <a:spcAft>
                <a:spcPts val="0"/>
              </a:spcAft>
              <a:buNone/>
            </a:pPr>
            <a:r>
              <a:rPr b="1" lang="fr" sz="1300">
                <a:solidFill>
                  <a:schemeClr val="dk1"/>
                </a:solidFill>
                <a:latin typeface="Poppins"/>
                <a:ea typeface="Poppins"/>
                <a:cs typeface="Poppins"/>
                <a:sym typeface="Poppins"/>
              </a:rPr>
              <a:t>Pré-traitement et Simplification </a:t>
            </a:r>
            <a:r>
              <a:rPr b="1" lang="fr" sz="1300">
                <a:solidFill>
                  <a:schemeClr val="dk1"/>
                </a:solidFill>
                <a:latin typeface="Poppins"/>
                <a:ea typeface="Poppins"/>
                <a:cs typeface="Poppins"/>
                <a:sym typeface="Poppins"/>
              </a:rPr>
              <a:t>(Modèle FP32)</a:t>
            </a:r>
            <a:endParaRPr b="1" sz="1300">
              <a:solidFill>
                <a:schemeClr val="dk1"/>
              </a:solidFill>
              <a:latin typeface="Poppins"/>
              <a:ea typeface="Poppins"/>
              <a:cs typeface="Poppins"/>
              <a:sym typeface="Poppins"/>
            </a:endParaRPr>
          </a:p>
          <a:p>
            <a:pPr indent="-292100" lvl="0" marL="457200" marR="0" rtl="0" algn="l">
              <a:lnSpc>
                <a:spcPct val="90000"/>
              </a:lnSpc>
              <a:spcBef>
                <a:spcPts val="800"/>
              </a:spcBef>
              <a:spcAft>
                <a:spcPts val="0"/>
              </a:spcAft>
              <a:buClr>
                <a:schemeClr val="dk1"/>
              </a:buClr>
              <a:buSzPts val="1000"/>
              <a:buFont typeface="Poppins"/>
              <a:buChar char="●"/>
            </a:pPr>
            <a:r>
              <a:rPr b="1" lang="fr" sz="1200">
                <a:solidFill>
                  <a:schemeClr val="dk1"/>
                </a:solidFill>
                <a:latin typeface="Poppins"/>
                <a:ea typeface="Poppins"/>
                <a:cs typeface="Poppins"/>
                <a:sym typeface="Poppins"/>
              </a:rPr>
              <a:t>Objectif : </a:t>
            </a:r>
            <a:r>
              <a:rPr lang="fr" sz="1200">
                <a:solidFill>
                  <a:schemeClr val="dk1"/>
                </a:solidFill>
                <a:latin typeface="Poppins"/>
                <a:ea typeface="Poppins"/>
                <a:cs typeface="Poppins"/>
                <a:sym typeface="Poppins"/>
              </a:rPr>
              <a:t>Simplifier le graphe computationnel.</a:t>
            </a:r>
            <a:endParaRPr sz="1200">
              <a:solidFill>
                <a:schemeClr val="dk1"/>
              </a:solidFill>
              <a:latin typeface="Poppins"/>
              <a:ea typeface="Poppins"/>
              <a:cs typeface="Poppins"/>
              <a:sym typeface="Poppins"/>
            </a:endParaRPr>
          </a:p>
          <a:p>
            <a:pPr indent="-292100" lvl="0" marL="457200" marR="0" rtl="0" algn="l">
              <a:lnSpc>
                <a:spcPct val="90000"/>
              </a:lnSpc>
              <a:spcBef>
                <a:spcPts val="0"/>
              </a:spcBef>
              <a:spcAft>
                <a:spcPts val="0"/>
              </a:spcAft>
              <a:buClr>
                <a:schemeClr val="dk1"/>
              </a:buClr>
              <a:buSzPts val="1000"/>
              <a:buFont typeface="Poppins"/>
              <a:buChar char="●"/>
            </a:pPr>
            <a:r>
              <a:rPr b="1" lang="fr" sz="1200">
                <a:solidFill>
                  <a:schemeClr val="dk1"/>
                </a:solidFill>
                <a:latin typeface="Poppins"/>
                <a:ea typeface="Poppins"/>
                <a:cs typeface="Poppins"/>
                <a:sym typeface="Poppins"/>
              </a:rPr>
              <a:t>Action : </a:t>
            </a:r>
            <a:r>
              <a:rPr lang="fr" sz="1200">
                <a:solidFill>
                  <a:schemeClr val="dk1"/>
                </a:solidFill>
                <a:latin typeface="Poppins"/>
                <a:ea typeface="Poppins"/>
                <a:cs typeface="Poppins"/>
                <a:sym typeface="Poppins"/>
              </a:rPr>
              <a:t>Fusion d'opérateurs (ex: Conv + BatchNorm + ReLU).</a:t>
            </a:r>
            <a:endParaRPr sz="1200">
              <a:solidFill>
                <a:schemeClr val="dk1"/>
              </a:solidFill>
              <a:latin typeface="Poppins"/>
              <a:ea typeface="Poppins"/>
              <a:cs typeface="Poppins"/>
              <a:sym typeface="Poppins"/>
            </a:endParaRPr>
          </a:p>
          <a:p>
            <a:pPr indent="-292100" lvl="0" marL="457200" marR="0" rtl="0" algn="l">
              <a:lnSpc>
                <a:spcPct val="90000"/>
              </a:lnSpc>
              <a:spcBef>
                <a:spcPts val="0"/>
              </a:spcBef>
              <a:spcAft>
                <a:spcPts val="0"/>
              </a:spcAft>
              <a:buClr>
                <a:schemeClr val="dk1"/>
              </a:buClr>
              <a:buSzPts val="1000"/>
              <a:buFont typeface="Poppins"/>
              <a:buChar char="●"/>
            </a:pPr>
            <a:r>
              <a:rPr b="1" lang="fr" sz="1200">
                <a:solidFill>
                  <a:schemeClr val="dk1"/>
                </a:solidFill>
                <a:latin typeface="Poppins"/>
                <a:ea typeface="Poppins"/>
                <a:cs typeface="Poppins"/>
                <a:sym typeface="Poppins"/>
              </a:rPr>
              <a:t>Gain : </a:t>
            </a:r>
            <a:r>
              <a:rPr lang="fr" sz="1200">
                <a:solidFill>
                  <a:schemeClr val="dk1"/>
                </a:solidFill>
                <a:latin typeface="Poppins"/>
                <a:ea typeface="Poppins"/>
                <a:cs typeface="Poppins"/>
                <a:sym typeface="Poppins"/>
              </a:rPr>
              <a:t>Réduit la complexité, assure une calibration plus stable.</a:t>
            </a:r>
            <a:endParaRPr sz="1200">
              <a:solidFill>
                <a:schemeClr val="dk1"/>
              </a:solidFill>
              <a:latin typeface="Poppins"/>
              <a:ea typeface="Poppins"/>
              <a:cs typeface="Poppins"/>
              <a:sym typeface="Poppins"/>
            </a:endParaRPr>
          </a:p>
          <a:p>
            <a:pPr indent="0" lvl="0" marL="0" marR="0" rtl="0" algn="l">
              <a:lnSpc>
                <a:spcPct val="90000"/>
              </a:lnSpc>
              <a:spcBef>
                <a:spcPts val="800"/>
              </a:spcBef>
              <a:spcAft>
                <a:spcPts val="0"/>
              </a:spcAft>
              <a:buNone/>
            </a:pPr>
            <a:r>
              <a:rPr b="1" lang="fr" sz="1300">
                <a:solidFill>
                  <a:schemeClr val="dk1"/>
                </a:solidFill>
                <a:latin typeface="Poppins"/>
                <a:ea typeface="Poppins"/>
                <a:cs typeface="Poppins"/>
                <a:sym typeface="Poppins"/>
              </a:rPr>
              <a:t>Méthode de calibration : </a:t>
            </a:r>
            <a:r>
              <a:rPr b="1" lang="fr" sz="1300" u="sng">
                <a:solidFill>
                  <a:schemeClr val="dk1"/>
                </a:solidFill>
                <a:latin typeface="Poppins"/>
                <a:ea typeface="Poppins"/>
                <a:cs typeface="Poppins"/>
                <a:sym typeface="Poppins"/>
              </a:rPr>
              <a:t>Entropy</a:t>
            </a:r>
            <a:endParaRPr b="1" sz="1300" u="sng">
              <a:solidFill>
                <a:schemeClr val="dk1"/>
              </a:solidFill>
              <a:latin typeface="Poppins"/>
              <a:ea typeface="Poppins"/>
              <a:cs typeface="Poppins"/>
              <a:sym typeface="Poppins"/>
            </a:endParaRPr>
          </a:p>
          <a:p>
            <a:pPr indent="-292100" lvl="0" marL="457200" marR="0" rtl="0" algn="l">
              <a:lnSpc>
                <a:spcPct val="90000"/>
              </a:lnSpc>
              <a:spcBef>
                <a:spcPts val="800"/>
              </a:spcBef>
              <a:spcAft>
                <a:spcPts val="0"/>
              </a:spcAft>
              <a:buClr>
                <a:schemeClr val="dk1"/>
              </a:buClr>
              <a:buSzPts val="1000"/>
              <a:buFont typeface="Poppins"/>
              <a:buChar char="●"/>
            </a:pPr>
            <a:r>
              <a:rPr b="1" lang="fr" sz="1200">
                <a:solidFill>
                  <a:schemeClr val="dk1"/>
                </a:solidFill>
                <a:latin typeface="Poppins"/>
                <a:ea typeface="Poppins"/>
                <a:cs typeface="Poppins"/>
                <a:sym typeface="Poppins"/>
              </a:rPr>
              <a:t>Choix : </a:t>
            </a:r>
            <a:r>
              <a:rPr lang="fr" sz="1200">
                <a:solidFill>
                  <a:schemeClr val="dk1"/>
                </a:solidFill>
                <a:latin typeface="Poppins"/>
                <a:ea typeface="Poppins"/>
                <a:cs typeface="Poppins"/>
                <a:sym typeface="Poppins"/>
              </a:rPr>
              <a:t>L'Entropie (sélectionnée parmi MinMax, Percentile et Entropy).</a:t>
            </a:r>
            <a:endParaRPr sz="1200">
              <a:solidFill>
                <a:schemeClr val="dk1"/>
              </a:solidFill>
              <a:latin typeface="Poppins"/>
              <a:ea typeface="Poppins"/>
              <a:cs typeface="Poppins"/>
              <a:sym typeface="Poppins"/>
            </a:endParaRPr>
          </a:p>
          <a:p>
            <a:pPr indent="-292100" lvl="0" marL="457200" marR="0" rtl="0" algn="l">
              <a:lnSpc>
                <a:spcPct val="90000"/>
              </a:lnSpc>
              <a:spcBef>
                <a:spcPts val="0"/>
              </a:spcBef>
              <a:spcAft>
                <a:spcPts val="0"/>
              </a:spcAft>
              <a:buClr>
                <a:schemeClr val="dk1"/>
              </a:buClr>
              <a:buSzPts val="1000"/>
              <a:buFont typeface="Poppins"/>
              <a:buChar char="●"/>
            </a:pPr>
            <a:r>
              <a:rPr b="1" lang="fr" sz="1200">
                <a:solidFill>
                  <a:schemeClr val="dk1"/>
                </a:solidFill>
                <a:latin typeface="Poppins"/>
                <a:ea typeface="Poppins"/>
                <a:cs typeface="Poppins"/>
                <a:sym typeface="Poppins"/>
              </a:rPr>
              <a:t>Principe : </a:t>
            </a:r>
            <a:r>
              <a:rPr lang="fr" sz="1200">
                <a:solidFill>
                  <a:schemeClr val="dk1"/>
                </a:solidFill>
                <a:latin typeface="Poppins"/>
                <a:ea typeface="Poppins"/>
                <a:cs typeface="Poppins"/>
                <a:sym typeface="Poppins"/>
              </a:rPr>
              <a:t>Cherche le seuil optimal minimisant la perte d'information entre Float32 et Int8, contrairement au MinMax sensible aux extrêmes.</a:t>
            </a:r>
            <a:endParaRPr sz="1200">
              <a:solidFill>
                <a:schemeClr val="dk1"/>
              </a:solidFill>
              <a:latin typeface="Poppins"/>
              <a:ea typeface="Poppins"/>
              <a:cs typeface="Poppins"/>
              <a:sym typeface="Poppins"/>
            </a:endParaRPr>
          </a:p>
          <a:p>
            <a:pPr indent="-292100" lvl="0" marL="457200" marR="0" rtl="0" algn="l">
              <a:lnSpc>
                <a:spcPct val="90000"/>
              </a:lnSpc>
              <a:spcBef>
                <a:spcPts val="0"/>
              </a:spcBef>
              <a:spcAft>
                <a:spcPts val="0"/>
              </a:spcAft>
              <a:buClr>
                <a:schemeClr val="dk1"/>
              </a:buClr>
              <a:buSzPts val="1000"/>
              <a:buFont typeface="Poppins"/>
              <a:buChar char="●"/>
            </a:pPr>
            <a:r>
              <a:rPr b="1" lang="fr" sz="1200">
                <a:solidFill>
                  <a:schemeClr val="dk1"/>
                </a:solidFill>
                <a:latin typeface="Poppins"/>
                <a:ea typeface="Poppins"/>
                <a:cs typeface="Poppins"/>
                <a:sym typeface="Poppins"/>
              </a:rPr>
              <a:t>Fonctionnement : </a:t>
            </a:r>
            <a:r>
              <a:rPr lang="fr" sz="1200">
                <a:solidFill>
                  <a:schemeClr val="dk1"/>
                </a:solidFill>
                <a:latin typeface="Poppins"/>
                <a:ea typeface="Poppins"/>
                <a:cs typeface="Poppins"/>
                <a:sym typeface="Poppins"/>
              </a:rPr>
              <a:t>Utilise la Divergence de Kullback-Leibler pour mesurer l'écart entre les distributions originale (P) et quantifiée (Q).</a:t>
            </a:r>
            <a:endParaRPr sz="1200">
              <a:solidFill>
                <a:schemeClr val="dk1"/>
              </a:solidFill>
              <a:latin typeface="Poppins"/>
              <a:ea typeface="Poppins"/>
              <a:cs typeface="Poppins"/>
              <a:sym typeface="Poppins"/>
            </a:endParaRPr>
          </a:p>
          <a:p>
            <a:pPr indent="0" lvl="0" marL="0" marR="0" rtl="0" algn="l">
              <a:lnSpc>
                <a:spcPct val="90000"/>
              </a:lnSpc>
              <a:spcBef>
                <a:spcPts val="800"/>
              </a:spcBef>
              <a:spcAft>
                <a:spcPts val="0"/>
              </a:spcAft>
              <a:buNone/>
            </a:pPr>
            <a:r>
              <a:rPr b="1" lang="fr" sz="1300">
                <a:solidFill>
                  <a:schemeClr val="dk1"/>
                </a:solidFill>
                <a:latin typeface="Poppins"/>
                <a:ea typeface="Poppins"/>
                <a:cs typeface="Poppins"/>
                <a:sym typeface="Poppins"/>
              </a:rPr>
              <a:t>Réglages</a:t>
            </a:r>
            <a:endParaRPr b="1" sz="1300">
              <a:solidFill>
                <a:schemeClr val="dk1"/>
              </a:solidFill>
              <a:latin typeface="Poppins"/>
              <a:ea typeface="Poppins"/>
              <a:cs typeface="Poppins"/>
              <a:sym typeface="Poppins"/>
            </a:endParaRPr>
          </a:p>
          <a:p>
            <a:pPr indent="-292100" lvl="0" marL="457200" marR="0" rtl="0" algn="l">
              <a:lnSpc>
                <a:spcPct val="90000"/>
              </a:lnSpc>
              <a:spcBef>
                <a:spcPts val="800"/>
              </a:spcBef>
              <a:spcAft>
                <a:spcPts val="0"/>
              </a:spcAft>
              <a:buClr>
                <a:schemeClr val="dk1"/>
              </a:buClr>
              <a:buSzPts val="1000"/>
              <a:buFont typeface="Poppins"/>
              <a:buChar char="●"/>
            </a:pPr>
            <a:r>
              <a:rPr b="1" lang="fr" sz="1200">
                <a:solidFill>
                  <a:schemeClr val="dk1"/>
                </a:solidFill>
                <a:latin typeface="Poppins"/>
                <a:ea typeface="Poppins"/>
                <a:cs typeface="Poppins"/>
                <a:sym typeface="Poppins"/>
              </a:rPr>
              <a:t>QDQ : </a:t>
            </a:r>
            <a:r>
              <a:rPr lang="fr" sz="1200">
                <a:solidFill>
                  <a:schemeClr val="dk1"/>
                </a:solidFill>
                <a:latin typeface="Poppins"/>
                <a:ea typeface="Poppins"/>
                <a:cs typeface="Poppins"/>
                <a:sym typeface="Poppins"/>
              </a:rPr>
              <a:t>Format moderne (nœuds Quantize/Dequantize) assurant la compatibilité avec les accélérateurs matériels.</a:t>
            </a:r>
            <a:endParaRPr sz="1200">
              <a:solidFill>
                <a:schemeClr val="dk1"/>
              </a:solidFill>
              <a:latin typeface="Poppins"/>
              <a:ea typeface="Poppins"/>
              <a:cs typeface="Poppins"/>
              <a:sym typeface="Poppins"/>
            </a:endParaRPr>
          </a:p>
          <a:p>
            <a:pPr indent="-292100" lvl="0" marL="457200" marR="0" rtl="0" algn="l">
              <a:lnSpc>
                <a:spcPct val="90000"/>
              </a:lnSpc>
              <a:spcBef>
                <a:spcPts val="0"/>
              </a:spcBef>
              <a:spcAft>
                <a:spcPts val="0"/>
              </a:spcAft>
              <a:buClr>
                <a:schemeClr val="dk1"/>
              </a:buClr>
              <a:buSzPts val="1000"/>
              <a:buFont typeface="Poppins"/>
              <a:buChar char="●"/>
            </a:pPr>
            <a:r>
              <a:rPr b="1" lang="fr" sz="1200">
                <a:solidFill>
                  <a:schemeClr val="dk1"/>
                </a:solidFill>
                <a:latin typeface="Poppins"/>
                <a:ea typeface="Poppins"/>
                <a:cs typeface="Poppins"/>
                <a:sym typeface="Poppins"/>
              </a:rPr>
              <a:t>Activations (QUInt8) : </a:t>
            </a:r>
            <a:r>
              <a:rPr lang="fr" sz="1200">
                <a:solidFill>
                  <a:schemeClr val="dk1"/>
                </a:solidFill>
                <a:latin typeface="Poppins"/>
                <a:ea typeface="Poppins"/>
                <a:cs typeface="Poppins"/>
                <a:sym typeface="Poppins"/>
              </a:rPr>
              <a:t>Non-signées (0-255), offre une meilleure résolution pour les sorties ReLU.</a:t>
            </a:r>
            <a:endParaRPr sz="1200">
              <a:solidFill>
                <a:schemeClr val="dk1"/>
              </a:solidFill>
              <a:latin typeface="Poppins"/>
              <a:ea typeface="Poppins"/>
              <a:cs typeface="Poppins"/>
              <a:sym typeface="Poppins"/>
            </a:endParaRPr>
          </a:p>
          <a:p>
            <a:pPr indent="-292100" lvl="0" marL="457200" marR="0" rtl="0" algn="l">
              <a:lnSpc>
                <a:spcPct val="90000"/>
              </a:lnSpc>
              <a:spcBef>
                <a:spcPts val="0"/>
              </a:spcBef>
              <a:spcAft>
                <a:spcPts val="0"/>
              </a:spcAft>
              <a:buClr>
                <a:schemeClr val="dk1"/>
              </a:buClr>
              <a:buSzPts val="1000"/>
              <a:buFont typeface="Poppins"/>
              <a:buChar char="●"/>
            </a:pPr>
            <a:r>
              <a:rPr b="1" lang="fr" sz="1200">
                <a:solidFill>
                  <a:schemeClr val="dk1"/>
                </a:solidFill>
                <a:latin typeface="Poppins"/>
                <a:ea typeface="Poppins"/>
                <a:cs typeface="Poppins"/>
                <a:sym typeface="Poppins"/>
              </a:rPr>
              <a:t>Poids (QInt8) : </a:t>
            </a:r>
            <a:r>
              <a:rPr lang="fr" sz="1200">
                <a:solidFill>
                  <a:schemeClr val="dk1"/>
                </a:solidFill>
                <a:latin typeface="Poppins"/>
                <a:ea typeface="Poppins"/>
                <a:cs typeface="Poppins"/>
                <a:sym typeface="Poppins"/>
              </a:rPr>
              <a:t>Signé (-128 à 127), requis pour les poids centrés autour de 0.</a:t>
            </a:r>
            <a:endParaRPr sz="1200">
              <a:solidFill>
                <a:schemeClr val="dk1"/>
              </a:solidFill>
              <a:latin typeface="Poppins"/>
              <a:ea typeface="Poppins"/>
              <a:cs typeface="Poppins"/>
              <a:sym typeface="Poppins"/>
            </a:endParaRPr>
          </a:p>
          <a:p>
            <a:pPr indent="-292100" lvl="0" marL="457200" marR="0" rtl="0" algn="l">
              <a:lnSpc>
                <a:spcPct val="90000"/>
              </a:lnSpc>
              <a:spcBef>
                <a:spcPts val="0"/>
              </a:spcBef>
              <a:spcAft>
                <a:spcPts val="0"/>
              </a:spcAft>
              <a:buClr>
                <a:schemeClr val="dk1"/>
              </a:buClr>
              <a:buSzPts val="1000"/>
              <a:buFont typeface="Poppins"/>
              <a:buChar char="●"/>
            </a:pPr>
            <a:r>
              <a:rPr b="1" lang="fr" sz="1200">
                <a:solidFill>
                  <a:schemeClr val="dk1"/>
                </a:solidFill>
                <a:latin typeface="Poppins"/>
                <a:ea typeface="Poppins"/>
                <a:cs typeface="Poppins"/>
                <a:sym typeface="Poppins"/>
              </a:rPr>
              <a:t>per_channel : </a:t>
            </a:r>
            <a:r>
              <a:rPr lang="fr" sz="1200">
                <a:solidFill>
                  <a:schemeClr val="dk1"/>
                </a:solidFill>
                <a:latin typeface="Poppins"/>
                <a:ea typeface="Poppins"/>
                <a:cs typeface="Poppins"/>
                <a:sym typeface="Poppins"/>
              </a:rPr>
              <a:t>Calibration distincte par canal. Indispensable pour préserver la précision des CNN.</a:t>
            </a:r>
            <a:endParaRPr sz="1200">
              <a:solidFill>
                <a:schemeClr val="dk1"/>
              </a:solidFill>
              <a:latin typeface="Poppins"/>
              <a:ea typeface="Poppins"/>
              <a:cs typeface="Poppins"/>
              <a:sym typeface="Poppins"/>
            </a:endParaRPr>
          </a:p>
          <a:p>
            <a:pPr indent="-292100" lvl="0" marL="457200" marR="0" rtl="0" algn="l">
              <a:lnSpc>
                <a:spcPct val="90000"/>
              </a:lnSpc>
              <a:spcBef>
                <a:spcPts val="0"/>
              </a:spcBef>
              <a:spcAft>
                <a:spcPts val="0"/>
              </a:spcAft>
              <a:buClr>
                <a:schemeClr val="dk1"/>
              </a:buClr>
              <a:buSzPts val="1000"/>
              <a:buFont typeface="Poppins"/>
              <a:buChar char="●"/>
            </a:pPr>
            <a:r>
              <a:rPr b="1" lang="fr" sz="1200">
                <a:solidFill>
                  <a:schemeClr val="dk1"/>
                </a:solidFill>
                <a:latin typeface="Poppins"/>
                <a:ea typeface="Poppins"/>
                <a:cs typeface="Poppins"/>
                <a:sym typeface="Poppins"/>
              </a:rPr>
              <a:t>reduce_range : </a:t>
            </a:r>
            <a:r>
              <a:rPr lang="fr" sz="1200">
                <a:solidFill>
                  <a:schemeClr val="dk1"/>
                </a:solidFill>
                <a:latin typeface="Poppins"/>
                <a:ea typeface="Poppins"/>
                <a:cs typeface="Poppins"/>
                <a:sym typeface="Poppins"/>
              </a:rPr>
              <a:t>Limite à 7 bits pour éviter les overflows sur certains processeurs (Robustesse).</a:t>
            </a:r>
            <a:endParaRPr sz="800">
              <a:solidFill>
                <a:schemeClr val="dk1"/>
              </a:solidFill>
              <a:latin typeface="Quattrocento Sans"/>
              <a:ea typeface="Quattrocento Sans"/>
              <a:cs typeface="Quattrocento Sans"/>
              <a:sym typeface="Quattrocento Sans"/>
            </a:endParaRPr>
          </a:p>
        </p:txBody>
      </p:sp>
      <p:sp>
        <p:nvSpPr>
          <p:cNvPr id="403" name="Google Shape;403;p40"/>
          <p:cNvSpPr/>
          <p:nvPr/>
        </p:nvSpPr>
        <p:spPr>
          <a:xfrm>
            <a:off x="8102799" y="313713"/>
            <a:ext cx="170700" cy="170700"/>
          </a:xfrm>
          <a:prstGeom prst="ellipse">
            <a:avLst/>
          </a:prstGeom>
          <a:solidFill>
            <a:srgbClr val="DC943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04" name="Google Shape;404;p40"/>
          <p:cNvSpPr/>
          <p:nvPr/>
        </p:nvSpPr>
        <p:spPr>
          <a:xfrm>
            <a:off x="8430187" y="-400151"/>
            <a:ext cx="502500" cy="502500"/>
          </a:xfrm>
          <a:prstGeom prst="ellipse">
            <a:avLst/>
          </a:prstGeom>
          <a:noFill/>
          <a:ln cap="flat" cmpd="sng" w="57150">
            <a:solidFill>
              <a:srgbClr val="D2565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05" name="Google Shape;405;p40"/>
          <p:cNvSpPr txBox="1"/>
          <p:nvPr/>
        </p:nvSpPr>
        <p:spPr>
          <a:xfrm>
            <a:off x="298325" y="332500"/>
            <a:ext cx="34137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Quantisation naïve : Entropy</a:t>
            </a:r>
            <a:endParaRPr sz="1100"/>
          </a:p>
        </p:txBody>
      </p:sp>
      <p:pic>
        <p:nvPicPr>
          <p:cNvPr id="406" name="Google Shape;406;p40"/>
          <p:cNvPicPr preferRelativeResize="0"/>
          <p:nvPr/>
        </p:nvPicPr>
        <p:blipFill>
          <a:blip r:embed="rId3">
            <a:alphaModFix/>
          </a:blip>
          <a:stretch>
            <a:fillRect/>
          </a:stretch>
        </p:blipFill>
        <p:spPr>
          <a:xfrm>
            <a:off x="748485" y="4286595"/>
            <a:ext cx="2513400" cy="608100"/>
          </a:xfrm>
          <a:prstGeom prst="round2DiagRect">
            <a:avLst>
              <a:gd fmla="val 16667" name="adj1"/>
              <a:gd fmla="val 0" name="adj2"/>
            </a:avLst>
          </a:prstGeom>
          <a:noFill/>
          <a:ln cap="flat" cmpd="sng" w="38100">
            <a:solidFill>
              <a:schemeClr val="accent3"/>
            </a:solidFill>
            <a:prstDash val="solid"/>
            <a:round/>
            <a:headEnd len="sm" w="sm" type="none"/>
            <a:tailEnd len="sm" w="sm" type="none"/>
          </a:ln>
        </p:spPr>
      </p:pic>
      <p:pic>
        <p:nvPicPr>
          <p:cNvPr id="407" name="Google Shape;407;p40" title="Untitled Diagram.drawio.png"/>
          <p:cNvPicPr preferRelativeResize="0"/>
          <p:nvPr/>
        </p:nvPicPr>
        <p:blipFill rotWithShape="1">
          <a:blip r:embed="rId4">
            <a:alphaModFix/>
          </a:blip>
          <a:srcRect b="11110" l="10305" r="12090" t="6469"/>
          <a:stretch/>
        </p:blipFill>
        <p:spPr>
          <a:xfrm>
            <a:off x="1205400" y="892575"/>
            <a:ext cx="1478400" cy="2983200"/>
          </a:xfrm>
          <a:prstGeom prst="round2DiagRect">
            <a:avLst>
              <a:gd fmla="val 16667" name="adj1"/>
              <a:gd fmla="val 0" name="adj2"/>
            </a:avLst>
          </a:prstGeom>
          <a:noFill/>
          <a:ln cap="flat" cmpd="sng" w="38100">
            <a:solidFill>
              <a:schemeClr val="dk2"/>
            </a:solidFill>
            <a:prstDash val="solid"/>
            <a:round/>
            <a:headEnd len="sm" w="sm" type="none"/>
            <a:tailEnd len="sm" w="sm" type="none"/>
          </a:ln>
        </p:spPr>
      </p:pic>
      <p:sp>
        <p:nvSpPr>
          <p:cNvPr id="408" name="Google Shape;408;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1"/>
          <p:cNvSpPr/>
          <p:nvPr/>
        </p:nvSpPr>
        <p:spPr>
          <a:xfrm>
            <a:off x="8392850" y="891267"/>
            <a:ext cx="561900" cy="550200"/>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15" name="Google Shape;415;p41"/>
          <p:cNvSpPr/>
          <p:nvPr/>
        </p:nvSpPr>
        <p:spPr>
          <a:xfrm>
            <a:off x="133650" y="2420879"/>
            <a:ext cx="541200" cy="541200"/>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416" name="Google Shape;416;p41"/>
          <p:cNvPicPr preferRelativeResize="0"/>
          <p:nvPr/>
        </p:nvPicPr>
        <p:blipFill rotWithShape="1">
          <a:blip r:embed="rId3">
            <a:alphaModFix/>
          </a:blip>
          <a:srcRect b="0" l="0" r="0" t="0"/>
          <a:stretch/>
        </p:blipFill>
        <p:spPr>
          <a:xfrm rot="-752670">
            <a:off x="6029909" y="-650927"/>
            <a:ext cx="2650733" cy="1552381"/>
          </a:xfrm>
          <a:prstGeom prst="rect">
            <a:avLst/>
          </a:prstGeom>
          <a:noFill/>
          <a:ln>
            <a:noFill/>
          </a:ln>
        </p:spPr>
      </p:pic>
      <p:sp>
        <p:nvSpPr>
          <p:cNvPr id="417" name="Google Shape;417;p41"/>
          <p:cNvSpPr txBox="1"/>
          <p:nvPr/>
        </p:nvSpPr>
        <p:spPr>
          <a:xfrm>
            <a:off x="4520550" y="2816350"/>
            <a:ext cx="4434300" cy="2275500"/>
          </a:xfrm>
          <a:prstGeom prst="rect">
            <a:avLst/>
          </a:prstGeom>
          <a:noFill/>
          <a:ln>
            <a:noFill/>
          </a:ln>
        </p:spPr>
        <p:txBody>
          <a:bodyPr anchorCtr="0" anchor="t" bIns="34275" lIns="68575" spcFirstLastPara="1" rIns="68575" wrap="square" tIns="34275">
            <a:spAutoFit/>
          </a:bodyPr>
          <a:lstStyle/>
          <a:p>
            <a:pPr indent="-292100" lvl="0" marL="457200" marR="0" rtl="0" algn="l">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Bilan Performance :</a:t>
            </a:r>
            <a:r>
              <a:rPr lang="fr" sz="1000">
                <a:solidFill>
                  <a:schemeClr val="dk1"/>
                </a:solidFill>
                <a:latin typeface="Poppins"/>
                <a:ea typeface="Poppins"/>
                <a:cs typeface="Poppins"/>
                <a:sym typeface="Poppins"/>
              </a:rPr>
              <a:t> Réduction significative du poids, perte &lt; 1% sur segmentations.</a:t>
            </a:r>
            <a:endParaRPr sz="1000">
              <a:solidFill>
                <a:schemeClr val="dk1"/>
              </a:solidFill>
              <a:latin typeface="Poppins"/>
              <a:ea typeface="Poppins"/>
              <a:cs typeface="Poppins"/>
              <a:sym typeface="Poppins"/>
            </a:endParaRPr>
          </a:p>
          <a:p>
            <a:pPr indent="-292100" lvl="0" marL="457200" marR="0" rtl="0" algn="l">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Anomalie Critique : </a:t>
            </a:r>
            <a:r>
              <a:rPr lang="fr" sz="1000">
                <a:solidFill>
                  <a:schemeClr val="dk1"/>
                </a:solidFill>
                <a:latin typeface="Poppins"/>
                <a:ea typeface="Poppins"/>
                <a:cs typeface="Poppins"/>
                <a:sym typeface="Poppins"/>
              </a:rPr>
              <a:t>Détection inopérante (mAP ~0%), sortie corrompue.</a:t>
            </a:r>
            <a:endParaRPr sz="1000">
              <a:solidFill>
                <a:schemeClr val="dk1"/>
              </a:solidFill>
              <a:latin typeface="Poppins"/>
              <a:ea typeface="Poppins"/>
              <a:cs typeface="Poppins"/>
              <a:sym typeface="Poppins"/>
            </a:endParaRPr>
          </a:p>
          <a:p>
            <a:pPr indent="-292100" lvl="0" marL="457200" marR="0" rtl="0" algn="l">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Outil Diagnostic :</a:t>
            </a:r>
            <a:r>
              <a:rPr lang="fr" sz="1000">
                <a:solidFill>
                  <a:schemeClr val="dk1"/>
                </a:solidFill>
                <a:latin typeface="Poppins"/>
                <a:ea typeface="Poppins"/>
                <a:cs typeface="Poppins"/>
                <a:sym typeface="Poppins"/>
              </a:rPr>
              <a:t> Script get_sensitive_nodes via outils ONNX .</a:t>
            </a:r>
            <a:endParaRPr sz="1000">
              <a:solidFill>
                <a:schemeClr val="dk1"/>
              </a:solidFill>
              <a:latin typeface="Poppins"/>
              <a:ea typeface="Poppins"/>
              <a:cs typeface="Poppins"/>
              <a:sym typeface="Poppins"/>
            </a:endParaRPr>
          </a:p>
          <a:p>
            <a:pPr indent="-292100" lvl="1" marL="914400" marR="0" rtl="0" algn="l">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Résultat Analyse : </a:t>
            </a:r>
            <a:r>
              <a:rPr lang="fr" sz="1000">
                <a:solidFill>
                  <a:schemeClr val="dk1"/>
                </a:solidFill>
                <a:latin typeface="Poppins"/>
                <a:ea typeface="Poppins"/>
                <a:cs typeface="Poppins"/>
                <a:sym typeface="Poppins"/>
              </a:rPr>
              <a:t>32 nœuds isolés.</a:t>
            </a:r>
            <a:endParaRPr sz="1000">
              <a:solidFill>
                <a:schemeClr val="dk1"/>
              </a:solidFill>
              <a:latin typeface="Poppins"/>
              <a:ea typeface="Poppins"/>
              <a:cs typeface="Poppins"/>
              <a:sym typeface="Poppins"/>
            </a:endParaRPr>
          </a:p>
          <a:p>
            <a:pPr indent="-292100" lvl="0" marL="457200" marR="0" rtl="0" algn="l">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Debugging Itératif : </a:t>
            </a:r>
            <a:r>
              <a:rPr lang="fr" sz="1000">
                <a:solidFill>
                  <a:schemeClr val="dk1"/>
                </a:solidFill>
                <a:latin typeface="Poppins"/>
                <a:ea typeface="Poppins"/>
                <a:cs typeface="Poppins"/>
                <a:sym typeface="Poppins"/>
              </a:rPr>
              <a:t>Création de modèles hybrides, quantisation unitaire.</a:t>
            </a:r>
            <a:endParaRPr sz="1000">
              <a:solidFill>
                <a:schemeClr val="dk1"/>
              </a:solidFill>
              <a:latin typeface="Poppins"/>
              <a:ea typeface="Poppins"/>
              <a:cs typeface="Poppins"/>
              <a:sym typeface="Poppins"/>
            </a:endParaRPr>
          </a:p>
          <a:p>
            <a:pPr indent="-292100" lvl="0" marL="457200" marR="0" rtl="0" algn="l">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Identification Cause Racine : </a:t>
            </a:r>
            <a:r>
              <a:rPr lang="fr" sz="1000">
                <a:solidFill>
                  <a:schemeClr val="dk1"/>
                </a:solidFill>
                <a:latin typeface="Poppins"/>
                <a:ea typeface="Poppins"/>
                <a:cs typeface="Poppins"/>
                <a:sym typeface="Poppins"/>
              </a:rPr>
              <a:t>Instabilité du nœud Concat_1534 .</a:t>
            </a:r>
            <a:endParaRPr sz="1000">
              <a:solidFill>
                <a:schemeClr val="dk1"/>
              </a:solidFill>
              <a:latin typeface="Poppins"/>
              <a:ea typeface="Poppins"/>
              <a:cs typeface="Poppins"/>
              <a:sym typeface="Poppins"/>
            </a:endParaRPr>
          </a:p>
        </p:txBody>
      </p:sp>
      <p:sp>
        <p:nvSpPr>
          <p:cNvPr id="418" name="Google Shape;418;p41"/>
          <p:cNvSpPr/>
          <p:nvPr/>
        </p:nvSpPr>
        <p:spPr>
          <a:xfrm>
            <a:off x="700871" y="602229"/>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graphicFrame>
        <p:nvGraphicFramePr>
          <p:cNvPr id="419" name="Google Shape;419;p41"/>
          <p:cNvGraphicFramePr/>
          <p:nvPr/>
        </p:nvGraphicFramePr>
        <p:xfrm>
          <a:off x="133643" y="2940252"/>
          <a:ext cx="3000000" cy="3000000"/>
        </p:xfrm>
        <a:graphic>
          <a:graphicData uri="http://schemas.openxmlformats.org/drawingml/2006/table">
            <a:tbl>
              <a:tblPr>
                <a:noFill/>
                <a:tableStyleId>{F016ABE3-ACDB-41B1-A64A-B1E2F77EB6C7}</a:tableStyleId>
              </a:tblPr>
              <a:tblGrid>
                <a:gridCol w="1014075"/>
                <a:gridCol w="1014075"/>
                <a:gridCol w="1014075"/>
              </a:tblGrid>
              <a:tr h="297150">
                <a:tc gridSpan="3">
                  <a:txBody>
                    <a:bodyPr/>
                    <a:lstStyle/>
                    <a:p>
                      <a:pPr indent="0" lvl="0" marL="0" rtl="0" algn="ctr">
                        <a:lnSpc>
                          <a:spcPct val="50000"/>
                        </a:lnSpc>
                        <a:spcBef>
                          <a:spcPts val="0"/>
                        </a:spcBef>
                        <a:spcAft>
                          <a:spcPts val="0"/>
                        </a:spcAft>
                        <a:buNone/>
                      </a:pPr>
                      <a:r>
                        <a:rPr b="1" lang="fr" sz="1200">
                          <a:solidFill>
                            <a:schemeClr val="lt2"/>
                          </a:solidFill>
                        </a:rPr>
                        <a:t>Traffic Object Detection Result</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hMerge="1"/>
                <a:tc hMerge="1"/>
              </a:tr>
              <a:tr h="297150">
                <a:tc>
                  <a:txBody>
                    <a:bodyPr/>
                    <a:lstStyle/>
                    <a:p>
                      <a:pPr indent="0" lvl="0" marL="0" rtl="0" algn="ctr">
                        <a:lnSpc>
                          <a:spcPct val="50000"/>
                        </a:lnSpc>
                        <a:spcBef>
                          <a:spcPts val="0"/>
                        </a:spcBef>
                        <a:spcAft>
                          <a:spcPts val="0"/>
                        </a:spcAft>
                        <a:buNone/>
                      </a:pPr>
                      <a:r>
                        <a:rPr b="1" lang="fr" sz="1200">
                          <a:solidFill>
                            <a:schemeClr val="lt2"/>
                          </a:solidFill>
                        </a:rPr>
                        <a:t>Recall(%)</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rtl="0" algn="ctr">
                        <a:lnSpc>
                          <a:spcPct val="50000"/>
                        </a:lnSpc>
                        <a:spcBef>
                          <a:spcPts val="0"/>
                        </a:spcBef>
                        <a:spcAft>
                          <a:spcPts val="0"/>
                        </a:spcAft>
                        <a:buNone/>
                      </a:pPr>
                      <a:r>
                        <a:rPr b="1" lang="fr" sz="1200">
                          <a:solidFill>
                            <a:schemeClr val="lt2"/>
                          </a:solidFill>
                        </a:rPr>
                        <a:t>mAP50(%)</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rtl="0" algn="ctr">
                        <a:lnSpc>
                          <a:spcPct val="50000"/>
                        </a:lnSpc>
                        <a:spcBef>
                          <a:spcPts val="0"/>
                        </a:spcBef>
                        <a:spcAft>
                          <a:spcPts val="0"/>
                        </a:spcAft>
                        <a:buNone/>
                      </a:pPr>
                      <a:r>
                        <a:rPr b="1" lang="fr" sz="1200">
                          <a:solidFill>
                            <a:schemeClr val="lt2"/>
                          </a:solidFill>
                        </a:rPr>
                        <a:t>Speed(fps)</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r>
              <a:tr h="297150">
                <a:tc>
                  <a:txBody>
                    <a:bodyPr/>
                    <a:lstStyle/>
                    <a:p>
                      <a:pPr indent="0" lvl="0" marL="0" rtl="0" algn="ctr">
                        <a:lnSpc>
                          <a:spcPct val="50000"/>
                        </a:lnSpc>
                        <a:spcBef>
                          <a:spcPts val="0"/>
                        </a:spcBef>
                        <a:spcAft>
                          <a:spcPts val="0"/>
                        </a:spcAft>
                        <a:buNone/>
                      </a:pPr>
                      <a:r>
                        <a:rPr lang="fr" sz="1200">
                          <a:solidFill>
                            <a:schemeClr val="dk1"/>
                          </a:solidFill>
                        </a:rPr>
                        <a:t>…</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57</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graphicFrame>
        <p:nvGraphicFramePr>
          <p:cNvPr id="420" name="Google Shape;420;p41"/>
          <p:cNvGraphicFramePr/>
          <p:nvPr/>
        </p:nvGraphicFramePr>
        <p:xfrm>
          <a:off x="526706" y="3971687"/>
          <a:ext cx="3000000" cy="3000000"/>
        </p:xfrm>
        <a:graphic>
          <a:graphicData uri="http://schemas.openxmlformats.org/drawingml/2006/table">
            <a:tbl>
              <a:tblPr>
                <a:noFill/>
                <a:tableStyleId>{F016ABE3-ACDB-41B1-A64A-B1E2F77EB6C7}</a:tableStyleId>
              </a:tblPr>
              <a:tblGrid>
                <a:gridCol w="1014075"/>
                <a:gridCol w="1014075"/>
              </a:tblGrid>
              <a:tr h="297150">
                <a:tc gridSpan="2">
                  <a:txBody>
                    <a:bodyPr/>
                    <a:lstStyle/>
                    <a:p>
                      <a:pPr indent="0" lvl="0" marL="0" rtl="0" algn="ctr">
                        <a:lnSpc>
                          <a:spcPct val="50000"/>
                        </a:lnSpc>
                        <a:spcBef>
                          <a:spcPts val="0"/>
                        </a:spcBef>
                        <a:spcAft>
                          <a:spcPts val="0"/>
                        </a:spcAft>
                        <a:buNone/>
                      </a:pPr>
                      <a:r>
                        <a:rPr b="1" lang="fr" sz="1200">
                          <a:solidFill>
                            <a:schemeClr val="lt2"/>
                          </a:solidFill>
                        </a:rPr>
                        <a:t>Drivable Area Segmentation</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c hMerge="1"/>
              </a:tr>
              <a:tr h="297150">
                <a:tc>
                  <a:txBody>
                    <a:bodyPr/>
                    <a:lstStyle/>
                    <a:p>
                      <a:pPr indent="0" lvl="0" marL="0" rtl="0" algn="ctr">
                        <a:lnSpc>
                          <a:spcPct val="50000"/>
                        </a:lnSpc>
                        <a:spcBef>
                          <a:spcPts val="0"/>
                        </a:spcBef>
                        <a:spcAft>
                          <a:spcPts val="0"/>
                        </a:spcAft>
                        <a:buNone/>
                      </a:pPr>
                      <a:r>
                        <a:rPr b="1" lang="fr" sz="1200">
                          <a:solidFill>
                            <a:schemeClr val="lt2"/>
                          </a:solidFill>
                        </a:rPr>
                        <a:t>mIOU(%)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c>
                  <a:txBody>
                    <a:bodyPr/>
                    <a:lstStyle/>
                    <a:p>
                      <a:pPr indent="0" lvl="0" marL="0" rtl="0" algn="ctr">
                        <a:lnSpc>
                          <a:spcPct val="50000"/>
                        </a:lnSpc>
                        <a:spcBef>
                          <a:spcPts val="0"/>
                        </a:spcBef>
                        <a:spcAft>
                          <a:spcPts val="0"/>
                        </a:spcAft>
                        <a:buNone/>
                      </a:pPr>
                      <a:r>
                        <a:rPr b="1" lang="fr" sz="1200">
                          <a:solidFill>
                            <a:schemeClr val="lt2"/>
                          </a:solidFill>
                        </a:rPr>
                        <a:t>Speed(fps)</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r>
              <a:tr h="297150">
                <a:tc>
                  <a:txBody>
                    <a:bodyPr/>
                    <a:lstStyle/>
                    <a:p>
                      <a:pPr indent="0" lvl="0" marL="0" rtl="0" algn="ctr">
                        <a:lnSpc>
                          <a:spcPct val="50000"/>
                        </a:lnSpc>
                        <a:spcBef>
                          <a:spcPts val="0"/>
                        </a:spcBef>
                        <a:spcAft>
                          <a:spcPts val="0"/>
                        </a:spcAft>
                        <a:buNone/>
                      </a:pPr>
                      <a:r>
                        <a:rPr lang="fr" sz="1200">
                          <a:solidFill>
                            <a:schemeClr val="dk1"/>
                          </a:solidFill>
                        </a:rPr>
                        <a:t>90.95</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57</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graphicFrame>
        <p:nvGraphicFramePr>
          <p:cNvPr id="421" name="Google Shape;421;p41"/>
          <p:cNvGraphicFramePr/>
          <p:nvPr/>
        </p:nvGraphicFramePr>
        <p:xfrm>
          <a:off x="2595306" y="4005974"/>
          <a:ext cx="3000000" cy="3000000"/>
        </p:xfrm>
        <a:graphic>
          <a:graphicData uri="http://schemas.openxmlformats.org/drawingml/2006/table">
            <a:tbl>
              <a:tblPr>
                <a:noFill/>
                <a:tableStyleId>{F016ABE3-ACDB-41B1-A64A-B1E2F77EB6C7}</a:tableStyleId>
              </a:tblPr>
              <a:tblGrid>
                <a:gridCol w="1014075"/>
                <a:gridCol w="1014075"/>
              </a:tblGrid>
              <a:tr h="297150">
                <a:tc gridSpan="2">
                  <a:txBody>
                    <a:bodyPr/>
                    <a:lstStyle/>
                    <a:p>
                      <a:pPr indent="0" lvl="0" marL="0" rtl="0" algn="ctr">
                        <a:lnSpc>
                          <a:spcPct val="50000"/>
                        </a:lnSpc>
                        <a:spcBef>
                          <a:spcPts val="0"/>
                        </a:spcBef>
                        <a:spcAft>
                          <a:spcPts val="0"/>
                        </a:spcAft>
                        <a:buNone/>
                      </a:pPr>
                      <a:r>
                        <a:rPr b="1" lang="fr" sz="1200">
                          <a:solidFill>
                            <a:schemeClr val="lt2"/>
                          </a:solidFill>
                        </a:rPr>
                        <a:t>Lane Detection</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hMerge="1"/>
              </a:tr>
              <a:tr h="297150">
                <a:tc>
                  <a:txBody>
                    <a:bodyPr/>
                    <a:lstStyle/>
                    <a:p>
                      <a:pPr indent="0" lvl="0" marL="0" rtl="0" algn="ctr">
                        <a:lnSpc>
                          <a:spcPct val="50000"/>
                        </a:lnSpc>
                        <a:spcBef>
                          <a:spcPts val="0"/>
                        </a:spcBef>
                        <a:spcAft>
                          <a:spcPts val="0"/>
                        </a:spcAft>
                        <a:buNone/>
                      </a:pPr>
                      <a:r>
                        <a:rPr b="1" lang="fr" sz="1200">
                          <a:solidFill>
                            <a:schemeClr val="lt2"/>
                          </a:solidFill>
                        </a:rPr>
                        <a:t>mIOU(%)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a:txBody>
                    <a:bodyPr/>
                    <a:lstStyle/>
                    <a:p>
                      <a:pPr indent="0" lvl="0" marL="0" rtl="0" algn="ctr">
                        <a:lnSpc>
                          <a:spcPct val="50000"/>
                        </a:lnSpc>
                        <a:spcBef>
                          <a:spcPts val="0"/>
                        </a:spcBef>
                        <a:spcAft>
                          <a:spcPts val="0"/>
                        </a:spcAft>
                        <a:buNone/>
                      </a:pPr>
                      <a:r>
                        <a:rPr b="1" lang="fr" sz="1200">
                          <a:solidFill>
                            <a:schemeClr val="lt2"/>
                          </a:solidFill>
                        </a:rPr>
                        <a:t>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r>
              <a:tr h="297150">
                <a:tc>
                  <a:txBody>
                    <a:bodyPr/>
                    <a:lstStyle/>
                    <a:p>
                      <a:pPr indent="0" lvl="0" marL="0" rtl="0" algn="ctr">
                        <a:lnSpc>
                          <a:spcPct val="50000"/>
                        </a:lnSpc>
                        <a:spcBef>
                          <a:spcPts val="0"/>
                        </a:spcBef>
                        <a:spcAft>
                          <a:spcPts val="0"/>
                        </a:spcAft>
                        <a:buNone/>
                      </a:pPr>
                      <a:r>
                        <a:rPr lang="fr" sz="1200">
                          <a:solidFill>
                            <a:schemeClr val="dk1"/>
                          </a:solidFill>
                        </a:rPr>
                        <a:t>59.3</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20.3</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pic>
        <p:nvPicPr>
          <p:cNvPr id="422" name="Google Shape;422;p41" title="output6666666666.png"/>
          <p:cNvPicPr preferRelativeResize="0"/>
          <p:nvPr/>
        </p:nvPicPr>
        <p:blipFill rotWithShape="1">
          <a:blip r:embed="rId4">
            <a:alphaModFix/>
          </a:blip>
          <a:srcRect b="0" l="0" r="0" t="0"/>
          <a:stretch/>
        </p:blipFill>
        <p:spPr>
          <a:xfrm>
            <a:off x="326400" y="987282"/>
            <a:ext cx="8491200" cy="1778700"/>
          </a:xfrm>
          <a:prstGeom prst="round2DiagRect">
            <a:avLst>
              <a:gd fmla="val 16667" name="adj1"/>
              <a:gd fmla="val 0" name="adj2"/>
            </a:avLst>
          </a:prstGeom>
          <a:noFill/>
          <a:ln>
            <a:noFill/>
          </a:ln>
        </p:spPr>
      </p:pic>
      <p:sp>
        <p:nvSpPr>
          <p:cNvPr id="423" name="Google Shape;423;p41"/>
          <p:cNvSpPr txBox="1"/>
          <p:nvPr/>
        </p:nvSpPr>
        <p:spPr>
          <a:xfrm>
            <a:off x="615079" y="196775"/>
            <a:ext cx="55881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Resultat</a:t>
            </a:r>
            <a:r>
              <a:rPr b="1" lang="fr" sz="1700">
                <a:latin typeface="Poppins SemiBold"/>
                <a:ea typeface="Poppins SemiBold"/>
                <a:cs typeface="Poppins SemiBold"/>
                <a:sym typeface="Poppins SemiBold"/>
              </a:rPr>
              <a:t> du modèle ONNX </a:t>
            </a:r>
            <a:r>
              <a:rPr b="1" lang="fr" sz="1700">
                <a:latin typeface="Poppins SemiBold"/>
                <a:ea typeface="Poppins SemiBold"/>
                <a:cs typeface="Poppins SemiBold"/>
                <a:sym typeface="Poppins SemiBold"/>
              </a:rPr>
              <a:t>quantifié</a:t>
            </a:r>
            <a:endParaRPr sz="1100"/>
          </a:p>
        </p:txBody>
      </p:sp>
      <p:sp>
        <p:nvSpPr>
          <p:cNvPr id="424" name="Google Shape;424;p41"/>
          <p:cNvSpPr txBox="1"/>
          <p:nvPr/>
        </p:nvSpPr>
        <p:spPr>
          <a:xfrm>
            <a:off x="326400" y="640325"/>
            <a:ext cx="4194300" cy="3741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900">
                <a:solidFill>
                  <a:schemeClr val="dk1"/>
                </a:solidFill>
                <a:latin typeface="Poppins"/>
                <a:ea typeface="Poppins"/>
                <a:cs typeface="Poppins"/>
                <a:sym typeface="Poppins"/>
              </a:rPr>
              <a:t>Objectif : </a:t>
            </a:r>
            <a:r>
              <a:rPr lang="fr" sz="900">
                <a:solidFill>
                  <a:schemeClr val="dk1"/>
                </a:solidFill>
                <a:latin typeface="Poppins"/>
                <a:ea typeface="Poppins"/>
                <a:cs typeface="Poppins"/>
                <a:sym typeface="Poppins"/>
              </a:rPr>
              <a:t>Quantification Post-Training (INT8) avec préservation de la précision (Mixed Precision). </a:t>
            </a:r>
            <a:r>
              <a:rPr b="1" lang="fr" sz="900" u="sng">
                <a:solidFill>
                  <a:schemeClr val="dk1"/>
                </a:solidFill>
                <a:latin typeface="Poppins"/>
                <a:ea typeface="Poppins"/>
                <a:cs typeface="Poppins"/>
                <a:sym typeface="Poppins"/>
              </a:rPr>
              <a:t>50</a:t>
            </a:r>
            <a:r>
              <a:rPr lang="fr" sz="900" u="sng">
                <a:solidFill>
                  <a:schemeClr val="dk1"/>
                </a:solidFill>
                <a:latin typeface="Poppins"/>
                <a:ea typeface="Poppins"/>
                <a:cs typeface="Poppins"/>
                <a:sym typeface="Poppins"/>
              </a:rPr>
              <a:t> images de calibration</a:t>
            </a:r>
            <a:endParaRPr sz="900" u="sng">
              <a:solidFill>
                <a:schemeClr val="dk1"/>
              </a:solidFill>
              <a:latin typeface="Poppins"/>
              <a:ea typeface="Poppins"/>
              <a:cs typeface="Poppins"/>
              <a:sym typeface="Poppins"/>
            </a:endParaRPr>
          </a:p>
        </p:txBody>
      </p:sp>
      <p:sp>
        <p:nvSpPr>
          <p:cNvPr id="425" name="Google Shape;425;p41"/>
          <p:cNvSpPr txBox="1"/>
          <p:nvPr/>
        </p:nvSpPr>
        <p:spPr>
          <a:xfrm>
            <a:off x="4623450" y="640325"/>
            <a:ext cx="4194300" cy="2079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900">
                <a:solidFill>
                  <a:schemeClr val="dk1"/>
                </a:solidFill>
                <a:latin typeface="Poppins"/>
                <a:ea typeface="Poppins"/>
                <a:cs typeface="Poppins"/>
                <a:sym typeface="Poppins"/>
              </a:rPr>
              <a:t>Résultat : </a:t>
            </a:r>
            <a:r>
              <a:rPr lang="fr" sz="900">
                <a:solidFill>
                  <a:schemeClr val="dk1"/>
                </a:solidFill>
                <a:latin typeface="Poppins"/>
                <a:ea typeface="Poppins"/>
                <a:cs typeface="Poppins"/>
                <a:sym typeface="Poppins"/>
              </a:rPr>
              <a:t>Poids réduit, Segmentation valide (-1%).</a:t>
            </a:r>
            <a:endParaRPr sz="900">
              <a:solidFill>
                <a:schemeClr val="dk1"/>
              </a:solidFill>
              <a:latin typeface="Poppins"/>
              <a:ea typeface="Poppins"/>
              <a:cs typeface="Poppins"/>
              <a:sym typeface="Poppins"/>
            </a:endParaRPr>
          </a:p>
        </p:txBody>
      </p:sp>
      <p:graphicFrame>
        <p:nvGraphicFramePr>
          <p:cNvPr id="426" name="Google Shape;426;p41"/>
          <p:cNvGraphicFramePr/>
          <p:nvPr/>
        </p:nvGraphicFramePr>
        <p:xfrm>
          <a:off x="3288150" y="2816350"/>
          <a:ext cx="3000000" cy="3000000"/>
        </p:xfrm>
        <a:graphic>
          <a:graphicData uri="http://schemas.openxmlformats.org/drawingml/2006/table">
            <a:tbl>
              <a:tblPr>
                <a:noFill/>
                <a:tableStyleId>{F016ABE3-ACDB-41B1-A64A-B1E2F77EB6C7}</a:tableStyleId>
              </a:tblPr>
              <a:tblGrid>
                <a:gridCol w="580675"/>
                <a:gridCol w="754625"/>
              </a:tblGrid>
              <a:tr h="385100">
                <a:tc>
                  <a:txBody>
                    <a:bodyPr/>
                    <a:lstStyle/>
                    <a:p>
                      <a:pPr indent="0" lvl="0" marL="0" rtl="0" algn="ctr">
                        <a:lnSpc>
                          <a:spcPct val="40000"/>
                        </a:lnSpc>
                        <a:spcBef>
                          <a:spcPts val="0"/>
                        </a:spcBef>
                        <a:spcAft>
                          <a:spcPts val="0"/>
                        </a:spcAft>
                        <a:buNone/>
                      </a:pPr>
                      <a:r>
                        <a:rPr b="1" lang="fr" sz="1300">
                          <a:solidFill>
                            <a:schemeClr val="lt2"/>
                          </a:solidFill>
                        </a:rPr>
                        <a:t>FP32</a:t>
                      </a:r>
                      <a:endParaRPr b="1" sz="1300">
                        <a:solidFill>
                          <a:schemeClr val="lt2"/>
                        </a:solidFill>
                      </a:endParaRPr>
                    </a:p>
                  </a:txBody>
                  <a:tcPr marT="91425" marB="91425" marR="91425" marL="91425" anchor="ctr">
                    <a:solidFill>
                      <a:schemeClr val="accent2"/>
                    </a:solidFill>
                  </a:tcPr>
                </a:tc>
                <a:tc>
                  <a:txBody>
                    <a:bodyPr/>
                    <a:lstStyle/>
                    <a:p>
                      <a:pPr indent="0" lvl="0" marL="0" rtl="0" algn="ctr">
                        <a:lnSpc>
                          <a:spcPct val="40000"/>
                        </a:lnSpc>
                        <a:spcBef>
                          <a:spcPts val="0"/>
                        </a:spcBef>
                        <a:spcAft>
                          <a:spcPts val="0"/>
                        </a:spcAft>
                        <a:buNone/>
                      </a:pPr>
                      <a:r>
                        <a:rPr lang="fr" sz="1300"/>
                        <a:t>34.24 </a:t>
                      </a:r>
                      <a:r>
                        <a:rPr baseline="-25000" lang="fr" sz="1300"/>
                        <a:t>MB</a:t>
                      </a:r>
                      <a:endParaRPr baseline="-25000" sz="1300"/>
                    </a:p>
                  </a:txBody>
                  <a:tcPr marT="91425" marB="91425" marR="91425" marL="91425" anchor="ctr"/>
                </a:tc>
              </a:tr>
              <a:tr h="385100">
                <a:tc>
                  <a:txBody>
                    <a:bodyPr/>
                    <a:lstStyle/>
                    <a:p>
                      <a:pPr indent="0" lvl="0" marL="0" rtl="0" algn="ctr">
                        <a:lnSpc>
                          <a:spcPct val="40000"/>
                        </a:lnSpc>
                        <a:spcBef>
                          <a:spcPts val="0"/>
                        </a:spcBef>
                        <a:spcAft>
                          <a:spcPts val="0"/>
                        </a:spcAft>
                        <a:buNone/>
                      </a:pPr>
                      <a:r>
                        <a:rPr b="1" lang="fr" sz="1300">
                          <a:solidFill>
                            <a:schemeClr val="lt2"/>
                          </a:solidFill>
                        </a:rPr>
                        <a:t>INT8</a:t>
                      </a:r>
                      <a:endParaRPr b="1" sz="1300">
                        <a:solidFill>
                          <a:schemeClr val="lt2"/>
                        </a:solidFill>
                      </a:endParaRPr>
                    </a:p>
                  </a:txBody>
                  <a:tcPr marT="91425" marB="91425" marR="91425" marL="91425" anchor="ctr">
                    <a:solidFill>
                      <a:schemeClr val="accent2"/>
                    </a:solidFill>
                  </a:tcPr>
                </a:tc>
                <a:tc>
                  <a:txBody>
                    <a:bodyPr/>
                    <a:lstStyle/>
                    <a:p>
                      <a:pPr indent="0" lvl="0" marL="0" rtl="0" algn="ctr">
                        <a:lnSpc>
                          <a:spcPct val="40000"/>
                        </a:lnSpc>
                        <a:spcBef>
                          <a:spcPts val="0"/>
                        </a:spcBef>
                        <a:spcAft>
                          <a:spcPts val="0"/>
                        </a:spcAft>
                        <a:buNone/>
                      </a:pPr>
                      <a:r>
                        <a:rPr lang="fr" sz="1300"/>
                        <a:t>11.83 </a:t>
                      </a:r>
                      <a:r>
                        <a:rPr baseline="-25000" lang="fr" sz="1300"/>
                        <a:t>MB</a:t>
                      </a:r>
                      <a:endParaRPr baseline="-25000" sz="1300"/>
                    </a:p>
                  </a:txBody>
                  <a:tcPr marT="91425" marB="91425" marR="91425" marL="91425" anchor="ctr"/>
                </a:tc>
              </a:tr>
              <a:tr h="385100">
                <a:tc gridSpan="2">
                  <a:txBody>
                    <a:bodyPr/>
                    <a:lstStyle/>
                    <a:p>
                      <a:pPr indent="0" lvl="0" marL="0" rtl="0" algn="ctr">
                        <a:lnSpc>
                          <a:spcPct val="40000"/>
                        </a:lnSpc>
                        <a:spcBef>
                          <a:spcPts val="0"/>
                        </a:spcBef>
                        <a:spcAft>
                          <a:spcPts val="0"/>
                        </a:spcAft>
                        <a:buNone/>
                      </a:pPr>
                      <a:r>
                        <a:rPr lang="fr" sz="1300"/>
                        <a:t>2.89x</a:t>
                      </a:r>
                      <a:endParaRPr sz="1300"/>
                    </a:p>
                  </a:txBody>
                  <a:tcPr marT="91425" marB="91425" marR="91425" marL="91425" anchor="ctr"/>
                </a:tc>
                <a:tc hMerge="1"/>
              </a:tr>
            </a:tbl>
          </a:graphicData>
        </a:graphic>
      </p:graphicFrame>
      <p:sp>
        <p:nvSpPr>
          <p:cNvPr id="427" name="Google Shape;427;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2"/>
          <p:cNvSpPr/>
          <p:nvPr/>
        </p:nvSpPr>
        <p:spPr>
          <a:xfrm>
            <a:off x="0" y="0"/>
            <a:ext cx="5519400" cy="5064300"/>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34" name="Google Shape;434;p42"/>
          <p:cNvSpPr/>
          <p:nvPr/>
        </p:nvSpPr>
        <p:spPr>
          <a:xfrm>
            <a:off x="4940496" y="735709"/>
            <a:ext cx="439800" cy="430500"/>
          </a:xfrm>
          <a:prstGeom prst="rect">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35" name="Google Shape;435;p42"/>
          <p:cNvSpPr/>
          <p:nvPr/>
        </p:nvSpPr>
        <p:spPr>
          <a:xfrm>
            <a:off x="700871" y="766821"/>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36" name="Google Shape;436;p42"/>
          <p:cNvSpPr txBox="1"/>
          <p:nvPr/>
        </p:nvSpPr>
        <p:spPr>
          <a:xfrm>
            <a:off x="5519400" y="112900"/>
            <a:ext cx="3391800" cy="4900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800"/>
              </a:spcBef>
              <a:spcAft>
                <a:spcPts val="0"/>
              </a:spcAft>
              <a:buClr>
                <a:schemeClr val="dk1"/>
              </a:buClr>
              <a:buSzPts val="800"/>
              <a:buFont typeface="Arial"/>
              <a:buNone/>
            </a:pPr>
            <a:r>
              <a:rPr b="1" lang="fr" sz="1000">
                <a:solidFill>
                  <a:schemeClr val="dk1"/>
                </a:solidFill>
                <a:latin typeface="Poppins"/>
                <a:ea typeface="Poppins"/>
                <a:cs typeface="Poppins"/>
                <a:sym typeface="Poppins"/>
              </a:rPr>
              <a:t>Dimensions : float32[1, 25200, 6]</a:t>
            </a:r>
            <a:endParaRPr b="1" sz="1000">
              <a:solidFill>
                <a:schemeClr val="dk1"/>
              </a:solidFill>
              <a:latin typeface="Poppins"/>
              <a:ea typeface="Poppins"/>
              <a:cs typeface="Poppins"/>
              <a:sym typeface="Poppins"/>
            </a:endParaRPr>
          </a:p>
          <a:p>
            <a:pPr indent="0" lvl="0" marL="0" marR="0" rtl="0" algn="l">
              <a:lnSpc>
                <a:spcPct val="100000"/>
              </a:lnSpc>
              <a:spcBef>
                <a:spcPts val="800"/>
              </a:spcBef>
              <a:spcAft>
                <a:spcPts val="0"/>
              </a:spcAft>
              <a:buClr>
                <a:schemeClr val="dk1"/>
              </a:buClr>
              <a:buSzPts val="800"/>
              <a:buFont typeface="Arial"/>
              <a:buNone/>
            </a:pPr>
            <a:r>
              <a:rPr b="1" lang="fr" sz="1000">
                <a:solidFill>
                  <a:schemeClr val="dk1"/>
                </a:solidFill>
                <a:latin typeface="Poppins"/>
                <a:ea typeface="Poppins"/>
                <a:cs typeface="Poppins"/>
                <a:sym typeface="Poppins"/>
              </a:rPr>
              <a:t>1 (Batch Size) : </a:t>
            </a:r>
            <a:r>
              <a:rPr lang="fr" sz="1000">
                <a:solidFill>
                  <a:schemeClr val="dk1"/>
                </a:solidFill>
                <a:latin typeface="Poppins"/>
                <a:ea typeface="Poppins"/>
                <a:cs typeface="Poppins"/>
                <a:sym typeface="Poppins"/>
              </a:rPr>
              <a:t>Image unique que l'on traite. </a:t>
            </a:r>
            <a:endParaRPr sz="1000">
              <a:solidFill>
                <a:schemeClr val="dk1"/>
              </a:solidFill>
              <a:latin typeface="Poppins"/>
              <a:ea typeface="Poppins"/>
              <a:cs typeface="Poppins"/>
              <a:sym typeface="Poppins"/>
            </a:endParaRPr>
          </a:p>
          <a:p>
            <a:pPr indent="0" lvl="0" marL="0" marR="0" rtl="0" algn="l">
              <a:lnSpc>
                <a:spcPct val="100000"/>
              </a:lnSpc>
              <a:spcBef>
                <a:spcPts val="800"/>
              </a:spcBef>
              <a:spcAft>
                <a:spcPts val="0"/>
              </a:spcAft>
              <a:buClr>
                <a:schemeClr val="dk1"/>
              </a:buClr>
              <a:buSzPts val="800"/>
              <a:buFont typeface="Arial"/>
              <a:buNone/>
            </a:pPr>
            <a:r>
              <a:rPr b="1" lang="fr" sz="1000">
                <a:solidFill>
                  <a:schemeClr val="dk1"/>
                </a:solidFill>
                <a:latin typeface="Poppins"/>
                <a:ea typeface="Poppins"/>
                <a:cs typeface="Poppins"/>
                <a:sym typeface="Poppins"/>
              </a:rPr>
              <a:t>25200 (Anchors) :</a:t>
            </a:r>
            <a:r>
              <a:rPr lang="fr" sz="1000">
                <a:solidFill>
                  <a:schemeClr val="dk1"/>
                </a:solidFill>
                <a:latin typeface="Poppins"/>
                <a:ea typeface="Poppins"/>
                <a:cs typeface="Poppins"/>
                <a:sym typeface="Poppins"/>
              </a:rPr>
              <a:t> Le modèle ne "voit" pas les objets directement. Il pose une grille sur l'image et propose une boîte pour chaque cellule, à 3 échelles différentes.</a:t>
            </a:r>
            <a:endParaRPr sz="1000">
              <a:solidFill>
                <a:schemeClr val="dk1"/>
              </a:solidFill>
              <a:latin typeface="Poppins"/>
              <a:ea typeface="Poppins"/>
              <a:cs typeface="Poppins"/>
              <a:sym typeface="Poppins"/>
            </a:endParaRPr>
          </a:p>
          <a:p>
            <a:pPr indent="0" lvl="0" marL="0" marR="0" rtl="0" algn="l">
              <a:lnSpc>
                <a:spcPct val="100000"/>
              </a:lnSpc>
              <a:spcBef>
                <a:spcPts val="800"/>
              </a:spcBef>
              <a:spcAft>
                <a:spcPts val="0"/>
              </a:spcAft>
              <a:buClr>
                <a:schemeClr val="dk1"/>
              </a:buClr>
              <a:buSzPts val="800"/>
              <a:buFont typeface="Arial"/>
              <a:buNone/>
            </a:pPr>
            <a:r>
              <a:rPr lang="fr" sz="1000" u="sng">
                <a:solidFill>
                  <a:schemeClr val="dk1"/>
                </a:solidFill>
                <a:latin typeface="Poppins"/>
                <a:ea typeface="Poppins"/>
                <a:cs typeface="Poppins"/>
                <a:sym typeface="Poppins"/>
              </a:rPr>
              <a:t>Le calcul :</a:t>
            </a:r>
            <a:endParaRPr sz="1000" u="sng">
              <a:solidFill>
                <a:schemeClr val="dk1"/>
              </a:solidFill>
              <a:latin typeface="Poppins"/>
              <a:ea typeface="Poppins"/>
              <a:cs typeface="Poppins"/>
              <a:sym typeface="Poppins"/>
            </a:endParaRPr>
          </a:p>
          <a:p>
            <a:pPr indent="-292100" lvl="0" marL="457200" marR="0" rtl="0" algn="l">
              <a:lnSpc>
                <a:spcPct val="100000"/>
              </a:lnSpc>
              <a:spcBef>
                <a:spcPts val="80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Zoom fort : 80 x 80 cellules x 3 boîtes = 19 200</a:t>
            </a:r>
            <a:endParaRPr sz="1000">
              <a:solidFill>
                <a:schemeClr val="dk1"/>
              </a:solidFill>
              <a:latin typeface="Poppins"/>
              <a:ea typeface="Poppins"/>
              <a:cs typeface="Poppins"/>
              <a:sym typeface="Poppins"/>
            </a:endParaRPr>
          </a:p>
          <a:p>
            <a:pPr indent="-292100" lvl="0" marL="457200" marR="0" rtl="0" algn="l">
              <a:lnSpc>
                <a:spcPct val="10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Zoom moyen : 40 x 40 x 3 = 4 800</a:t>
            </a:r>
            <a:endParaRPr sz="1000">
              <a:solidFill>
                <a:schemeClr val="dk1"/>
              </a:solidFill>
              <a:latin typeface="Poppins"/>
              <a:ea typeface="Poppins"/>
              <a:cs typeface="Poppins"/>
              <a:sym typeface="Poppins"/>
            </a:endParaRPr>
          </a:p>
          <a:p>
            <a:pPr indent="-292100" lvl="0" marL="457200" marR="0" rtl="0" algn="l">
              <a:lnSpc>
                <a:spcPct val="10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Zoom loin  : 20 x 20 x 3 = 1 200</a:t>
            </a:r>
            <a:endParaRPr sz="1000">
              <a:solidFill>
                <a:schemeClr val="dk1"/>
              </a:solidFill>
              <a:latin typeface="Poppins"/>
              <a:ea typeface="Poppins"/>
              <a:cs typeface="Poppins"/>
              <a:sym typeface="Poppins"/>
            </a:endParaRPr>
          </a:p>
          <a:p>
            <a:pPr indent="-292100" lvl="0" marL="457200" marR="0" rtl="0" algn="l">
              <a:lnSpc>
                <a:spcPct val="100000"/>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Total</a:t>
            </a:r>
            <a:r>
              <a:rPr lang="fr" sz="1000">
                <a:solidFill>
                  <a:schemeClr val="dk1"/>
                </a:solidFill>
                <a:latin typeface="Poppins"/>
                <a:ea typeface="Poppins"/>
                <a:cs typeface="Poppins"/>
                <a:sym typeface="Poppins"/>
              </a:rPr>
              <a:t> : 25 200 boîtes potentielles.</a:t>
            </a:r>
            <a:endParaRPr sz="1000">
              <a:solidFill>
                <a:schemeClr val="dk1"/>
              </a:solidFill>
              <a:latin typeface="Poppins"/>
              <a:ea typeface="Poppins"/>
              <a:cs typeface="Poppins"/>
              <a:sym typeface="Poppins"/>
            </a:endParaRPr>
          </a:p>
          <a:p>
            <a:pPr indent="0" lvl="0" marL="0" marR="0" rtl="0" algn="l">
              <a:lnSpc>
                <a:spcPct val="100000"/>
              </a:lnSpc>
              <a:spcBef>
                <a:spcPts val="800"/>
              </a:spcBef>
              <a:spcAft>
                <a:spcPts val="0"/>
              </a:spcAft>
              <a:buClr>
                <a:schemeClr val="dk1"/>
              </a:buClr>
              <a:buSzPts val="800"/>
              <a:buFont typeface="Arial"/>
              <a:buNone/>
            </a:pPr>
            <a:r>
              <a:rPr b="1" lang="fr" sz="1000">
                <a:solidFill>
                  <a:schemeClr val="dk1"/>
                </a:solidFill>
                <a:latin typeface="Poppins"/>
                <a:ea typeface="Poppins"/>
                <a:cs typeface="Poppins"/>
                <a:sym typeface="Poppins"/>
              </a:rPr>
              <a:t>6 (Les attributs de la boîte) :</a:t>
            </a:r>
            <a:endParaRPr b="1" sz="1000">
              <a:solidFill>
                <a:schemeClr val="dk1"/>
              </a:solidFill>
              <a:latin typeface="Poppins"/>
              <a:ea typeface="Poppins"/>
              <a:cs typeface="Poppins"/>
              <a:sym typeface="Poppins"/>
            </a:endParaRPr>
          </a:p>
          <a:p>
            <a:pPr indent="0" lvl="0" marL="0" marR="0" rtl="0" algn="l">
              <a:lnSpc>
                <a:spcPct val="100000"/>
              </a:lnSpc>
              <a:spcBef>
                <a:spcPts val="800"/>
              </a:spcBef>
              <a:spcAft>
                <a:spcPts val="0"/>
              </a:spcAft>
              <a:buClr>
                <a:schemeClr val="dk1"/>
              </a:buClr>
              <a:buSzPts val="800"/>
              <a:buFont typeface="Arial"/>
              <a:buNone/>
            </a:pPr>
            <a:r>
              <a:rPr lang="fr" sz="1000" u="sng">
                <a:solidFill>
                  <a:schemeClr val="dk1"/>
                </a:solidFill>
                <a:latin typeface="Poppins"/>
                <a:ea typeface="Poppins"/>
                <a:cs typeface="Poppins"/>
                <a:sym typeface="Poppins"/>
              </a:rPr>
              <a:t>Détail des colonnes :</a:t>
            </a:r>
            <a:endParaRPr sz="1000" u="sng">
              <a:solidFill>
                <a:schemeClr val="dk1"/>
              </a:solidFill>
              <a:latin typeface="Poppins"/>
              <a:ea typeface="Poppins"/>
              <a:cs typeface="Poppins"/>
              <a:sym typeface="Poppins"/>
            </a:endParaRPr>
          </a:p>
          <a:p>
            <a:pPr indent="-292100" lvl="0" marL="457200" marR="0" rtl="0" algn="l">
              <a:lnSpc>
                <a:spcPct val="100000"/>
              </a:lnSpc>
              <a:spcBef>
                <a:spcPts val="80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x : Position horizontale du centre.</a:t>
            </a:r>
            <a:endParaRPr sz="1000">
              <a:solidFill>
                <a:schemeClr val="dk1"/>
              </a:solidFill>
              <a:latin typeface="Poppins"/>
              <a:ea typeface="Poppins"/>
              <a:cs typeface="Poppins"/>
              <a:sym typeface="Poppins"/>
            </a:endParaRPr>
          </a:p>
          <a:p>
            <a:pPr indent="-292100" lvl="0" marL="457200" marR="0" rtl="0" algn="l">
              <a:lnSpc>
                <a:spcPct val="10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y : Position verticale du centre.</a:t>
            </a:r>
            <a:endParaRPr sz="1000">
              <a:solidFill>
                <a:schemeClr val="dk1"/>
              </a:solidFill>
              <a:latin typeface="Poppins"/>
              <a:ea typeface="Poppins"/>
              <a:cs typeface="Poppins"/>
              <a:sym typeface="Poppins"/>
            </a:endParaRPr>
          </a:p>
          <a:p>
            <a:pPr indent="-292100" lvl="0" marL="457200" marR="0" rtl="0" algn="l">
              <a:lnSpc>
                <a:spcPct val="10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w : Largeur de la boîte.</a:t>
            </a:r>
            <a:endParaRPr sz="1000">
              <a:solidFill>
                <a:schemeClr val="dk1"/>
              </a:solidFill>
              <a:latin typeface="Poppins"/>
              <a:ea typeface="Poppins"/>
              <a:cs typeface="Poppins"/>
              <a:sym typeface="Poppins"/>
            </a:endParaRPr>
          </a:p>
          <a:p>
            <a:pPr indent="-292100" lvl="0" marL="457200" marR="0" rtl="0" algn="l">
              <a:lnSpc>
                <a:spcPct val="10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h : Hauteur de la boîte.</a:t>
            </a:r>
            <a:endParaRPr sz="1000">
              <a:solidFill>
                <a:schemeClr val="dk1"/>
              </a:solidFill>
              <a:latin typeface="Poppins"/>
              <a:ea typeface="Poppins"/>
              <a:cs typeface="Poppins"/>
              <a:sym typeface="Poppins"/>
            </a:endParaRPr>
          </a:p>
          <a:p>
            <a:pPr indent="-292100" lvl="0" marL="457200" marR="0" rtl="0" algn="l">
              <a:lnSpc>
                <a:spcPct val="10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Conf (Objectness) : 0 à 1</a:t>
            </a:r>
            <a:endParaRPr sz="1000">
              <a:solidFill>
                <a:schemeClr val="dk1"/>
              </a:solidFill>
              <a:latin typeface="Poppins"/>
              <a:ea typeface="Poppins"/>
              <a:cs typeface="Poppins"/>
              <a:sym typeface="Poppins"/>
            </a:endParaRPr>
          </a:p>
          <a:p>
            <a:pPr indent="-292100" lvl="0" marL="457200" marR="0" rtl="0" algn="l">
              <a:lnSpc>
                <a:spcPct val="10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Class (Probabilité) :  YOLOP ne détecte qu'une classe : Traffic Object.</a:t>
            </a:r>
            <a:endParaRPr sz="1000">
              <a:solidFill>
                <a:schemeClr val="dk1"/>
              </a:solidFill>
              <a:latin typeface="Poppins"/>
              <a:ea typeface="Poppins"/>
              <a:cs typeface="Poppins"/>
              <a:sym typeface="Poppins"/>
            </a:endParaRPr>
          </a:p>
          <a:p>
            <a:pPr indent="0" lvl="0" marL="0" marR="0" rtl="0" algn="l">
              <a:lnSpc>
                <a:spcPct val="100000"/>
              </a:lnSpc>
              <a:spcBef>
                <a:spcPts val="800"/>
              </a:spcBef>
              <a:spcAft>
                <a:spcPts val="0"/>
              </a:spcAft>
              <a:buNone/>
            </a:pPr>
            <a:r>
              <a:rPr lang="fr" sz="1000">
                <a:solidFill>
                  <a:schemeClr val="dk1"/>
                </a:solidFill>
                <a:latin typeface="Poppins"/>
                <a:ea typeface="Poppins"/>
                <a:cs typeface="Poppins"/>
                <a:sym typeface="Poppins"/>
              </a:rPr>
              <a:t>La distribution de ces attributs en orange sur une image , en rose sur 1000 images.</a:t>
            </a:r>
            <a:endParaRPr sz="1000">
              <a:solidFill>
                <a:schemeClr val="dk1"/>
              </a:solidFill>
              <a:latin typeface="Poppins"/>
              <a:ea typeface="Poppins"/>
              <a:cs typeface="Poppins"/>
              <a:sym typeface="Poppins"/>
            </a:endParaRPr>
          </a:p>
          <a:p>
            <a:pPr indent="0" lvl="0" marL="0" marR="0" rtl="0" algn="l">
              <a:lnSpc>
                <a:spcPct val="100000"/>
              </a:lnSpc>
              <a:spcBef>
                <a:spcPts val="800"/>
              </a:spcBef>
              <a:spcAft>
                <a:spcPts val="0"/>
              </a:spcAft>
              <a:buNone/>
            </a:pPr>
            <a:r>
              <a:rPr lang="fr" sz="1000">
                <a:solidFill>
                  <a:schemeClr val="dk1"/>
                </a:solidFill>
                <a:latin typeface="Poppins"/>
                <a:ea typeface="Poppins"/>
                <a:cs typeface="Poppins"/>
                <a:sym typeface="Poppins"/>
              </a:rPr>
              <a:t>Ces attributs ne sont pas normalisés, les coordonnées, ce qui limite la quantification.</a:t>
            </a:r>
            <a:endParaRPr sz="1000">
              <a:solidFill>
                <a:schemeClr val="dk1"/>
              </a:solidFill>
              <a:latin typeface="Poppins"/>
              <a:ea typeface="Poppins"/>
              <a:cs typeface="Poppins"/>
              <a:sym typeface="Poppins"/>
            </a:endParaRPr>
          </a:p>
        </p:txBody>
      </p:sp>
      <p:sp>
        <p:nvSpPr>
          <p:cNvPr id="437" name="Google Shape;437;p42"/>
          <p:cNvSpPr/>
          <p:nvPr/>
        </p:nvSpPr>
        <p:spPr>
          <a:xfrm>
            <a:off x="8138503" y="78868"/>
            <a:ext cx="170700" cy="170700"/>
          </a:xfrm>
          <a:prstGeom prst="ellipse">
            <a:avLst/>
          </a:prstGeom>
          <a:solidFill>
            <a:srgbClr val="DC943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38" name="Google Shape;438;p42"/>
          <p:cNvSpPr/>
          <p:nvPr/>
        </p:nvSpPr>
        <p:spPr>
          <a:xfrm>
            <a:off x="8437702" y="-408632"/>
            <a:ext cx="502500" cy="502500"/>
          </a:xfrm>
          <a:prstGeom prst="ellipse">
            <a:avLst/>
          </a:prstGeom>
          <a:noFill/>
          <a:ln cap="flat" cmpd="sng" w="57150">
            <a:solidFill>
              <a:srgbClr val="D2565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39" name="Google Shape;439;p42"/>
          <p:cNvSpPr txBox="1"/>
          <p:nvPr/>
        </p:nvSpPr>
        <p:spPr>
          <a:xfrm>
            <a:off x="615070" y="361375"/>
            <a:ext cx="28518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Analyse de la node</a:t>
            </a:r>
            <a:endParaRPr sz="1100"/>
          </a:p>
        </p:txBody>
      </p:sp>
      <p:pic>
        <p:nvPicPr>
          <p:cNvPr id="440" name="Google Shape;440;p42"/>
          <p:cNvPicPr preferRelativeResize="0"/>
          <p:nvPr/>
        </p:nvPicPr>
        <p:blipFill rotWithShape="1">
          <a:blip r:embed="rId3">
            <a:alphaModFix/>
          </a:blip>
          <a:srcRect b="14821" l="9067" r="5948" t="0"/>
          <a:stretch/>
        </p:blipFill>
        <p:spPr>
          <a:xfrm>
            <a:off x="3522050" y="51300"/>
            <a:ext cx="1214400" cy="673200"/>
          </a:xfrm>
          <a:prstGeom prst="round2DiagRect">
            <a:avLst>
              <a:gd fmla="val 16667" name="adj1"/>
              <a:gd fmla="val 0" name="adj2"/>
            </a:avLst>
          </a:prstGeom>
          <a:noFill/>
          <a:ln cap="flat" cmpd="sng" w="38100">
            <a:solidFill>
              <a:schemeClr val="accent2"/>
            </a:solidFill>
            <a:prstDash val="solid"/>
            <a:round/>
            <a:headEnd len="sm" w="sm" type="none"/>
            <a:tailEnd len="sm" w="sm" type="none"/>
          </a:ln>
        </p:spPr>
      </p:pic>
      <p:sp>
        <p:nvSpPr>
          <p:cNvPr id="441" name="Google Shape;441;p42"/>
          <p:cNvSpPr/>
          <p:nvPr/>
        </p:nvSpPr>
        <p:spPr>
          <a:xfrm>
            <a:off x="0" y="2650654"/>
            <a:ext cx="466200" cy="466200"/>
          </a:xfrm>
          <a:prstGeom prst="ellipse">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442" name="Google Shape;442;p42"/>
          <p:cNvPicPr preferRelativeResize="0"/>
          <p:nvPr/>
        </p:nvPicPr>
        <p:blipFill>
          <a:blip r:embed="rId4">
            <a:alphaModFix/>
          </a:blip>
          <a:stretch>
            <a:fillRect/>
          </a:stretch>
        </p:blipFill>
        <p:spPr>
          <a:xfrm>
            <a:off x="226862" y="838412"/>
            <a:ext cx="5028900" cy="1993800"/>
          </a:xfrm>
          <a:prstGeom prst="round2DiagRect">
            <a:avLst>
              <a:gd fmla="val 16667" name="adj1"/>
              <a:gd fmla="val 0" name="adj2"/>
            </a:avLst>
          </a:prstGeom>
          <a:solidFill>
            <a:srgbClr val="EEF1F3"/>
          </a:solidFill>
          <a:ln cap="flat" cmpd="sng" w="28575">
            <a:solidFill>
              <a:schemeClr val="dk2"/>
            </a:solidFill>
            <a:prstDash val="solid"/>
            <a:round/>
            <a:headEnd len="sm" w="sm" type="none"/>
            <a:tailEnd len="sm" w="sm" type="none"/>
          </a:ln>
        </p:spPr>
      </p:pic>
      <p:sp>
        <p:nvSpPr>
          <p:cNvPr id="443" name="Google Shape;443;p42"/>
          <p:cNvSpPr/>
          <p:nvPr/>
        </p:nvSpPr>
        <p:spPr>
          <a:xfrm>
            <a:off x="4906554" y="4582493"/>
            <a:ext cx="439800" cy="430500"/>
          </a:xfrm>
          <a:prstGeom prst="rect">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444" name="Google Shape;444;p42"/>
          <p:cNvPicPr preferRelativeResize="0"/>
          <p:nvPr/>
        </p:nvPicPr>
        <p:blipFill>
          <a:blip r:embed="rId5">
            <a:alphaModFix/>
          </a:blip>
          <a:stretch>
            <a:fillRect/>
          </a:stretch>
        </p:blipFill>
        <p:spPr>
          <a:xfrm>
            <a:off x="226850" y="2946108"/>
            <a:ext cx="5028900" cy="1996500"/>
          </a:xfrm>
          <a:prstGeom prst="round2DiagRect">
            <a:avLst>
              <a:gd fmla="val 0" name="adj1"/>
              <a:gd fmla="val 12917" name="adj2"/>
            </a:avLst>
          </a:prstGeom>
          <a:solidFill>
            <a:srgbClr val="EEF1F3"/>
          </a:solidFill>
          <a:ln cap="flat" cmpd="sng" w="28575">
            <a:solidFill>
              <a:schemeClr val="accent1"/>
            </a:solidFill>
            <a:prstDash val="solid"/>
            <a:round/>
            <a:headEnd len="sm" w="sm" type="none"/>
            <a:tailEnd len="sm" w="sm" type="none"/>
          </a:ln>
        </p:spPr>
      </p:pic>
      <p:sp>
        <p:nvSpPr>
          <p:cNvPr id="445" name="Google Shape;445;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3"/>
          <p:cNvSpPr txBox="1"/>
          <p:nvPr>
            <p:ph idx="1" type="body"/>
          </p:nvPr>
        </p:nvSpPr>
        <p:spPr>
          <a:xfrm>
            <a:off x="615085" y="382455"/>
            <a:ext cx="3480600" cy="2904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dk1"/>
              </a:buClr>
              <a:buFont typeface="Arial"/>
              <a:buNone/>
            </a:pPr>
            <a:r>
              <a:rPr lang="fr"/>
              <a:t>Analyse Mathematique </a:t>
            </a:r>
            <a:endParaRPr/>
          </a:p>
        </p:txBody>
      </p:sp>
      <p:sp>
        <p:nvSpPr>
          <p:cNvPr id="451" name="Google Shape;451;p43"/>
          <p:cNvSpPr txBox="1"/>
          <p:nvPr>
            <p:ph idx="2" type="body"/>
          </p:nvPr>
        </p:nvSpPr>
        <p:spPr>
          <a:xfrm>
            <a:off x="103950" y="1555663"/>
            <a:ext cx="4187700" cy="1381800"/>
          </a:xfrm>
          <a:prstGeom prst="rect">
            <a:avLst/>
          </a:prstGeom>
          <a:noFill/>
          <a:ln>
            <a:noFill/>
          </a:ln>
        </p:spPr>
        <p:txBody>
          <a:bodyPr anchorCtr="0" anchor="t" bIns="34275" lIns="68575" spcFirstLastPara="1" rIns="68575" wrap="square" tIns="34275">
            <a:noAutofit/>
          </a:bodyPr>
          <a:lstStyle/>
          <a:p>
            <a:pPr indent="0" lvl="0" marL="0" marR="0" rtl="0" algn="just">
              <a:lnSpc>
                <a:spcPct val="133333"/>
              </a:lnSpc>
              <a:spcBef>
                <a:spcPts val="0"/>
              </a:spcBef>
              <a:spcAft>
                <a:spcPts val="0"/>
              </a:spcAft>
              <a:buClr>
                <a:schemeClr val="dk1"/>
              </a:buClr>
              <a:buSzPts val="900"/>
              <a:buFont typeface="Arial"/>
              <a:buNone/>
            </a:pPr>
            <a:r>
              <a:rPr lang="fr" sz="1000"/>
              <a:t>Entropie cherche à trouver un seuil T qui minimise la perte d'information. Cette perte est calculée par la </a:t>
            </a:r>
            <a:r>
              <a:rPr b="1" lang="fr" sz="1000"/>
              <a:t>Divergence de Kullback-Leibler</a:t>
            </a:r>
            <a:r>
              <a:rPr lang="fr" sz="1000"/>
              <a:t>,</a:t>
            </a:r>
            <a:endParaRPr sz="1000"/>
          </a:p>
          <a:p>
            <a:pPr indent="-292100" lvl="0" marL="457200" marR="0" rtl="0" algn="just">
              <a:lnSpc>
                <a:spcPct val="133333"/>
              </a:lnSpc>
              <a:spcBef>
                <a:spcPts val="0"/>
              </a:spcBef>
              <a:spcAft>
                <a:spcPts val="0"/>
              </a:spcAft>
              <a:buSzPts val="1000"/>
              <a:buFont typeface="Arial"/>
              <a:buChar char="●"/>
            </a:pPr>
            <a:r>
              <a:rPr b="1" lang="fr" sz="1000"/>
              <a:t>P(i)</a:t>
            </a:r>
            <a:r>
              <a:rPr lang="fr" sz="1000"/>
              <a:t> : La probabilité (fréquence) d'une valeur i en </a:t>
            </a:r>
            <a:r>
              <a:rPr b="1" lang="fr" sz="1000"/>
              <a:t>Float32</a:t>
            </a:r>
            <a:endParaRPr b="1" sz="1000"/>
          </a:p>
          <a:p>
            <a:pPr indent="-292100" lvl="0" marL="457200" marR="0" rtl="0" algn="just">
              <a:lnSpc>
                <a:spcPct val="133333"/>
              </a:lnSpc>
              <a:spcBef>
                <a:spcPts val="0"/>
              </a:spcBef>
              <a:spcAft>
                <a:spcPts val="0"/>
              </a:spcAft>
              <a:buSzPts val="1000"/>
              <a:buFont typeface="Arial"/>
              <a:buChar char="●"/>
            </a:pPr>
            <a:r>
              <a:rPr b="1" lang="fr" sz="1000"/>
              <a:t>Q(i)</a:t>
            </a:r>
            <a:r>
              <a:rPr lang="fr" sz="1000"/>
              <a:t> : La probabilité de cette même valeur en </a:t>
            </a:r>
            <a:r>
              <a:rPr b="1" lang="fr" sz="1000"/>
              <a:t>INT8</a:t>
            </a:r>
            <a:endParaRPr b="1" sz="1000"/>
          </a:p>
          <a:p>
            <a:pPr indent="0" lvl="0" marL="0" marR="0" rtl="0" algn="just">
              <a:lnSpc>
                <a:spcPct val="133333"/>
              </a:lnSpc>
              <a:spcBef>
                <a:spcPts val="0"/>
              </a:spcBef>
              <a:spcAft>
                <a:spcPts val="0"/>
              </a:spcAft>
              <a:buNone/>
            </a:pPr>
            <a:r>
              <a:rPr lang="fr" sz="1000"/>
              <a:t>Donc pour minimiser il faut </a:t>
            </a:r>
            <a:r>
              <a:rPr b="1" lang="fr" sz="1000" u="sng"/>
              <a:t>P(i) = Q(i)</a:t>
            </a:r>
            <a:r>
              <a:rPr lang="fr" sz="1000" u="sng"/>
              <a:t>  =&gt; log(1) = 0</a:t>
            </a:r>
            <a:endParaRPr sz="1000" u="sng"/>
          </a:p>
          <a:p>
            <a:pPr indent="0" lvl="0" marL="0" marR="0" rtl="0" algn="just">
              <a:lnSpc>
                <a:spcPct val="133333"/>
              </a:lnSpc>
              <a:spcBef>
                <a:spcPts val="0"/>
              </a:spcBef>
              <a:spcAft>
                <a:spcPts val="0"/>
              </a:spcAft>
              <a:buClr>
                <a:schemeClr val="dk1"/>
              </a:buClr>
              <a:buSzPts val="900"/>
              <a:buFont typeface="Arial"/>
              <a:buNone/>
            </a:pPr>
            <a:r>
              <a:t/>
            </a:r>
            <a:endParaRPr b="1" sz="1000"/>
          </a:p>
        </p:txBody>
      </p:sp>
      <p:sp>
        <p:nvSpPr>
          <p:cNvPr id="452" name="Google Shape;452;p43"/>
          <p:cNvSpPr txBox="1"/>
          <p:nvPr>
            <p:ph idx="3" type="body"/>
          </p:nvPr>
        </p:nvSpPr>
        <p:spPr>
          <a:xfrm>
            <a:off x="4437475" y="233210"/>
            <a:ext cx="4444200" cy="35997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fr" sz="1000"/>
              <a:t>Méthodologie ONNX Runtime :</a:t>
            </a:r>
            <a:endParaRPr b="1" sz="1000"/>
          </a:p>
          <a:p>
            <a:pPr indent="-292100" lvl="0" marL="457200" rtl="0" algn="l">
              <a:lnSpc>
                <a:spcPct val="115000"/>
              </a:lnSpc>
              <a:spcBef>
                <a:spcPts val="0"/>
              </a:spcBef>
              <a:spcAft>
                <a:spcPts val="0"/>
              </a:spcAft>
              <a:buSzPts val="1000"/>
              <a:buChar char="●"/>
            </a:pPr>
            <a:r>
              <a:rPr lang="fr" sz="1000"/>
              <a:t>Pas de probabilités théoriques, mais une approche </a:t>
            </a:r>
            <a:r>
              <a:rPr b="1" lang="fr" sz="1000"/>
              <a:t>statistique empirique</a:t>
            </a:r>
            <a:r>
              <a:rPr lang="fr" sz="1000"/>
              <a:t>.</a:t>
            </a:r>
            <a:endParaRPr sz="1000"/>
          </a:p>
          <a:p>
            <a:pPr indent="-292100" lvl="0" marL="457200" rtl="0" algn="l">
              <a:lnSpc>
                <a:spcPct val="115000"/>
              </a:lnSpc>
              <a:spcBef>
                <a:spcPts val="0"/>
              </a:spcBef>
              <a:spcAft>
                <a:spcPts val="0"/>
              </a:spcAft>
              <a:buSzPts val="1000"/>
              <a:buFont typeface="Poppins"/>
              <a:buChar char="●"/>
            </a:pPr>
            <a:r>
              <a:rPr lang="fr" sz="1000"/>
              <a:t>Inférence sur un dataset de calibration (50 images).</a:t>
            </a:r>
            <a:endParaRPr sz="1000"/>
          </a:p>
          <a:p>
            <a:pPr indent="-292100" lvl="0" marL="457200" rtl="0" algn="l">
              <a:lnSpc>
                <a:spcPct val="115000"/>
              </a:lnSpc>
              <a:spcBef>
                <a:spcPts val="0"/>
              </a:spcBef>
              <a:spcAft>
                <a:spcPts val="0"/>
              </a:spcAft>
              <a:buSzPts val="1000"/>
              <a:buFont typeface="Poppins"/>
              <a:buChar char="●"/>
            </a:pPr>
            <a:r>
              <a:rPr lang="fr" sz="1000"/>
              <a:t>Collecte et agrégation de toutes les valeurs brutes (float32) dans un histogramme unique pour estimer la densité de probabilité P(i).</a:t>
            </a:r>
            <a:endParaRPr sz="1000"/>
          </a:p>
          <a:p>
            <a:pPr indent="0" lvl="0" marL="0" rtl="0" algn="l">
              <a:lnSpc>
                <a:spcPct val="115000"/>
              </a:lnSpc>
              <a:spcBef>
                <a:spcPts val="1200"/>
              </a:spcBef>
              <a:spcAft>
                <a:spcPts val="0"/>
              </a:spcAft>
              <a:buClr>
                <a:schemeClr val="dk1"/>
              </a:buClr>
              <a:buSzPts val="1100"/>
              <a:buFont typeface="Arial"/>
              <a:buNone/>
            </a:pPr>
            <a:r>
              <a:rPr b="1" lang="fr" sz="1000"/>
              <a:t>Analyse de l'histogramme (Nœud Concat) :</a:t>
            </a:r>
            <a:endParaRPr b="1" sz="1000"/>
          </a:p>
          <a:p>
            <a:pPr indent="-292100" lvl="0" marL="457200" rtl="0" algn="l">
              <a:lnSpc>
                <a:spcPct val="115000"/>
              </a:lnSpc>
              <a:spcBef>
                <a:spcPts val="0"/>
              </a:spcBef>
              <a:spcAft>
                <a:spcPts val="0"/>
              </a:spcAft>
              <a:buSzPts val="1000"/>
              <a:buChar char="●"/>
            </a:pPr>
            <a:r>
              <a:rPr b="1" lang="fr" sz="1000"/>
              <a:t>Fusion critique :</a:t>
            </a:r>
            <a:r>
              <a:rPr lang="fr" sz="1000"/>
              <a:t> Les 6 attributs de sortie sont mélangés dans la même distribution.</a:t>
            </a:r>
            <a:endParaRPr sz="1000"/>
          </a:p>
          <a:p>
            <a:pPr indent="-292100" lvl="0" marL="457200" rtl="0" algn="l">
              <a:lnSpc>
                <a:spcPct val="115000"/>
              </a:lnSpc>
              <a:spcBef>
                <a:spcPts val="0"/>
              </a:spcBef>
              <a:spcAft>
                <a:spcPts val="0"/>
              </a:spcAft>
              <a:buSzPts val="1000"/>
              <a:buFont typeface="Poppins"/>
              <a:buChar char="●"/>
            </a:pPr>
            <a:r>
              <a:rPr b="1" lang="fr" sz="1000"/>
              <a:t>Conflit d'échelles :</a:t>
            </a:r>
            <a:endParaRPr b="1" sz="1000"/>
          </a:p>
          <a:p>
            <a:pPr indent="-292100" lvl="1" marL="914400" rtl="0" algn="l">
              <a:lnSpc>
                <a:spcPct val="115000"/>
              </a:lnSpc>
              <a:spcBef>
                <a:spcPts val="0"/>
              </a:spcBef>
              <a:spcAft>
                <a:spcPts val="0"/>
              </a:spcAft>
              <a:buSzPts val="1000"/>
              <a:buFont typeface="Poppins"/>
              <a:buChar char="○"/>
            </a:pPr>
            <a:r>
              <a:rPr lang="fr" sz="1000">
                <a:latin typeface="Poppins"/>
                <a:ea typeface="Poppins"/>
                <a:cs typeface="Poppins"/>
                <a:sym typeface="Poppins"/>
              </a:rPr>
              <a:t>2 canaux de probabilités (Confiance/Classe) : valeurs  ∈ [0, 1].</a:t>
            </a:r>
            <a:endParaRPr sz="1000">
              <a:latin typeface="Poppins"/>
              <a:ea typeface="Poppins"/>
              <a:cs typeface="Poppins"/>
              <a:sym typeface="Poppins"/>
            </a:endParaRPr>
          </a:p>
          <a:p>
            <a:pPr indent="-292100" lvl="1" marL="914400" rtl="0" algn="l">
              <a:lnSpc>
                <a:spcPct val="115000"/>
              </a:lnSpc>
              <a:spcBef>
                <a:spcPts val="0"/>
              </a:spcBef>
              <a:spcAft>
                <a:spcPts val="0"/>
              </a:spcAft>
              <a:buSzPts val="1000"/>
              <a:buFont typeface="Poppins"/>
              <a:buChar char="○"/>
            </a:pPr>
            <a:r>
              <a:rPr lang="fr" sz="1000">
                <a:latin typeface="Poppins"/>
                <a:ea typeface="Poppins"/>
                <a:cs typeface="Poppins"/>
                <a:sym typeface="Poppins"/>
              </a:rPr>
              <a:t>4 canaux de coordonnées (Box) : ∈ [0, 640].</a:t>
            </a:r>
            <a:endParaRPr sz="1000">
              <a:latin typeface="Poppins"/>
              <a:ea typeface="Poppins"/>
              <a:cs typeface="Poppins"/>
              <a:sym typeface="Poppins"/>
            </a:endParaRPr>
          </a:p>
          <a:p>
            <a:pPr indent="-292100" lvl="0" marL="457200" rtl="0" algn="l">
              <a:lnSpc>
                <a:spcPct val="115000"/>
              </a:lnSpc>
              <a:spcBef>
                <a:spcPts val="0"/>
              </a:spcBef>
              <a:spcAft>
                <a:spcPts val="0"/>
              </a:spcAft>
              <a:buSzPts val="1000"/>
              <a:buChar char="●"/>
            </a:pPr>
            <a:r>
              <a:rPr b="1" lang="fr" sz="1000"/>
              <a:t>Conséquence :</a:t>
            </a:r>
            <a:r>
              <a:rPr lang="fr" sz="1000"/>
              <a:t> La dynamique de l'histogramme est dominée par les coordonnées (&gt; 1). Les probabilités sont "noyées" dans la première barre de l'histogramme.</a:t>
            </a:r>
            <a:endParaRPr sz="1000"/>
          </a:p>
          <a:p>
            <a:pPr indent="0" lvl="0" marL="0" marR="0" rtl="0" algn="just">
              <a:lnSpc>
                <a:spcPct val="133333"/>
              </a:lnSpc>
              <a:spcBef>
                <a:spcPts val="1200"/>
              </a:spcBef>
              <a:spcAft>
                <a:spcPts val="0"/>
              </a:spcAft>
              <a:buClr>
                <a:schemeClr val="dk1"/>
              </a:buClr>
              <a:buSzPts val="900"/>
              <a:buFont typeface="Arial"/>
              <a:buNone/>
            </a:pPr>
            <a:r>
              <a:t/>
            </a:r>
            <a:endParaRPr sz="1000"/>
          </a:p>
        </p:txBody>
      </p:sp>
      <p:pic>
        <p:nvPicPr>
          <p:cNvPr id="453" name="Google Shape;453;p43"/>
          <p:cNvPicPr preferRelativeResize="0"/>
          <p:nvPr/>
        </p:nvPicPr>
        <p:blipFill>
          <a:blip r:embed="rId3">
            <a:alphaModFix/>
          </a:blip>
          <a:stretch>
            <a:fillRect/>
          </a:stretch>
        </p:blipFill>
        <p:spPr>
          <a:xfrm>
            <a:off x="1015585" y="877523"/>
            <a:ext cx="2513400" cy="608100"/>
          </a:xfrm>
          <a:prstGeom prst="round2DiagRect">
            <a:avLst>
              <a:gd fmla="val 16667" name="adj1"/>
              <a:gd fmla="val 0" name="adj2"/>
            </a:avLst>
          </a:prstGeom>
          <a:noFill/>
          <a:ln cap="flat" cmpd="sng" w="38100">
            <a:solidFill>
              <a:schemeClr val="accent3"/>
            </a:solidFill>
            <a:prstDash val="solid"/>
            <a:round/>
            <a:headEnd len="sm" w="sm" type="none"/>
            <a:tailEnd len="sm" w="sm" type="none"/>
          </a:ln>
        </p:spPr>
      </p:pic>
      <p:pic>
        <p:nvPicPr>
          <p:cNvPr id="454" name="Google Shape;454;p43"/>
          <p:cNvPicPr preferRelativeResize="0"/>
          <p:nvPr/>
        </p:nvPicPr>
        <p:blipFill>
          <a:blip r:embed="rId4">
            <a:alphaModFix/>
          </a:blip>
          <a:stretch>
            <a:fillRect/>
          </a:stretch>
        </p:blipFill>
        <p:spPr>
          <a:xfrm>
            <a:off x="921460" y="3007519"/>
            <a:ext cx="2552700" cy="495300"/>
          </a:xfrm>
          <a:prstGeom prst="round2DiagRect">
            <a:avLst>
              <a:gd fmla="val 16667" name="adj1"/>
              <a:gd fmla="val 0" name="adj2"/>
            </a:avLst>
          </a:prstGeom>
          <a:noFill/>
          <a:ln cap="flat" cmpd="sng" w="38100">
            <a:solidFill>
              <a:schemeClr val="accent1"/>
            </a:solidFill>
            <a:prstDash val="solid"/>
            <a:round/>
            <a:headEnd len="sm" w="sm" type="none"/>
            <a:tailEnd len="sm" w="sm" type="none"/>
          </a:ln>
        </p:spPr>
      </p:pic>
      <p:pic>
        <p:nvPicPr>
          <p:cNvPr id="455" name="Google Shape;455;p43"/>
          <p:cNvPicPr preferRelativeResize="0"/>
          <p:nvPr/>
        </p:nvPicPr>
        <p:blipFill>
          <a:blip r:embed="rId5">
            <a:alphaModFix/>
          </a:blip>
          <a:stretch>
            <a:fillRect/>
          </a:stretch>
        </p:blipFill>
        <p:spPr>
          <a:xfrm>
            <a:off x="103950" y="3669302"/>
            <a:ext cx="1938000" cy="617700"/>
          </a:xfrm>
          <a:prstGeom prst="round2DiagRect">
            <a:avLst>
              <a:gd fmla="val 16667" name="adj1"/>
              <a:gd fmla="val 0" name="adj2"/>
            </a:avLst>
          </a:prstGeom>
          <a:noFill/>
          <a:ln cap="flat" cmpd="sng" w="38100">
            <a:solidFill>
              <a:schemeClr val="accent2"/>
            </a:solidFill>
            <a:prstDash val="solid"/>
            <a:round/>
            <a:headEnd len="sm" w="sm" type="none"/>
            <a:tailEnd len="sm" w="sm" type="none"/>
          </a:ln>
        </p:spPr>
      </p:pic>
      <p:pic>
        <p:nvPicPr>
          <p:cNvPr id="456" name="Google Shape;456;p43"/>
          <p:cNvPicPr preferRelativeResize="0"/>
          <p:nvPr/>
        </p:nvPicPr>
        <p:blipFill>
          <a:blip r:embed="rId6">
            <a:alphaModFix/>
          </a:blip>
          <a:stretch>
            <a:fillRect/>
          </a:stretch>
        </p:blipFill>
        <p:spPr>
          <a:xfrm>
            <a:off x="2041950" y="4340125"/>
            <a:ext cx="2156400" cy="617700"/>
          </a:xfrm>
          <a:prstGeom prst="round2DiagRect">
            <a:avLst>
              <a:gd fmla="val 16667" name="adj1"/>
              <a:gd fmla="val 0" name="adj2"/>
            </a:avLst>
          </a:prstGeom>
          <a:noFill/>
          <a:ln cap="flat" cmpd="sng" w="38100">
            <a:solidFill>
              <a:schemeClr val="dk2"/>
            </a:solidFill>
            <a:prstDash val="solid"/>
            <a:round/>
            <a:headEnd len="sm" w="sm" type="none"/>
            <a:tailEnd len="sm" w="sm" type="none"/>
          </a:ln>
        </p:spPr>
      </p:pic>
      <p:pic>
        <p:nvPicPr>
          <p:cNvPr id="457" name="Google Shape;457;p43"/>
          <p:cNvPicPr preferRelativeResize="0"/>
          <p:nvPr/>
        </p:nvPicPr>
        <p:blipFill>
          <a:blip r:embed="rId7">
            <a:alphaModFix/>
          </a:blip>
          <a:stretch>
            <a:fillRect/>
          </a:stretch>
        </p:blipFill>
        <p:spPr>
          <a:xfrm>
            <a:off x="5237125" y="3427370"/>
            <a:ext cx="2844900" cy="1552500"/>
          </a:xfrm>
          <a:prstGeom prst="round2DiagRect">
            <a:avLst>
              <a:gd fmla="val 0" name="adj1"/>
              <a:gd fmla="val 15442" name="adj2"/>
            </a:avLst>
          </a:prstGeom>
          <a:noFill/>
          <a:ln cap="flat" cmpd="sng" w="38100">
            <a:solidFill>
              <a:schemeClr val="accent3"/>
            </a:solidFill>
            <a:prstDash val="solid"/>
            <a:round/>
            <a:headEnd len="sm" w="sm" type="none"/>
            <a:tailEnd len="sm" w="sm" type="none"/>
          </a:ln>
        </p:spPr>
      </p:pic>
      <p:sp>
        <p:nvSpPr>
          <p:cNvPr id="458" name="Google Shape;458;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4"/>
          <p:cNvSpPr/>
          <p:nvPr/>
        </p:nvSpPr>
        <p:spPr>
          <a:xfrm rot="5400000">
            <a:off x="4985214" y="2697071"/>
            <a:ext cx="368700" cy="368700"/>
          </a:xfrm>
          <a:prstGeom prst="corner">
            <a:avLst>
              <a:gd fmla="val 50000" name="adj1"/>
              <a:gd fmla="val 50000" name="adj2"/>
            </a:avLst>
          </a:prstGeom>
          <a:solidFill>
            <a:srgbClr val="BAA64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65" name="Google Shape;465;p44"/>
          <p:cNvSpPr/>
          <p:nvPr/>
        </p:nvSpPr>
        <p:spPr>
          <a:xfrm>
            <a:off x="2256199" y="2817528"/>
            <a:ext cx="1042800" cy="127800"/>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66" name="Google Shape;466;p44"/>
          <p:cNvSpPr/>
          <p:nvPr/>
        </p:nvSpPr>
        <p:spPr>
          <a:xfrm>
            <a:off x="62886" y="2508861"/>
            <a:ext cx="433500" cy="433500"/>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467" name="Google Shape;467;p44"/>
          <p:cNvPicPr preferRelativeResize="0"/>
          <p:nvPr/>
        </p:nvPicPr>
        <p:blipFill rotWithShape="1">
          <a:blip r:embed="rId3">
            <a:alphaModFix/>
          </a:blip>
          <a:srcRect b="0" l="0" r="0" t="0"/>
          <a:stretch/>
        </p:blipFill>
        <p:spPr>
          <a:xfrm rot="240920">
            <a:off x="4180452" y="-256961"/>
            <a:ext cx="932074" cy="1020144"/>
          </a:xfrm>
          <a:prstGeom prst="rect">
            <a:avLst/>
          </a:prstGeom>
          <a:noFill/>
          <a:ln>
            <a:noFill/>
          </a:ln>
        </p:spPr>
      </p:pic>
      <p:sp>
        <p:nvSpPr>
          <p:cNvPr id="468" name="Google Shape;468;p44"/>
          <p:cNvSpPr txBox="1"/>
          <p:nvPr/>
        </p:nvSpPr>
        <p:spPr>
          <a:xfrm>
            <a:off x="615073" y="361375"/>
            <a:ext cx="34755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solidFill>
                  <a:srgbClr val="000000"/>
                </a:solidFill>
                <a:latin typeface="Poppins SemiBold"/>
                <a:ea typeface="Poppins SemiBold"/>
                <a:cs typeface="Poppins SemiBold"/>
                <a:sym typeface="Poppins SemiBold"/>
              </a:rPr>
              <a:t>Mise en avant </a:t>
            </a:r>
            <a:r>
              <a:rPr b="1" lang="fr" sz="1700">
                <a:latin typeface="Poppins SemiBold"/>
                <a:ea typeface="Poppins SemiBold"/>
                <a:cs typeface="Poppins SemiBold"/>
                <a:sym typeface="Poppins SemiBold"/>
              </a:rPr>
              <a:t>du problème </a:t>
            </a:r>
            <a:endParaRPr sz="1100"/>
          </a:p>
        </p:txBody>
      </p:sp>
      <p:sp>
        <p:nvSpPr>
          <p:cNvPr id="469" name="Google Shape;469;p44"/>
          <p:cNvSpPr/>
          <p:nvPr/>
        </p:nvSpPr>
        <p:spPr>
          <a:xfrm>
            <a:off x="700871" y="766821"/>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70" name="Google Shape;470;p44"/>
          <p:cNvSpPr/>
          <p:nvPr/>
        </p:nvSpPr>
        <p:spPr>
          <a:xfrm rot="5400000">
            <a:off x="5731023" y="1260875"/>
            <a:ext cx="918600" cy="1258200"/>
          </a:xfrm>
          <a:prstGeom prst="bentArrow">
            <a:avLst>
              <a:gd fmla="val 25000" name="adj1"/>
              <a:gd fmla="val 25000" name="adj2"/>
              <a:gd fmla="val 25000" name="adj3"/>
              <a:gd fmla="val 43750" name="adj4"/>
            </a:avLst>
          </a:prstGeom>
          <a:solidFill>
            <a:schemeClr val="accent4"/>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 name="Google Shape;471;p44"/>
          <p:cNvSpPr/>
          <p:nvPr/>
        </p:nvSpPr>
        <p:spPr>
          <a:xfrm>
            <a:off x="4764435" y="710557"/>
            <a:ext cx="439800" cy="4305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472" name="Google Shape;472;p44"/>
          <p:cNvPicPr preferRelativeResize="0"/>
          <p:nvPr/>
        </p:nvPicPr>
        <p:blipFill>
          <a:blip r:embed="rId4">
            <a:alphaModFix/>
          </a:blip>
          <a:stretch>
            <a:fillRect/>
          </a:stretch>
        </p:blipFill>
        <p:spPr>
          <a:xfrm>
            <a:off x="226850" y="850976"/>
            <a:ext cx="4824000" cy="1912800"/>
          </a:xfrm>
          <a:prstGeom prst="round2DiagRect">
            <a:avLst>
              <a:gd fmla="val 16667" name="adj1"/>
              <a:gd fmla="val 0" name="adj2"/>
            </a:avLst>
          </a:prstGeom>
          <a:solidFill>
            <a:srgbClr val="EEF1F3"/>
          </a:solidFill>
          <a:ln cap="flat" cmpd="sng" w="28575">
            <a:solidFill>
              <a:schemeClr val="dk2"/>
            </a:solidFill>
            <a:prstDash val="solid"/>
            <a:round/>
            <a:headEnd len="sm" w="sm" type="none"/>
            <a:tailEnd len="sm" w="sm" type="none"/>
          </a:ln>
        </p:spPr>
      </p:pic>
      <p:sp>
        <p:nvSpPr>
          <p:cNvPr id="473" name="Google Shape;473;p44"/>
          <p:cNvSpPr/>
          <p:nvPr/>
        </p:nvSpPr>
        <p:spPr>
          <a:xfrm>
            <a:off x="8615376" y="4539425"/>
            <a:ext cx="541200" cy="541200"/>
          </a:xfrm>
          <a:prstGeom prst="ellipse">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474" name="Google Shape;474;p44"/>
          <p:cNvPicPr preferRelativeResize="0"/>
          <p:nvPr/>
        </p:nvPicPr>
        <p:blipFill>
          <a:blip r:embed="rId5">
            <a:alphaModFix/>
          </a:blip>
          <a:stretch>
            <a:fillRect/>
          </a:stretch>
        </p:blipFill>
        <p:spPr>
          <a:xfrm>
            <a:off x="5058825" y="2775875"/>
            <a:ext cx="3921600" cy="2140200"/>
          </a:xfrm>
          <a:prstGeom prst="round2DiagRect">
            <a:avLst>
              <a:gd fmla="val 0" name="adj1"/>
              <a:gd fmla="val 15442" name="adj2"/>
            </a:avLst>
          </a:prstGeom>
          <a:noFill/>
          <a:ln cap="flat" cmpd="sng" w="38100">
            <a:solidFill>
              <a:schemeClr val="accent3"/>
            </a:solidFill>
            <a:prstDash val="solid"/>
            <a:round/>
            <a:headEnd len="sm" w="sm" type="none"/>
            <a:tailEnd len="sm" w="sm" type="none"/>
          </a:ln>
        </p:spPr>
      </p:pic>
      <p:cxnSp>
        <p:nvCxnSpPr>
          <p:cNvPr id="475" name="Google Shape;475;p44"/>
          <p:cNvCxnSpPr/>
          <p:nvPr/>
        </p:nvCxnSpPr>
        <p:spPr>
          <a:xfrm flipH="1">
            <a:off x="5599575" y="2512200"/>
            <a:ext cx="1559400" cy="930600"/>
          </a:xfrm>
          <a:prstGeom prst="bentConnector3">
            <a:avLst>
              <a:gd fmla="val 70968" name="adj1"/>
            </a:avLst>
          </a:prstGeom>
          <a:noFill/>
          <a:ln cap="flat" cmpd="sng" w="38100">
            <a:solidFill>
              <a:schemeClr val="accent5"/>
            </a:solidFill>
            <a:prstDash val="solid"/>
            <a:round/>
            <a:headEnd len="med" w="med" type="none"/>
            <a:tailEnd len="med" w="med" type="stealth"/>
          </a:ln>
        </p:spPr>
      </p:cxnSp>
      <p:sp>
        <p:nvSpPr>
          <p:cNvPr id="476" name="Google Shape;476;p44"/>
          <p:cNvSpPr txBox="1"/>
          <p:nvPr>
            <p:ph idx="1" type="body"/>
          </p:nvPr>
        </p:nvSpPr>
        <p:spPr>
          <a:xfrm>
            <a:off x="7166315" y="1883401"/>
            <a:ext cx="1715700" cy="7812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34275" lIns="68575" spcFirstLastPara="1" rIns="68575" wrap="square" tIns="34275">
            <a:noAutofit/>
          </a:bodyPr>
          <a:lstStyle/>
          <a:p>
            <a:pPr indent="0" lvl="0" marL="0" rtl="0" algn="ctr">
              <a:lnSpc>
                <a:spcPct val="100000"/>
              </a:lnSpc>
              <a:spcBef>
                <a:spcPts val="0"/>
              </a:spcBef>
              <a:spcAft>
                <a:spcPts val="0"/>
              </a:spcAft>
              <a:buClr>
                <a:schemeClr val="dk1"/>
              </a:buClr>
              <a:buNone/>
            </a:pPr>
            <a:r>
              <a:rPr lang="fr">
                <a:solidFill>
                  <a:schemeClr val="accent4"/>
                </a:solidFill>
                <a:latin typeface="Poppins"/>
                <a:ea typeface="Poppins"/>
                <a:cs typeface="Poppins"/>
                <a:sym typeface="Poppins"/>
              </a:rPr>
              <a:t>Pic à 1 </a:t>
            </a:r>
            <a:r>
              <a:rPr lang="fr">
                <a:solidFill>
                  <a:schemeClr val="accent4"/>
                </a:solidFill>
                <a:latin typeface="Poppins"/>
                <a:ea typeface="Poppins"/>
                <a:cs typeface="Poppins"/>
                <a:sym typeface="Poppins"/>
              </a:rPr>
              <a:t>dû</a:t>
            </a:r>
            <a:r>
              <a:rPr lang="fr">
                <a:solidFill>
                  <a:schemeClr val="accent4"/>
                </a:solidFill>
                <a:latin typeface="Poppins"/>
                <a:ea typeface="Poppins"/>
                <a:cs typeface="Poppins"/>
                <a:sym typeface="Poppins"/>
              </a:rPr>
              <a:t> </a:t>
            </a:r>
            <a:r>
              <a:rPr lang="fr">
                <a:solidFill>
                  <a:schemeClr val="accent4"/>
                </a:solidFill>
                <a:latin typeface="Poppins"/>
                <a:ea typeface="Poppins"/>
                <a:cs typeface="Poppins"/>
                <a:sym typeface="Poppins"/>
              </a:rPr>
              <a:t>aux</a:t>
            </a:r>
            <a:r>
              <a:rPr lang="fr">
                <a:solidFill>
                  <a:schemeClr val="accent4"/>
                </a:solidFill>
                <a:latin typeface="Poppins"/>
                <a:ea typeface="Poppins"/>
                <a:cs typeface="Poppins"/>
                <a:sym typeface="Poppins"/>
              </a:rPr>
              <a:t> deux </a:t>
            </a:r>
            <a:r>
              <a:rPr lang="fr">
                <a:solidFill>
                  <a:schemeClr val="accent4"/>
                </a:solidFill>
                <a:latin typeface="Poppins"/>
                <a:ea typeface="Poppins"/>
                <a:cs typeface="Poppins"/>
                <a:sym typeface="Poppins"/>
              </a:rPr>
              <a:t>premiers</a:t>
            </a:r>
            <a:r>
              <a:rPr lang="fr">
                <a:solidFill>
                  <a:schemeClr val="accent4"/>
                </a:solidFill>
                <a:latin typeface="Poppins"/>
                <a:ea typeface="Poppins"/>
                <a:cs typeface="Poppins"/>
                <a:sym typeface="Poppins"/>
              </a:rPr>
              <a:t> canaux</a:t>
            </a:r>
            <a:endParaRPr>
              <a:solidFill>
                <a:schemeClr val="accent4"/>
              </a:solidFill>
              <a:latin typeface="Poppins"/>
              <a:ea typeface="Poppins"/>
              <a:cs typeface="Poppins"/>
              <a:sym typeface="Poppins"/>
            </a:endParaRPr>
          </a:p>
        </p:txBody>
      </p:sp>
      <p:sp>
        <p:nvSpPr>
          <p:cNvPr id="477" name="Google Shape;477;p44"/>
          <p:cNvSpPr/>
          <p:nvPr/>
        </p:nvSpPr>
        <p:spPr>
          <a:xfrm rot="-5400000">
            <a:off x="5473173" y="4536377"/>
            <a:ext cx="100500" cy="579600"/>
          </a:xfrm>
          <a:prstGeom prst="leftBrace">
            <a:avLst>
              <a:gd fmla="val 50000" name="adj1"/>
              <a:gd fmla="val 50000" name="adj2"/>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44"/>
          <p:cNvSpPr txBox="1"/>
          <p:nvPr>
            <p:ph idx="2" type="body"/>
          </p:nvPr>
        </p:nvSpPr>
        <p:spPr>
          <a:xfrm>
            <a:off x="3420435" y="4480759"/>
            <a:ext cx="1559400" cy="3309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34275" lIns="68575" spcFirstLastPara="1" rIns="68575" wrap="square" tIns="34275">
            <a:noAutofit/>
          </a:bodyPr>
          <a:lstStyle/>
          <a:p>
            <a:pPr indent="0" lvl="0" marL="0" rtl="0" algn="ctr">
              <a:lnSpc>
                <a:spcPct val="100000"/>
              </a:lnSpc>
              <a:spcBef>
                <a:spcPts val="0"/>
              </a:spcBef>
              <a:spcAft>
                <a:spcPts val="0"/>
              </a:spcAft>
              <a:buClr>
                <a:schemeClr val="dk1"/>
              </a:buClr>
              <a:buNone/>
            </a:pPr>
            <a:r>
              <a:rPr lang="fr">
                <a:solidFill>
                  <a:schemeClr val="accent4"/>
                </a:solidFill>
                <a:latin typeface="Poppins"/>
                <a:ea typeface="Poppins"/>
                <a:cs typeface="Poppins"/>
                <a:sym typeface="Poppins"/>
              </a:rPr>
              <a:t>Valeurs noyées</a:t>
            </a:r>
            <a:endParaRPr>
              <a:solidFill>
                <a:schemeClr val="accent4"/>
              </a:solidFill>
              <a:latin typeface="Poppins"/>
              <a:ea typeface="Poppins"/>
              <a:cs typeface="Poppins"/>
              <a:sym typeface="Poppins"/>
            </a:endParaRPr>
          </a:p>
        </p:txBody>
      </p:sp>
      <p:cxnSp>
        <p:nvCxnSpPr>
          <p:cNvPr id="479" name="Google Shape;479;p44"/>
          <p:cNvCxnSpPr>
            <a:stCxn id="478" idx="2"/>
            <a:endCxn id="477" idx="1"/>
          </p:cNvCxnSpPr>
          <p:nvPr/>
        </p:nvCxnSpPr>
        <p:spPr>
          <a:xfrm flipH="1" rot="-5400000">
            <a:off x="4829385" y="4182409"/>
            <a:ext cx="64800" cy="1323300"/>
          </a:xfrm>
          <a:prstGeom prst="bentConnector3">
            <a:avLst>
              <a:gd fmla="val 294045" name="adj1"/>
            </a:avLst>
          </a:prstGeom>
          <a:noFill/>
          <a:ln cap="flat" cmpd="sng" w="28575">
            <a:solidFill>
              <a:schemeClr val="dk2"/>
            </a:solidFill>
            <a:prstDash val="solid"/>
            <a:round/>
            <a:headEnd len="med" w="med" type="none"/>
            <a:tailEnd len="med" w="med" type="none"/>
          </a:ln>
        </p:spPr>
      </p:cxnSp>
      <p:sp>
        <p:nvSpPr>
          <p:cNvPr id="480" name="Google Shape;480;p44"/>
          <p:cNvSpPr txBox="1"/>
          <p:nvPr>
            <p:ph idx="3" type="body"/>
          </p:nvPr>
        </p:nvSpPr>
        <p:spPr>
          <a:xfrm>
            <a:off x="141675" y="2996973"/>
            <a:ext cx="4787700" cy="848400"/>
          </a:xfrm>
          <a:prstGeom prst="rect">
            <a:avLst/>
          </a:prstGeom>
          <a:noFill/>
          <a:ln>
            <a:noFill/>
          </a:ln>
        </p:spPr>
        <p:txBody>
          <a:bodyPr anchorCtr="0" anchor="t" bIns="34275" lIns="68575" spcFirstLastPara="1" rIns="68575" wrap="square" tIns="34275">
            <a:noAutofit/>
          </a:bodyPr>
          <a:lstStyle/>
          <a:p>
            <a:pPr indent="0" lvl="0" marL="0" marR="0" rtl="0" algn="just">
              <a:lnSpc>
                <a:spcPct val="133333"/>
              </a:lnSpc>
              <a:spcBef>
                <a:spcPts val="0"/>
              </a:spcBef>
              <a:spcAft>
                <a:spcPts val="0"/>
              </a:spcAft>
              <a:buClr>
                <a:schemeClr val="dk1"/>
              </a:buClr>
              <a:buSzPts val="900"/>
              <a:buFont typeface="Arial"/>
              <a:buNone/>
            </a:pPr>
            <a:r>
              <a:rPr lang="fr" sz="1000">
                <a:latin typeface="Poppins"/>
                <a:ea typeface="Poppins"/>
                <a:cs typeface="Poppins"/>
                <a:sym typeface="Poppins"/>
              </a:rPr>
              <a:t>Pour minimiser globalement la divergence KL, l'algorithme est forcé de choisir un seuil de saturation </a:t>
            </a:r>
            <a:r>
              <a:rPr b="1" lang="fr" sz="1000">
                <a:latin typeface="Poppins"/>
                <a:ea typeface="Poppins"/>
                <a:cs typeface="Poppins"/>
                <a:sym typeface="Poppins"/>
              </a:rPr>
              <a:t>T</a:t>
            </a:r>
            <a:r>
              <a:rPr lang="fr" sz="1000">
                <a:latin typeface="Poppins"/>
                <a:ea typeface="Poppins"/>
                <a:cs typeface="Poppins"/>
                <a:sym typeface="Poppins"/>
              </a:rPr>
              <a:t> ~ 640 (dicté par les coordonnées) plutôt que 1.</a:t>
            </a:r>
            <a:endParaRPr sz="1000">
              <a:latin typeface="Poppins"/>
              <a:ea typeface="Poppins"/>
              <a:cs typeface="Poppins"/>
              <a:sym typeface="Poppins"/>
            </a:endParaRPr>
          </a:p>
          <a:p>
            <a:pPr indent="0" lvl="0" marL="0" marR="0" rtl="0" algn="just">
              <a:lnSpc>
                <a:spcPct val="133333"/>
              </a:lnSpc>
              <a:spcBef>
                <a:spcPts val="0"/>
              </a:spcBef>
              <a:spcAft>
                <a:spcPts val="0"/>
              </a:spcAft>
              <a:buClr>
                <a:schemeClr val="dk1"/>
              </a:buClr>
              <a:buSzPts val="900"/>
              <a:buFont typeface="Arial"/>
              <a:buNone/>
            </a:pPr>
            <a:r>
              <a:rPr lang="fr" sz="1000">
                <a:latin typeface="Poppins"/>
                <a:ea typeface="Poppins"/>
                <a:cs typeface="Poppins"/>
                <a:sym typeface="Poppins"/>
              </a:rPr>
              <a:t>Cela impose un pas de quantification de :</a:t>
            </a:r>
            <a:endParaRPr sz="1000">
              <a:latin typeface="Poppins"/>
              <a:ea typeface="Poppins"/>
              <a:cs typeface="Poppins"/>
              <a:sym typeface="Poppins"/>
            </a:endParaRPr>
          </a:p>
          <a:p>
            <a:pPr indent="0" lvl="0" marL="0" marR="0" rtl="0" algn="just">
              <a:lnSpc>
                <a:spcPct val="133333"/>
              </a:lnSpc>
              <a:spcBef>
                <a:spcPts val="0"/>
              </a:spcBef>
              <a:spcAft>
                <a:spcPts val="0"/>
              </a:spcAft>
              <a:buClr>
                <a:schemeClr val="dk1"/>
              </a:buClr>
              <a:buSzPts val="900"/>
              <a:buFont typeface="Arial"/>
              <a:buNone/>
            </a:pPr>
            <a:r>
              <a:t/>
            </a:r>
            <a:endParaRPr sz="1000">
              <a:latin typeface="Poppins"/>
              <a:ea typeface="Poppins"/>
              <a:cs typeface="Poppins"/>
              <a:sym typeface="Poppins"/>
            </a:endParaRPr>
          </a:p>
        </p:txBody>
      </p:sp>
      <p:pic>
        <p:nvPicPr>
          <p:cNvPr id="481" name="Google Shape;481;p44"/>
          <p:cNvPicPr preferRelativeResize="0"/>
          <p:nvPr/>
        </p:nvPicPr>
        <p:blipFill>
          <a:blip r:embed="rId6">
            <a:alphaModFix/>
          </a:blip>
          <a:stretch>
            <a:fillRect/>
          </a:stretch>
        </p:blipFill>
        <p:spPr>
          <a:xfrm>
            <a:off x="3123800" y="3513250"/>
            <a:ext cx="1373700" cy="405000"/>
          </a:xfrm>
          <a:prstGeom prst="round2DiagRect">
            <a:avLst>
              <a:gd fmla="val 16667" name="adj1"/>
              <a:gd fmla="val 0" name="adj2"/>
            </a:avLst>
          </a:prstGeom>
          <a:noFill/>
          <a:ln cap="flat" cmpd="sng" w="38100">
            <a:solidFill>
              <a:schemeClr val="accent1"/>
            </a:solidFill>
            <a:prstDash val="solid"/>
            <a:round/>
            <a:headEnd len="sm" w="sm" type="none"/>
            <a:tailEnd len="sm" w="sm" type="none"/>
          </a:ln>
        </p:spPr>
      </p:pic>
      <p:sp>
        <p:nvSpPr>
          <p:cNvPr id="482" name="Google Shape;482;p44"/>
          <p:cNvSpPr txBox="1"/>
          <p:nvPr>
            <p:ph idx="4" type="body"/>
          </p:nvPr>
        </p:nvSpPr>
        <p:spPr>
          <a:xfrm>
            <a:off x="226850" y="3944525"/>
            <a:ext cx="3072000" cy="1083000"/>
          </a:xfrm>
          <a:prstGeom prst="rect">
            <a:avLst/>
          </a:prstGeom>
          <a:noFill/>
          <a:ln>
            <a:noFill/>
          </a:ln>
        </p:spPr>
        <p:txBody>
          <a:bodyPr anchorCtr="0" anchor="t" bIns="34275" lIns="68575" spcFirstLastPara="1" rIns="68575" wrap="square" tIns="34275">
            <a:noAutofit/>
          </a:bodyPr>
          <a:lstStyle/>
          <a:p>
            <a:pPr indent="0" lvl="0" marL="0" marR="0" rtl="0" algn="just">
              <a:lnSpc>
                <a:spcPct val="133333"/>
              </a:lnSpc>
              <a:spcBef>
                <a:spcPts val="0"/>
              </a:spcBef>
              <a:spcAft>
                <a:spcPts val="0"/>
              </a:spcAft>
              <a:buClr>
                <a:schemeClr val="dk1"/>
              </a:buClr>
              <a:buSzPts val="900"/>
              <a:buFont typeface="Arial"/>
              <a:buNone/>
            </a:pPr>
            <a:r>
              <a:rPr b="1" lang="fr" sz="1000">
                <a:latin typeface="Poppins"/>
                <a:ea typeface="Poppins"/>
                <a:cs typeface="Poppins"/>
                <a:sym typeface="Poppins"/>
              </a:rPr>
              <a:t>Conséquence critique :</a:t>
            </a:r>
            <a:r>
              <a:rPr lang="fr" sz="1000">
                <a:latin typeface="Poppins"/>
                <a:ea typeface="Poppins"/>
                <a:cs typeface="Poppins"/>
                <a:sym typeface="Poppins"/>
              </a:rPr>
              <a:t> La résolution minimale étant de 5, toutes les probabilités de confiance ∈[0;1] sont inférieures à la première marche de l'escalier. Elles sont donc systématiquement écrasées à 0.</a:t>
            </a:r>
            <a:endParaRPr sz="1000">
              <a:latin typeface="Poppins"/>
              <a:ea typeface="Poppins"/>
              <a:cs typeface="Poppins"/>
              <a:sym typeface="Poppins"/>
            </a:endParaRPr>
          </a:p>
        </p:txBody>
      </p:sp>
      <p:sp>
        <p:nvSpPr>
          <p:cNvPr id="483" name="Google Shape;483;p44"/>
          <p:cNvSpPr txBox="1"/>
          <p:nvPr>
            <p:ph idx="5" type="body"/>
          </p:nvPr>
        </p:nvSpPr>
        <p:spPr>
          <a:xfrm>
            <a:off x="6035965" y="395276"/>
            <a:ext cx="1715700" cy="7812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34275" lIns="68575" spcFirstLastPara="1" rIns="68575" wrap="square" tIns="34275">
            <a:noAutofit/>
          </a:bodyPr>
          <a:lstStyle/>
          <a:p>
            <a:pPr indent="0" lvl="0" marL="0" rtl="0" algn="ctr">
              <a:lnSpc>
                <a:spcPct val="100000"/>
              </a:lnSpc>
              <a:spcBef>
                <a:spcPts val="0"/>
              </a:spcBef>
              <a:spcAft>
                <a:spcPts val="0"/>
              </a:spcAft>
              <a:buClr>
                <a:schemeClr val="dk1"/>
              </a:buClr>
              <a:buNone/>
            </a:pPr>
            <a:r>
              <a:rPr lang="fr">
                <a:solidFill>
                  <a:schemeClr val="accent4"/>
                </a:solidFill>
                <a:latin typeface="Poppins"/>
                <a:ea typeface="Poppins"/>
                <a:cs typeface="Poppins"/>
                <a:sym typeface="Poppins"/>
              </a:rPr>
              <a:t>Le modèle ne voit que cela. </a:t>
            </a:r>
            <a:endParaRPr>
              <a:solidFill>
                <a:schemeClr val="accent4"/>
              </a:solidFill>
              <a:latin typeface="Poppins"/>
              <a:ea typeface="Poppins"/>
              <a:cs typeface="Poppins"/>
              <a:sym typeface="Poppins"/>
            </a:endParaRPr>
          </a:p>
        </p:txBody>
      </p:sp>
      <p:sp>
        <p:nvSpPr>
          <p:cNvPr id="484" name="Google Shape;484;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5"/>
          <p:cNvSpPr/>
          <p:nvPr/>
        </p:nvSpPr>
        <p:spPr>
          <a:xfrm>
            <a:off x="0" y="0"/>
            <a:ext cx="6278400" cy="5064300"/>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91" name="Google Shape;491;p45"/>
          <p:cNvSpPr/>
          <p:nvPr/>
        </p:nvSpPr>
        <p:spPr>
          <a:xfrm>
            <a:off x="32964" y="4409101"/>
            <a:ext cx="561900" cy="550200"/>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92" name="Google Shape;492;p45"/>
          <p:cNvSpPr/>
          <p:nvPr/>
        </p:nvSpPr>
        <p:spPr>
          <a:xfrm>
            <a:off x="5549477" y="1482533"/>
            <a:ext cx="541200" cy="541200"/>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493" name="Google Shape;493;p45"/>
          <p:cNvSpPr txBox="1"/>
          <p:nvPr/>
        </p:nvSpPr>
        <p:spPr>
          <a:xfrm>
            <a:off x="148275" y="857000"/>
            <a:ext cx="5859600" cy="5403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900">
                <a:solidFill>
                  <a:schemeClr val="dk1"/>
                </a:solidFill>
                <a:latin typeface="Poppins SemiBold"/>
                <a:ea typeface="Poppins SemiBold"/>
                <a:cs typeface="Poppins SemiBold"/>
                <a:sym typeface="Poppins SemiBold"/>
              </a:rPr>
              <a:t>Solution Architecturale : Normalisation Pré-Concaténation Insertion de blocs de normalisation pour ramener les coordonnées dans l'intervalle [0, 1]. Objectif : Aligner l'échelle des coordonnées sur celle des probabilités pour empêcher l'écrasement des données lors de la quantification INT8.</a:t>
            </a:r>
            <a:endParaRPr b="1" sz="900">
              <a:solidFill>
                <a:srgbClr val="000000"/>
              </a:solidFill>
              <a:latin typeface="Poppins SemiBold"/>
              <a:ea typeface="Poppins SemiBold"/>
              <a:cs typeface="Poppins SemiBold"/>
              <a:sym typeface="Poppins SemiBold"/>
            </a:endParaRPr>
          </a:p>
        </p:txBody>
      </p:sp>
      <p:pic>
        <p:nvPicPr>
          <p:cNvPr id="494" name="Google Shape;494;p45"/>
          <p:cNvPicPr preferRelativeResize="0"/>
          <p:nvPr/>
        </p:nvPicPr>
        <p:blipFill rotWithShape="1">
          <a:blip r:embed="rId3">
            <a:alphaModFix/>
          </a:blip>
          <a:srcRect b="0" l="0" r="0" t="0"/>
          <a:stretch/>
        </p:blipFill>
        <p:spPr>
          <a:xfrm rot="-3149748">
            <a:off x="3112109" y="-1118774"/>
            <a:ext cx="2650733" cy="1552381"/>
          </a:xfrm>
          <a:prstGeom prst="rect">
            <a:avLst/>
          </a:prstGeom>
          <a:noFill/>
          <a:ln>
            <a:noFill/>
          </a:ln>
        </p:spPr>
      </p:pic>
      <p:sp>
        <p:nvSpPr>
          <p:cNvPr id="495" name="Google Shape;495;p45"/>
          <p:cNvSpPr txBox="1"/>
          <p:nvPr/>
        </p:nvSpPr>
        <p:spPr>
          <a:xfrm>
            <a:off x="6278400" y="187925"/>
            <a:ext cx="2747400" cy="4086600"/>
          </a:xfrm>
          <a:prstGeom prst="rect">
            <a:avLst/>
          </a:prstGeom>
          <a:noFill/>
          <a:ln>
            <a:noFill/>
          </a:ln>
        </p:spPr>
        <p:txBody>
          <a:bodyPr anchorCtr="0" anchor="t" bIns="34275" lIns="68575" spcFirstLastPara="1" rIns="68575" wrap="square" tIns="34275">
            <a:spAutoFit/>
          </a:bodyPr>
          <a:lstStyle/>
          <a:p>
            <a:pPr indent="0" lvl="0" marL="0" marR="0" rtl="0" algn="just">
              <a:lnSpc>
                <a:spcPct val="133333"/>
              </a:lnSpc>
              <a:spcBef>
                <a:spcPts val="0"/>
              </a:spcBef>
              <a:spcAft>
                <a:spcPts val="0"/>
              </a:spcAft>
              <a:buClr>
                <a:schemeClr val="dk1"/>
              </a:buClr>
              <a:buSzPts val="900"/>
              <a:buFont typeface="Poppins"/>
              <a:buNone/>
            </a:pPr>
            <a:r>
              <a:rPr b="1" lang="fr" sz="900">
                <a:solidFill>
                  <a:schemeClr val="dk1"/>
                </a:solidFill>
                <a:latin typeface="Poppins SemiBold"/>
                <a:ea typeface="Poppins SemiBold"/>
                <a:cs typeface="Poppins SemiBold"/>
                <a:sym typeface="Poppins SemiBold"/>
              </a:rPr>
              <a:t>Implémentation Ciblée : </a:t>
            </a:r>
            <a:endParaRPr b="1" sz="900">
              <a:solidFill>
                <a:schemeClr val="dk1"/>
              </a:solidFill>
              <a:latin typeface="Poppins SemiBold"/>
              <a:ea typeface="Poppins SemiBold"/>
              <a:cs typeface="Poppins SemiBold"/>
              <a:sym typeface="Poppins SemiBold"/>
            </a:endParaRPr>
          </a:p>
          <a:p>
            <a:pPr indent="0" lvl="0" marL="0" marR="0" rtl="0" algn="just">
              <a:lnSpc>
                <a:spcPct val="133333"/>
              </a:lnSpc>
              <a:spcBef>
                <a:spcPts val="0"/>
              </a:spcBef>
              <a:spcAft>
                <a:spcPts val="0"/>
              </a:spcAft>
              <a:buClr>
                <a:schemeClr val="dk1"/>
              </a:buClr>
              <a:buSzPts val="900"/>
              <a:buFont typeface="Poppins"/>
              <a:buNone/>
            </a:pPr>
            <a:r>
              <a:rPr lang="fr" sz="900">
                <a:solidFill>
                  <a:schemeClr val="dk1"/>
                </a:solidFill>
                <a:latin typeface="Poppins"/>
                <a:ea typeface="Poppins"/>
                <a:cs typeface="Poppins"/>
                <a:sym typeface="Poppins"/>
              </a:rPr>
              <a:t>Ajout de nœuds de division (Div / 640) sur les branches d'entrée du Concat final (indiquées par les flèches orange sur le schéma).</a:t>
            </a:r>
            <a:endParaRPr sz="900">
              <a:solidFill>
                <a:schemeClr val="dk1"/>
              </a:solidFill>
              <a:latin typeface="Poppins"/>
              <a:ea typeface="Poppins"/>
              <a:cs typeface="Poppins"/>
              <a:sym typeface="Poppins"/>
            </a:endParaRPr>
          </a:p>
          <a:p>
            <a:pPr indent="0" lvl="0" marL="0" marR="0" rtl="0" algn="just">
              <a:lnSpc>
                <a:spcPct val="133333"/>
              </a:lnSpc>
              <a:spcBef>
                <a:spcPts val="0"/>
              </a:spcBef>
              <a:spcAft>
                <a:spcPts val="0"/>
              </a:spcAft>
              <a:buClr>
                <a:schemeClr val="dk1"/>
              </a:buClr>
              <a:buSzPts val="900"/>
              <a:buFont typeface="Poppins"/>
              <a:buNone/>
            </a:pPr>
            <a:r>
              <a:t/>
            </a:r>
            <a:endParaRPr b="1" sz="900">
              <a:solidFill>
                <a:schemeClr val="dk1"/>
              </a:solidFill>
              <a:latin typeface="Poppins SemiBold"/>
              <a:ea typeface="Poppins SemiBold"/>
              <a:cs typeface="Poppins SemiBold"/>
              <a:sym typeface="Poppins SemiBold"/>
            </a:endParaRPr>
          </a:p>
          <a:p>
            <a:pPr indent="0" lvl="0" marL="0" marR="0" rtl="0" algn="just">
              <a:lnSpc>
                <a:spcPct val="133333"/>
              </a:lnSpc>
              <a:spcBef>
                <a:spcPts val="0"/>
              </a:spcBef>
              <a:spcAft>
                <a:spcPts val="0"/>
              </a:spcAft>
              <a:buClr>
                <a:schemeClr val="dk1"/>
              </a:buClr>
              <a:buSzPts val="900"/>
              <a:buFont typeface="Poppins"/>
              <a:buNone/>
            </a:pPr>
            <a:r>
              <a:rPr b="1" lang="fr" sz="900">
                <a:solidFill>
                  <a:schemeClr val="dk1"/>
                </a:solidFill>
                <a:latin typeface="Poppins SemiBold"/>
                <a:ea typeface="Poppins SemiBold"/>
                <a:cs typeface="Poppins SemiBold"/>
                <a:sym typeface="Poppins SemiBold"/>
              </a:rPr>
              <a:t>Conséquence logicielle (Post-traitement) :</a:t>
            </a:r>
            <a:endParaRPr b="1" sz="900">
              <a:solidFill>
                <a:schemeClr val="dk1"/>
              </a:solidFill>
              <a:latin typeface="Poppins SemiBold"/>
              <a:ea typeface="Poppins SemiBold"/>
              <a:cs typeface="Poppins SemiBold"/>
              <a:sym typeface="Poppins SemiBold"/>
            </a:endParaRPr>
          </a:p>
          <a:p>
            <a:pPr indent="0" lvl="0" marL="0" marR="0" rtl="0" algn="just">
              <a:lnSpc>
                <a:spcPct val="133333"/>
              </a:lnSpc>
              <a:spcBef>
                <a:spcPts val="0"/>
              </a:spcBef>
              <a:spcAft>
                <a:spcPts val="0"/>
              </a:spcAft>
              <a:buClr>
                <a:schemeClr val="dk1"/>
              </a:buClr>
              <a:buSzPts val="900"/>
              <a:buFont typeface="Poppins"/>
              <a:buNone/>
            </a:pPr>
            <a:r>
              <a:rPr lang="fr" sz="900">
                <a:solidFill>
                  <a:schemeClr val="dk1"/>
                </a:solidFill>
                <a:latin typeface="Poppins"/>
                <a:ea typeface="Poppins"/>
                <a:cs typeface="Poppins"/>
                <a:sym typeface="Poppins"/>
              </a:rPr>
              <a:t>Le modèle prédit désormais des valeurs normalisées. Il est impératif d'ajouter une étape de dénormalisation (multiplication par 640) dans le code de post-traitement CPU.</a:t>
            </a:r>
            <a:endParaRPr sz="900">
              <a:solidFill>
                <a:schemeClr val="dk1"/>
              </a:solidFill>
              <a:latin typeface="Poppins"/>
              <a:ea typeface="Poppins"/>
              <a:cs typeface="Poppins"/>
              <a:sym typeface="Poppins"/>
            </a:endParaRPr>
          </a:p>
          <a:p>
            <a:pPr indent="0" lvl="0" marL="0" marR="0" rtl="0" algn="just">
              <a:lnSpc>
                <a:spcPct val="133333"/>
              </a:lnSpc>
              <a:spcBef>
                <a:spcPts val="0"/>
              </a:spcBef>
              <a:spcAft>
                <a:spcPts val="0"/>
              </a:spcAft>
              <a:buClr>
                <a:schemeClr val="dk1"/>
              </a:buClr>
              <a:buSzPts val="900"/>
              <a:buFont typeface="Poppins"/>
              <a:buNone/>
            </a:pPr>
            <a:r>
              <a:t/>
            </a:r>
            <a:endParaRPr b="1" sz="900">
              <a:solidFill>
                <a:schemeClr val="dk1"/>
              </a:solidFill>
              <a:latin typeface="Poppins SemiBold"/>
              <a:ea typeface="Poppins SemiBold"/>
              <a:cs typeface="Poppins SemiBold"/>
              <a:sym typeface="Poppins SemiBold"/>
            </a:endParaRPr>
          </a:p>
          <a:p>
            <a:pPr indent="0" lvl="0" marL="0" marR="0" rtl="0" algn="just">
              <a:lnSpc>
                <a:spcPct val="133333"/>
              </a:lnSpc>
              <a:spcBef>
                <a:spcPts val="0"/>
              </a:spcBef>
              <a:spcAft>
                <a:spcPts val="0"/>
              </a:spcAft>
              <a:buClr>
                <a:schemeClr val="dk1"/>
              </a:buClr>
              <a:buSzPts val="900"/>
              <a:buFont typeface="Poppins"/>
              <a:buNone/>
            </a:pPr>
            <a:r>
              <a:rPr b="1" lang="fr" sz="900">
                <a:solidFill>
                  <a:schemeClr val="dk1"/>
                </a:solidFill>
                <a:latin typeface="Poppins SemiBold"/>
                <a:ea typeface="Poppins SemiBold"/>
                <a:cs typeface="Poppins SemiBold"/>
                <a:sym typeface="Poppins SemiBold"/>
              </a:rPr>
              <a:t>Bilan Performance (Trade-off) : </a:t>
            </a:r>
            <a:endParaRPr b="1" sz="900">
              <a:solidFill>
                <a:schemeClr val="dk1"/>
              </a:solidFill>
              <a:latin typeface="Poppins SemiBold"/>
              <a:ea typeface="Poppins SemiBold"/>
              <a:cs typeface="Poppins SemiBold"/>
              <a:sym typeface="Poppins SemiBold"/>
            </a:endParaRPr>
          </a:p>
          <a:p>
            <a:pPr indent="0" lvl="0" marL="0" marR="0" rtl="0" algn="just">
              <a:lnSpc>
                <a:spcPct val="133333"/>
              </a:lnSpc>
              <a:spcBef>
                <a:spcPts val="0"/>
              </a:spcBef>
              <a:spcAft>
                <a:spcPts val="0"/>
              </a:spcAft>
              <a:buClr>
                <a:schemeClr val="dk1"/>
              </a:buClr>
              <a:buSzPts val="900"/>
              <a:buFont typeface="Poppins"/>
              <a:buNone/>
            </a:pPr>
            <a:r>
              <a:rPr lang="fr" sz="900">
                <a:solidFill>
                  <a:schemeClr val="dk1"/>
                </a:solidFill>
                <a:latin typeface="Poppins"/>
                <a:ea typeface="Poppins"/>
                <a:cs typeface="Poppins"/>
                <a:sym typeface="Poppins"/>
              </a:rPr>
              <a:t>Bien que la normalisation/dénormalisation ajoute une latence minime au traitement, cette modification est indispensable pour rendre le modèle 100% compatible INT8.</a:t>
            </a:r>
            <a:endParaRPr sz="900">
              <a:solidFill>
                <a:schemeClr val="dk1"/>
              </a:solidFill>
              <a:latin typeface="Poppins"/>
              <a:ea typeface="Poppins"/>
              <a:cs typeface="Poppins"/>
              <a:sym typeface="Poppins"/>
            </a:endParaRPr>
          </a:p>
          <a:p>
            <a:pPr indent="0" lvl="0" marL="0" marR="0" rtl="0" algn="just">
              <a:lnSpc>
                <a:spcPct val="133333"/>
              </a:lnSpc>
              <a:spcBef>
                <a:spcPts val="0"/>
              </a:spcBef>
              <a:spcAft>
                <a:spcPts val="0"/>
              </a:spcAft>
              <a:buClr>
                <a:schemeClr val="dk1"/>
              </a:buClr>
              <a:buSzPts val="900"/>
              <a:buFont typeface="Poppins"/>
              <a:buNone/>
            </a:pPr>
            <a:r>
              <a:t/>
            </a:r>
            <a:endParaRPr b="1" sz="900">
              <a:solidFill>
                <a:schemeClr val="dk1"/>
              </a:solidFill>
              <a:latin typeface="Poppins SemiBold"/>
              <a:ea typeface="Poppins SemiBold"/>
              <a:cs typeface="Poppins SemiBold"/>
              <a:sym typeface="Poppins SemiBold"/>
            </a:endParaRPr>
          </a:p>
          <a:p>
            <a:pPr indent="0" lvl="0" marL="0" marR="0" rtl="0" algn="just">
              <a:lnSpc>
                <a:spcPct val="133333"/>
              </a:lnSpc>
              <a:spcBef>
                <a:spcPts val="0"/>
              </a:spcBef>
              <a:spcAft>
                <a:spcPts val="0"/>
              </a:spcAft>
              <a:buClr>
                <a:schemeClr val="dk1"/>
              </a:buClr>
              <a:buSzPts val="900"/>
              <a:buFont typeface="Poppins"/>
              <a:buNone/>
            </a:pPr>
            <a:r>
              <a:rPr b="1" lang="fr" sz="900">
                <a:solidFill>
                  <a:schemeClr val="dk1"/>
                </a:solidFill>
                <a:latin typeface="Poppins SemiBold"/>
                <a:ea typeface="Poppins SemiBold"/>
                <a:cs typeface="Poppins SemiBold"/>
                <a:sym typeface="Poppins SemiBold"/>
              </a:rPr>
              <a:t>Résultat : </a:t>
            </a:r>
            <a:endParaRPr b="1" sz="900">
              <a:solidFill>
                <a:schemeClr val="dk1"/>
              </a:solidFill>
              <a:latin typeface="Poppins SemiBold"/>
              <a:ea typeface="Poppins SemiBold"/>
              <a:cs typeface="Poppins SemiBold"/>
              <a:sym typeface="Poppins SemiBold"/>
            </a:endParaRPr>
          </a:p>
          <a:p>
            <a:pPr indent="0" lvl="0" marL="0" marR="0" rtl="0" algn="just">
              <a:lnSpc>
                <a:spcPct val="133333"/>
              </a:lnSpc>
              <a:spcBef>
                <a:spcPts val="0"/>
              </a:spcBef>
              <a:spcAft>
                <a:spcPts val="0"/>
              </a:spcAft>
              <a:buClr>
                <a:schemeClr val="dk1"/>
              </a:buClr>
              <a:buSzPts val="900"/>
              <a:buFont typeface="Poppins"/>
              <a:buNone/>
            </a:pPr>
            <a:r>
              <a:rPr lang="fr" sz="900">
                <a:solidFill>
                  <a:schemeClr val="dk1"/>
                </a:solidFill>
                <a:latin typeface="Poppins"/>
                <a:ea typeface="Poppins"/>
                <a:cs typeface="Poppins"/>
                <a:sym typeface="Poppins"/>
              </a:rPr>
              <a:t>Cela permet le déploiement sur accélérateur matériel (NPU), offrant un gain de vitesse global bien supérieur au coût du post-traitement.</a:t>
            </a:r>
            <a:endParaRPr sz="800">
              <a:solidFill>
                <a:srgbClr val="000000"/>
              </a:solidFill>
              <a:latin typeface="Poppins"/>
              <a:ea typeface="Poppins"/>
              <a:cs typeface="Poppins"/>
              <a:sym typeface="Poppins"/>
            </a:endParaRPr>
          </a:p>
        </p:txBody>
      </p:sp>
      <p:sp>
        <p:nvSpPr>
          <p:cNvPr id="496" name="Google Shape;496;p45"/>
          <p:cNvSpPr txBox="1"/>
          <p:nvPr/>
        </p:nvSpPr>
        <p:spPr>
          <a:xfrm>
            <a:off x="615076" y="361375"/>
            <a:ext cx="41796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Solution ajout de la normalisation</a:t>
            </a:r>
            <a:endParaRPr sz="1100"/>
          </a:p>
        </p:txBody>
      </p:sp>
      <p:sp>
        <p:nvSpPr>
          <p:cNvPr id="497" name="Google Shape;497;p45"/>
          <p:cNvSpPr/>
          <p:nvPr/>
        </p:nvSpPr>
        <p:spPr>
          <a:xfrm>
            <a:off x="700871" y="766821"/>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498" name="Google Shape;498;p45"/>
          <p:cNvPicPr preferRelativeResize="0"/>
          <p:nvPr/>
        </p:nvPicPr>
        <p:blipFill>
          <a:blip r:embed="rId4">
            <a:alphaModFix/>
          </a:blip>
          <a:stretch>
            <a:fillRect/>
          </a:stretch>
        </p:blipFill>
        <p:spPr>
          <a:xfrm>
            <a:off x="148275" y="1640996"/>
            <a:ext cx="5784000" cy="3182100"/>
          </a:xfrm>
          <a:prstGeom prst="round2DiagRect">
            <a:avLst>
              <a:gd fmla="val 12526" name="adj1"/>
              <a:gd fmla="val 0" name="adj2"/>
            </a:avLst>
          </a:prstGeom>
          <a:noFill/>
          <a:ln cap="flat" cmpd="sng" w="38100">
            <a:solidFill>
              <a:schemeClr val="accent2"/>
            </a:solidFill>
            <a:prstDash val="solid"/>
            <a:round/>
            <a:headEnd len="sm" w="sm" type="none"/>
            <a:tailEnd len="sm" w="sm" type="none"/>
          </a:ln>
        </p:spPr>
      </p:pic>
      <p:cxnSp>
        <p:nvCxnSpPr>
          <p:cNvPr id="499" name="Google Shape;499;p45"/>
          <p:cNvCxnSpPr/>
          <p:nvPr/>
        </p:nvCxnSpPr>
        <p:spPr>
          <a:xfrm flipH="1" rot="10800000">
            <a:off x="4036425" y="2959600"/>
            <a:ext cx="934200" cy="297000"/>
          </a:xfrm>
          <a:prstGeom prst="straightConnector1">
            <a:avLst/>
          </a:prstGeom>
          <a:noFill/>
          <a:ln cap="flat" cmpd="sng" w="38100">
            <a:solidFill>
              <a:schemeClr val="accent2"/>
            </a:solidFill>
            <a:prstDash val="solid"/>
            <a:round/>
            <a:headEnd len="med" w="med" type="none"/>
            <a:tailEnd len="med" w="med" type="triangle"/>
          </a:ln>
        </p:spPr>
      </p:cxnSp>
      <p:cxnSp>
        <p:nvCxnSpPr>
          <p:cNvPr id="500" name="Google Shape;500;p45"/>
          <p:cNvCxnSpPr/>
          <p:nvPr/>
        </p:nvCxnSpPr>
        <p:spPr>
          <a:xfrm rot="10800000">
            <a:off x="3058500" y="2926900"/>
            <a:ext cx="999900" cy="329700"/>
          </a:xfrm>
          <a:prstGeom prst="straightConnector1">
            <a:avLst/>
          </a:prstGeom>
          <a:noFill/>
          <a:ln cap="flat" cmpd="sng" w="38100">
            <a:solidFill>
              <a:schemeClr val="accent2"/>
            </a:solidFill>
            <a:prstDash val="solid"/>
            <a:round/>
            <a:headEnd len="med" w="med" type="none"/>
            <a:tailEnd len="med" w="med" type="triangle"/>
          </a:ln>
        </p:spPr>
      </p:cxnSp>
      <p:cxnSp>
        <p:nvCxnSpPr>
          <p:cNvPr id="501" name="Google Shape;501;p45"/>
          <p:cNvCxnSpPr/>
          <p:nvPr/>
        </p:nvCxnSpPr>
        <p:spPr>
          <a:xfrm rot="10800000">
            <a:off x="1124150" y="2970825"/>
            <a:ext cx="945000" cy="362700"/>
          </a:xfrm>
          <a:prstGeom prst="straightConnector1">
            <a:avLst/>
          </a:prstGeom>
          <a:noFill/>
          <a:ln cap="flat" cmpd="sng" w="38100">
            <a:solidFill>
              <a:schemeClr val="accent2"/>
            </a:solidFill>
            <a:prstDash val="solid"/>
            <a:round/>
            <a:headEnd len="med" w="med" type="none"/>
            <a:tailEnd len="med" w="med" type="triangle"/>
          </a:ln>
        </p:spPr>
      </p:cxnSp>
      <p:sp>
        <p:nvSpPr>
          <p:cNvPr id="502" name="Google Shape;502;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6"/>
          <p:cNvSpPr/>
          <p:nvPr/>
        </p:nvSpPr>
        <p:spPr>
          <a:xfrm>
            <a:off x="0" y="0"/>
            <a:ext cx="5454300" cy="5064300"/>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09" name="Google Shape;509;p46"/>
          <p:cNvSpPr/>
          <p:nvPr/>
        </p:nvSpPr>
        <p:spPr>
          <a:xfrm>
            <a:off x="512705" y="3489853"/>
            <a:ext cx="561900" cy="550200"/>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10" name="Google Shape;510;p46"/>
          <p:cNvSpPr/>
          <p:nvPr/>
        </p:nvSpPr>
        <p:spPr>
          <a:xfrm>
            <a:off x="4435960" y="692277"/>
            <a:ext cx="541200" cy="541200"/>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511" name="Google Shape;511;p46"/>
          <p:cNvPicPr preferRelativeResize="0"/>
          <p:nvPr/>
        </p:nvPicPr>
        <p:blipFill rotWithShape="1">
          <a:blip r:embed="rId3">
            <a:alphaModFix/>
          </a:blip>
          <a:srcRect b="0" l="0" r="0" t="0"/>
          <a:stretch/>
        </p:blipFill>
        <p:spPr>
          <a:xfrm rot="-2405899">
            <a:off x="3112109" y="-990121"/>
            <a:ext cx="2650734" cy="1552380"/>
          </a:xfrm>
          <a:prstGeom prst="rect">
            <a:avLst/>
          </a:prstGeom>
          <a:noFill/>
          <a:ln>
            <a:noFill/>
          </a:ln>
        </p:spPr>
      </p:pic>
      <p:sp>
        <p:nvSpPr>
          <p:cNvPr id="512" name="Google Shape;512;p46"/>
          <p:cNvSpPr txBox="1"/>
          <p:nvPr/>
        </p:nvSpPr>
        <p:spPr>
          <a:xfrm>
            <a:off x="5454300" y="86475"/>
            <a:ext cx="3689700" cy="36864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Clr>
                <a:schemeClr val="dk1"/>
              </a:buClr>
              <a:buSzPts val="900"/>
              <a:buFont typeface="Poppins"/>
              <a:buNone/>
            </a:pPr>
            <a:r>
              <a:rPr b="1" lang="fr" sz="1000">
                <a:solidFill>
                  <a:schemeClr val="dk1"/>
                </a:solidFill>
                <a:latin typeface="Poppins SemiBold"/>
                <a:ea typeface="Poppins SemiBold"/>
                <a:cs typeface="Poppins SemiBold"/>
                <a:sym typeface="Poppins SemiBold"/>
              </a:rPr>
              <a:t>KPIs (Précision) :</a:t>
            </a:r>
            <a:endParaRPr b="1" sz="1000">
              <a:solidFill>
                <a:schemeClr val="dk1"/>
              </a:solidFill>
              <a:latin typeface="Poppins SemiBold"/>
              <a:ea typeface="Poppins SemiBold"/>
              <a:cs typeface="Poppins SemiBold"/>
              <a:sym typeface="Poppins SemiBold"/>
            </a:endParaRPr>
          </a:p>
          <a:p>
            <a:pPr indent="-292100" lvl="0" marL="457200" marR="0" rtl="0" algn="l">
              <a:lnSpc>
                <a:spcPct val="15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Iso-performanceConservation stricte de la précision de détection (mAP identique).</a:t>
            </a:r>
            <a:endParaRPr sz="1000">
              <a:solidFill>
                <a:schemeClr val="dk1"/>
              </a:solidFill>
              <a:latin typeface="Poppins"/>
              <a:ea typeface="Poppins"/>
              <a:cs typeface="Poppins"/>
              <a:sym typeface="Poppins"/>
            </a:endParaRPr>
          </a:p>
          <a:p>
            <a:pPr indent="-292100" lvl="0" marL="457200" marR="0" rtl="0" algn="l">
              <a:lnSpc>
                <a:spcPct val="15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Aucune dégradation du signal malgré la modification architecturale.</a:t>
            </a:r>
            <a:endParaRPr sz="1000">
              <a:solidFill>
                <a:schemeClr val="dk1"/>
              </a:solidFill>
              <a:latin typeface="Poppins"/>
              <a:ea typeface="Poppins"/>
              <a:cs typeface="Poppins"/>
              <a:sym typeface="Poppins"/>
            </a:endParaRPr>
          </a:p>
          <a:p>
            <a:pPr indent="0" lvl="0" marL="0" marR="0" rtl="0" algn="l">
              <a:lnSpc>
                <a:spcPct val="150000"/>
              </a:lnSpc>
              <a:spcBef>
                <a:spcPts val="0"/>
              </a:spcBef>
              <a:spcAft>
                <a:spcPts val="0"/>
              </a:spcAft>
              <a:buClr>
                <a:schemeClr val="dk1"/>
              </a:buClr>
              <a:buSzPts val="900"/>
              <a:buFont typeface="Poppins"/>
              <a:buNone/>
            </a:pPr>
            <a:r>
              <a:rPr b="1" lang="fr" sz="1000">
                <a:solidFill>
                  <a:schemeClr val="dk1"/>
                </a:solidFill>
                <a:latin typeface="Poppins SemiBold"/>
                <a:ea typeface="Poppins SemiBold"/>
                <a:cs typeface="Poppins SemiBold"/>
                <a:sym typeface="Poppins SemiBold"/>
              </a:rPr>
              <a:t>Dynamique des Sorties :</a:t>
            </a:r>
            <a:endParaRPr b="1" sz="1000">
              <a:solidFill>
                <a:schemeClr val="dk1"/>
              </a:solidFill>
              <a:latin typeface="Poppins SemiBold"/>
              <a:ea typeface="Poppins SemiBold"/>
              <a:cs typeface="Poppins SemiBold"/>
              <a:sym typeface="Poppins SemiBold"/>
            </a:endParaRPr>
          </a:p>
          <a:p>
            <a:pPr indent="-292100" lvl="0" marL="457200" marR="0" rtl="0" algn="l">
              <a:lnSpc>
                <a:spcPct val="150000"/>
              </a:lnSpc>
              <a:spcBef>
                <a:spcPts val="0"/>
              </a:spcBef>
              <a:spcAft>
                <a:spcPts val="0"/>
              </a:spcAft>
              <a:buClr>
                <a:schemeClr val="dk1"/>
              </a:buClr>
              <a:buSzPts val="1000"/>
              <a:buChar char="●"/>
            </a:pPr>
            <a:r>
              <a:rPr b="1" lang="fr" sz="1000">
                <a:solidFill>
                  <a:schemeClr val="dk1"/>
                </a:solidFill>
                <a:latin typeface="Poppins"/>
                <a:ea typeface="Poppins"/>
                <a:cs typeface="Poppins"/>
                <a:sym typeface="Poppins"/>
              </a:rPr>
              <a:t>Homogénéisation complète. </a:t>
            </a:r>
            <a:r>
              <a:rPr lang="fr" sz="1000">
                <a:solidFill>
                  <a:schemeClr val="dk1"/>
                </a:solidFill>
                <a:latin typeface="Poppins"/>
                <a:ea typeface="Poppins"/>
                <a:cs typeface="Poppins"/>
                <a:sym typeface="Poppins"/>
              </a:rPr>
              <a:t>Toutes les sorties (Coords &amp; Probas) sont dans l'intervalle [0, 1].</a:t>
            </a:r>
            <a:endParaRPr sz="1000">
              <a:solidFill>
                <a:schemeClr val="dk1"/>
              </a:solidFill>
              <a:latin typeface="Poppins"/>
              <a:ea typeface="Poppins"/>
              <a:cs typeface="Poppins"/>
              <a:sym typeface="Poppins"/>
            </a:endParaRPr>
          </a:p>
          <a:p>
            <a:pPr indent="0" lvl="0" marL="0" marR="0" rtl="0" algn="l">
              <a:lnSpc>
                <a:spcPct val="150000"/>
              </a:lnSpc>
              <a:spcBef>
                <a:spcPts val="0"/>
              </a:spcBef>
              <a:spcAft>
                <a:spcPts val="0"/>
              </a:spcAft>
              <a:buClr>
                <a:schemeClr val="dk1"/>
              </a:buClr>
              <a:buSzPts val="900"/>
              <a:buFont typeface="Poppins"/>
              <a:buNone/>
            </a:pPr>
            <a:r>
              <a:rPr b="1" lang="fr" sz="1000">
                <a:solidFill>
                  <a:schemeClr val="dk1"/>
                </a:solidFill>
                <a:latin typeface="Poppins SemiBold"/>
                <a:ea typeface="Poppins SemiBold"/>
                <a:cs typeface="Poppins SemiBold"/>
                <a:sym typeface="Poppins SemiBold"/>
              </a:rPr>
              <a:t>Performance (FPS) :</a:t>
            </a:r>
            <a:endParaRPr b="1" sz="1000">
              <a:solidFill>
                <a:schemeClr val="dk1"/>
              </a:solidFill>
              <a:latin typeface="Poppins SemiBold"/>
              <a:ea typeface="Poppins SemiBold"/>
              <a:cs typeface="Poppins SemiBold"/>
              <a:sym typeface="Poppins SemiBold"/>
            </a:endParaRPr>
          </a:p>
          <a:p>
            <a:pPr indent="-292100" lvl="0" marL="457200" marR="0" rtl="0" algn="l">
              <a:lnSpc>
                <a:spcPct val="15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Légère baisse attendue due au surcoût de la dénormalisation (Post-traitement CPU).</a:t>
            </a:r>
            <a:endParaRPr sz="1000">
              <a:solidFill>
                <a:schemeClr val="dk1"/>
              </a:solidFill>
              <a:latin typeface="Poppins"/>
              <a:ea typeface="Poppins"/>
              <a:cs typeface="Poppins"/>
              <a:sym typeface="Poppins"/>
            </a:endParaRPr>
          </a:p>
          <a:p>
            <a:pPr indent="-292100" lvl="0" marL="457200" marR="0" rtl="0" algn="l">
              <a:lnSpc>
                <a:spcPct val="150000"/>
              </a:lnSpc>
              <a:spcBef>
                <a:spcPts val="0"/>
              </a:spcBef>
              <a:spcAft>
                <a:spcPts val="0"/>
              </a:spcAft>
              <a:buClr>
                <a:schemeClr val="dk1"/>
              </a:buClr>
              <a:buSzPts val="1000"/>
              <a:buChar char="●"/>
            </a:pPr>
            <a:r>
              <a:rPr b="1" lang="fr" sz="1000">
                <a:solidFill>
                  <a:schemeClr val="dk1"/>
                </a:solidFill>
                <a:latin typeface="Poppins SemiBold"/>
                <a:ea typeface="Poppins SemiBold"/>
                <a:cs typeface="Poppins SemiBold"/>
                <a:sym typeface="Poppins SemiBold"/>
              </a:rPr>
              <a:t>Note : </a:t>
            </a:r>
            <a:r>
              <a:rPr lang="fr" sz="1000">
                <a:solidFill>
                  <a:schemeClr val="dk1"/>
                </a:solidFill>
                <a:latin typeface="Poppins"/>
                <a:ea typeface="Poppins"/>
                <a:cs typeface="Poppins"/>
                <a:sym typeface="Poppins"/>
              </a:rPr>
              <a:t>Ce coût est négligeable face au gain futur de l'accélération matérielle.</a:t>
            </a:r>
            <a:endParaRPr sz="1000">
              <a:solidFill>
                <a:schemeClr val="dk1"/>
              </a:solidFill>
              <a:latin typeface="Poppins"/>
              <a:ea typeface="Poppins"/>
              <a:cs typeface="Poppins"/>
              <a:sym typeface="Poppins"/>
            </a:endParaRPr>
          </a:p>
          <a:p>
            <a:pPr indent="0" lvl="0" marL="0" marR="0" rtl="0" algn="l">
              <a:lnSpc>
                <a:spcPct val="150000"/>
              </a:lnSpc>
              <a:spcBef>
                <a:spcPts val="0"/>
              </a:spcBef>
              <a:spcAft>
                <a:spcPts val="0"/>
              </a:spcAft>
              <a:buClr>
                <a:schemeClr val="dk1"/>
              </a:buClr>
              <a:buSzPts val="900"/>
              <a:buFont typeface="Poppins"/>
              <a:buNone/>
            </a:pPr>
            <a:r>
              <a:rPr b="1" lang="fr" sz="1000">
                <a:solidFill>
                  <a:schemeClr val="dk1"/>
                </a:solidFill>
                <a:latin typeface="Poppins SemiBold"/>
                <a:ea typeface="Poppins SemiBold"/>
                <a:cs typeface="Poppins SemiBold"/>
                <a:sym typeface="Poppins SemiBold"/>
              </a:rPr>
              <a:t>Conclusion :</a:t>
            </a:r>
            <a:endParaRPr b="1" sz="1000">
              <a:solidFill>
                <a:schemeClr val="dk1"/>
              </a:solidFill>
              <a:latin typeface="Poppins SemiBold"/>
              <a:ea typeface="Poppins SemiBold"/>
              <a:cs typeface="Poppins SemiBold"/>
              <a:sym typeface="Poppins SemiBold"/>
            </a:endParaRPr>
          </a:p>
          <a:p>
            <a:pPr indent="-292100" lvl="0" marL="457200" marR="0" rtl="0" algn="l">
              <a:lnSpc>
                <a:spcPct val="15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Modèle désormais 100% compatible avec une quantification INT8 complète (Full Quantization).</a:t>
            </a:r>
            <a:endParaRPr sz="900">
              <a:solidFill>
                <a:srgbClr val="000000"/>
              </a:solidFill>
              <a:latin typeface="Poppins"/>
              <a:ea typeface="Poppins"/>
              <a:cs typeface="Poppins"/>
              <a:sym typeface="Poppins"/>
            </a:endParaRPr>
          </a:p>
        </p:txBody>
      </p:sp>
      <p:sp>
        <p:nvSpPr>
          <p:cNvPr id="513" name="Google Shape;513;p46"/>
          <p:cNvSpPr txBox="1"/>
          <p:nvPr/>
        </p:nvSpPr>
        <p:spPr>
          <a:xfrm>
            <a:off x="615076" y="361375"/>
            <a:ext cx="41796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Résultat de la solution choisie</a:t>
            </a:r>
            <a:endParaRPr sz="1100"/>
          </a:p>
        </p:txBody>
      </p:sp>
      <p:sp>
        <p:nvSpPr>
          <p:cNvPr id="514" name="Google Shape;514;p46"/>
          <p:cNvSpPr/>
          <p:nvPr/>
        </p:nvSpPr>
        <p:spPr>
          <a:xfrm>
            <a:off x="700871" y="766821"/>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515" name="Google Shape;515;p46"/>
          <p:cNvPicPr preferRelativeResize="0"/>
          <p:nvPr/>
        </p:nvPicPr>
        <p:blipFill>
          <a:blip r:embed="rId4">
            <a:alphaModFix/>
          </a:blip>
          <a:stretch>
            <a:fillRect/>
          </a:stretch>
        </p:blipFill>
        <p:spPr>
          <a:xfrm>
            <a:off x="637350" y="910275"/>
            <a:ext cx="4179600" cy="2976600"/>
          </a:xfrm>
          <a:prstGeom prst="round2DiagRect">
            <a:avLst>
              <a:gd fmla="val 16667" name="adj1"/>
              <a:gd fmla="val 0" name="adj2"/>
            </a:avLst>
          </a:prstGeom>
          <a:noFill/>
          <a:ln cap="flat" cmpd="sng" w="38100">
            <a:solidFill>
              <a:schemeClr val="accent1"/>
            </a:solidFill>
            <a:prstDash val="solid"/>
            <a:round/>
            <a:headEnd len="sm" w="sm" type="none"/>
            <a:tailEnd len="sm" w="sm" type="none"/>
          </a:ln>
        </p:spPr>
      </p:pic>
      <p:graphicFrame>
        <p:nvGraphicFramePr>
          <p:cNvPr id="516" name="Google Shape;516;p46"/>
          <p:cNvGraphicFramePr/>
          <p:nvPr/>
        </p:nvGraphicFramePr>
        <p:xfrm>
          <a:off x="5119486" y="4104878"/>
          <a:ext cx="3000000" cy="3000000"/>
        </p:xfrm>
        <a:graphic>
          <a:graphicData uri="http://schemas.openxmlformats.org/drawingml/2006/table">
            <a:tbl>
              <a:tblPr>
                <a:noFill/>
                <a:tableStyleId>{F016ABE3-ACDB-41B1-A64A-B1E2F77EB6C7}</a:tableStyleId>
              </a:tblPr>
              <a:tblGrid>
                <a:gridCol w="1014075"/>
                <a:gridCol w="1014075"/>
                <a:gridCol w="1014075"/>
              </a:tblGrid>
              <a:tr h="297150">
                <a:tc gridSpan="3">
                  <a:txBody>
                    <a:bodyPr/>
                    <a:lstStyle/>
                    <a:p>
                      <a:pPr indent="0" lvl="0" marL="0" rtl="0" algn="ctr">
                        <a:lnSpc>
                          <a:spcPct val="50000"/>
                        </a:lnSpc>
                        <a:spcBef>
                          <a:spcPts val="0"/>
                        </a:spcBef>
                        <a:spcAft>
                          <a:spcPts val="0"/>
                        </a:spcAft>
                        <a:buNone/>
                      </a:pPr>
                      <a:r>
                        <a:rPr b="1" lang="fr" sz="1200">
                          <a:solidFill>
                            <a:schemeClr val="lt2"/>
                          </a:solidFill>
                        </a:rPr>
                        <a:t>Traffic Object Detection Result</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hMerge="1"/>
                <a:tc hMerge="1"/>
              </a:tr>
              <a:tr h="297150">
                <a:tc>
                  <a:txBody>
                    <a:bodyPr/>
                    <a:lstStyle/>
                    <a:p>
                      <a:pPr indent="0" lvl="0" marL="0" rtl="0" algn="ctr">
                        <a:lnSpc>
                          <a:spcPct val="50000"/>
                        </a:lnSpc>
                        <a:spcBef>
                          <a:spcPts val="0"/>
                        </a:spcBef>
                        <a:spcAft>
                          <a:spcPts val="0"/>
                        </a:spcAft>
                        <a:buNone/>
                      </a:pPr>
                      <a:r>
                        <a:rPr b="1" lang="fr" sz="1200">
                          <a:solidFill>
                            <a:schemeClr val="lt2"/>
                          </a:solidFill>
                        </a:rPr>
                        <a:t>Recall(%)</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rtl="0" algn="ctr">
                        <a:lnSpc>
                          <a:spcPct val="50000"/>
                        </a:lnSpc>
                        <a:spcBef>
                          <a:spcPts val="0"/>
                        </a:spcBef>
                        <a:spcAft>
                          <a:spcPts val="0"/>
                        </a:spcAft>
                        <a:buNone/>
                      </a:pPr>
                      <a:r>
                        <a:rPr b="1" lang="fr" sz="1200">
                          <a:solidFill>
                            <a:schemeClr val="lt2"/>
                          </a:solidFill>
                        </a:rPr>
                        <a:t>mAP50(%)</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rtl="0" algn="ctr">
                        <a:lnSpc>
                          <a:spcPct val="50000"/>
                        </a:lnSpc>
                        <a:spcBef>
                          <a:spcPts val="0"/>
                        </a:spcBef>
                        <a:spcAft>
                          <a:spcPts val="0"/>
                        </a:spcAft>
                        <a:buNone/>
                      </a:pPr>
                      <a:r>
                        <a:rPr b="1" lang="fr" sz="1200">
                          <a:solidFill>
                            <a:schemeClr val="lt2"/>
                          </a:solidFill>
                        </a:rPr>
                        <a:t>Speed(fps)</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r>
              <a:tr h="297150">
                <a:tc>
                  <a:txBody>
                    <a:bodyPr/>
                    <a:lstStyle/>
                    <a:p>
                      <a:pPr indent="0" lvl="0" marL="0" rtl="0" algn="ctr">
                        <a:lnSpc>
                          <a:spcPct val="50000"/>
                        </a:lnSpc>
                        <a:spcBef>
                          <a:spcPts val="0"/>
                        </a:spcBef>
                        <a:spcAft>
                          <a:spcPts val="0"/>
                        </a:spcAft>
                        <a:buNone/>
                      </a:pPr>
                      <a:r>
                        <a:rPr lang="fr" sz="1200">
                          <a:solidFill>
                            <a:schemeClr val="dk1"/>
                          </a:solidFill>
                        </a:rPr>
                        <a:t>89.11</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solidFill>
                      <a:schemeClr val="lt1"/>
                    </a:solidFill>
                  </a:tcPr>
                </a:tc>
                <a:tc>
                  <a:txBody>
                    <a:bodyPr/>
                    <a:lstStyle/>
                    <a:p>
                      <a:pPr indent="0" lvl="0" marL="0" rtl="0" algn="ctr">
                        <a:lnSpc>
                          <a:spcPct val="50000"/>
                        </a:lnSpc>
                        <a:spcBef>
                          <a:spcPts val="0"/>
                        </a:spcBef>
                        <a:spcAft>
                          <a:spcPts val="0"/>
                        </a:spcAft>
                        <a:buNone/>
                      </a:pPr>
                      <a:r>
                        <a:rPr lang="fr" sz="1200">
                          <a:solidFill>
                            <a:schemeClr val="dk1"/>
                          </a:solidFill>
                        </a:rPr>
                        <a:t>71.94</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solidFill>
                      <a:schemeClr val="lt1"/>
                    </a:solidFill>
                  </a:tcPr>
                </a:tc>
                <a:tc>
                  <a:txBody>
                    <a:bodyPr/>
                    <a:lstStyle/>
                    <a:p>
                      <a:pPr indent="0" lvl="0" marL="0" rtl="0" algn="ctr">
                        <a:lnSpc>
                          <a:spcPct val="50000"/>
                        </a:lnSpc>
                        <a:spcBef>
                          <a:spcPts val="0"/>
                        </a:spcBef>
                        <a:spcAft>
                          <a:spcPts val="0"/>
                        </a:spcAft>
                        <a:buNone/>
                      </a:pPr>
                      <a:r>
                        <a:rPr lang="fr" sz="1200">
                          <a:solidFill>
                            <a:schemeClr val="dk1"/>
                          </a:solidFill>
                        </a:rPr>
                        <a:t>6</a:t>
                      </a:r>
                      <a:r>
                        <a:rPr lang="fr" sz="1200">
                          <a:solidFill>
                            <a:schemeClr val="dk1"/>
                          </a:solidFill>
                        </a:rPr>
                        <a:t>0</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solidFill>
                      <a:schemeClr val="lt1"/>
                    </a:solidFill>
                  </a:tcPr>
                </a:tc>
              </a:tr>
            </a:tbl>
          </a:graphicData>
        </a:graphic>
      </p:graphicFrame>
      <p:graphicFrame>
        <p:nvGraphicFramePr>
          <p:cNvPr id="517" name="Google Shape;517;p46"/>
          <p:cNvGraphicFramePr/>
          <p:nvPr/>
        </p:nvGraphicFramePr>
        <p:xfrm>
          <a:off x="982299" y="4104875"/>
          <a:ext cx="3000000" cy="3000000"/>
        </p:xfrm>
        <a:graphic>
          <a:graphicData uri="http://schemas.openxmlformats.org/drawingml/2006/table">
            <a:tbl>
              <a:tblPr>
                <a:noFill/>
                <a:tableStyleId>{F016ABE3-ACDB-41B1-A64A-B1E2F77EB6C7}</a:tableStyleId>
              </a:tblPr>
              <a:tblGrid>
                <a:gridCol w="1014075"/>
                <a:gridCol w="1014075"/>
              </a:tblGrid>
              <a:tr h="297150">
                <a:tc gridSpan="2">
                  <a:txBody>
                    <a:bodyPr/>
                    <a:lstStyle/>
                    <a:p>
                      <a:pPr indent="0" lvl="0" marL="0" rtl="0" algn="ctr">
                        <a:lnSpc>
                          <a:spcPct val="50000"/>
                        </a:lnSpc>
                        <a:spcBef>
                          <a:spcPts val="0"/>
                        </a:spcBef>
                        <a:spcAft>
                          <a:spcPts val="0"/>
                        </a:spcAft>
                        <a:buNone/>
                      </a:pPr>
                      <a:r>
                        <a:rPr b="1" lang="fr" sz="1200">
                          <a:solidFill>
                            <a:schemeClr val="lt2"/>
                          </a:solidFill>
                        </a:rPr>
                        <a:t>Drivable Area</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c hMerge="1"/>
              </a:tr>
              <a:tr h="297150">
                <a:tc>
                  <a:txBody>
                    <a:bodyPr/>
                    <a:lstStyle/>
                    <a:p>
                      <a:pPr indent="0" lvl="0" marL="0" rtl="0" algn="ctr">
                        <a:lnSpc>
                          <a:spcPct val="50000"/>
                        </a:lnSpc>
                        <a:spcBef>
                          <a:spcPts val="0"/>
                        </a:spcBef>
                        <a:spcAft>
                          <a:spcPts val="0"/>
                        </a:spcAft>
                        <a:buNone/>
                      </a:pPr>
                      <a:r>
                        <a:rPr b="1" lang="fr" sz="1200">
                          <a:solidFill>
                            <a:schemeClr val="lt2"/>
                          </a:solidFill>
                        </a:rPr>
                        <a:t>mIOU(%)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c>
                  <a:txBody>
                    <a:bodyPr/>
                    <a:lstStyle/>
                    <a:p>
                      <a:pPr indent="0" lvl="0" marL="0" rtl="0" algn="ctr">
                        <a:lnSpc>
                          <a:spcPct val="50000"/>
                        </a:lnSpc>
                        <a:spcBef>
                          <a:spcPts val="0"/>
                        </a:spcBef>
                        <a:spcAft>
                          <a:spcPts val="0"/>
                        </a:spcAft>
                        <a:buNone/>
                      </a:pPr>
                      <a:r>
                        <a:rPr b="1" lang="fr" sz="1200">
                          <a:solidFill>
                            <a:schemeClr val="lt2"/>
                          </a:solidFill>
                        </a:rPr>
                        <a:t>Speed(fps)</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r>
              <a:tr h="297150">
                <a:tc>
                  <a:txBody>
                    <a:bodyPr/>
                    <a:lstStyle/>
                    <a:p>
                      <a:pPr indent="0" lvl="0" marL="0" rtl="0" algn="ctr">
                        <a:lnSpc>
                          <a:spcPct val="50000"/>
                        </a:lnSpc>
                        <a:spcBef>
                          <a:spcPts val="0"/>
                        </a:spcBef>
                        <a:spcAft>
                          <a:spcPts val="0"/>
                        </a:spcAft>
                        <a:buNone/>
                      </a:pPr>
                      <a:r>
                        <a:rPr lang="fr" sz="1200">
                          <a:solidFill>
                            <a:schemeClr val="dk1"/>
                          </a:solidFill>
                        </a:rPr>
                        <a:t>91.24</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solidFill>
                      <a:schemeClr val="lt1"/>
                    </a:solidFill>
                  </a:tcPr>
                </a:tc>
                <a:tc>
                  <a:txBody>
                    <a:bodyPr/>
                    <a:lstStyle/>
                    <a:p>
                      <a:pPr indent="0" lvl="0" marL="0" rtl="0" algn="ctr">
                        <a:lnSpc>
                          <a:spcPct val="50000"/>
                        </a:lnSpc>
                        <a:spcBef>
                          <a:spcPts val="0"/>
                        </a:spcBef>
                        <a:spcAft>
                          <a:spcPts val="0"/>
                        </a:spcAft>
                        <a:buNone/>
                      </a:pPr>
                      <a:r>
                        <a:rPr lang="fr" sz="1200">
                          <a:solidFill>
                            <a:schemeClr val="dk1"/>
                          </a:solidFill>
                        </a:rPr>
                        <a:t>6</a:t>
                      </a:r>
                      <a:r>
                        <a:rPr lang="fr" sz="1200">
                          <a:solidFill>
                            <a:schemeClr val="dk1"/>
                          </a:solidFill>
                        </a:rPr>
                        <a:t>0</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solidFill>
                      <a:schemeClr val="lt1"/>
                    </a:solidFill>
                  </a:tcPr>
                </a:tc>
              </a:tr>
            </a:tbl>
          </a:graphicData>
        </a:graphic>
      </p:graphicFrame>
      <p:graphicFrame>
        <p:nvGraphicFramePr>
          <p:cNvPr id="518" name="Google Shape;518;p46"/>
          <p:cNvGraphicFramePr/>
          <p:nvPr/>
        </p:nvGraphicFramePr>
        <p:xfrm>
          <a:off x="3050899" y="4104887"/>
          <a:ext cx="3000000" cy="3000000"/>
        </p:xfrm>
        <a:graphic>
          <a:graphicData uri="http://schemas.openxmlformats.org/drawingml/2006/table">
            <a:tbl>
              <a:tblPr>
                <a:noFill/>
                <a:tableStyleId>{F016ABE3-ACDB-41B1-A64A-B1E2F77EB6C7}</a:tableStyleId>
              </a:tblPr>
              <a:tblGrid>
                <a:gridCol w="1014075"/>
                <a:gridCol w="1014075"/>
              </a:tblGrid>
              <a:tr h="297150">
                <a:tc gridSpan="2">
                  <a:txBody>
                    <a:bodyPr/>
                    <a:lstStyle/>
                    <a:p>
                      <a:pPr indent="0" lvl="0" marL="0" rtl="0" algn="ctr">
                        <a:lnSpc>
                          <a:spcPct val="50000"/>
                        </a:lnSpc>
                        <a:spcBef>
                          <a:spcPts val="0"/>
                        </a:spcBef>
                        <a:spcAft>
                          <a:spcPts val="0"/>
                        </a:spcAft>
                        <a:buNone/>
                      </a:pPr>
                      <a:r>
                        <a:rPr b="1" lang="fr" sz="1200">
                          <a:solidFill>
                            <a:schemeClr val="lt2"/>
                          </a:solidFill>
                        </a:rPr>
                        <a:t>Lane Detection</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hMerge="1"/>
              </a:tr>
              <a:tr h="297150">
                <a:tc>
                  <a:txBody>
                    <a:bodyPr/>
                    <a:lstStyle/>
                    <a:p>
                      <a:pPr indent="0" lvl="0" marL="0" rtl="0" algn="ctr">
                        <a:lnSpc>
                          <a:spcPct val="50000"/>
                        </a:lnSpc>
                        <a:spcBef>
                          <a:spcPts val="0"/>
                        </a:spcBef>
                        <a:spcAft>
                          <a:spcPts val="0"/>
                        </a:spcAft>
                        <a:buNone/>
                      </a:pPr>
                      <a:r>
                        <a:rPr b="1" lang="fr" sz="1200">
                          <a:solidFill>
                            <a:schemeClr val="lt2"/>
                          </a:solidFill>
                        </a:rPr>
                        <a:t>mIOU(%)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a:txBody>
                    <a:bodyPr/>
                    <a:lstStyle/>
                    <a:p>
                      <a:pPr indent="0" lvl="0" marL="0" rtl="0" algn="ctr">
                        <a:lnSpc>
                          <a:spcPct val="50000"/>
                        </a:lnSpc>
                        <a:spcBef>
                          <a:spcPts val="0"/>
                        </a:spcBef>
                        <a:spcAft>
                          <a:spcPts val="0"/>
                        </a:spcAft>
                        <a:buNone/>
                      </a:pPr>
                      <a:r>
                        <a:rPr b="1" lang="fr" sz="1200">
                          <a:solidFill>
                            <a:schemeClr val="lt2"/>
                          </a:solidFill>
                        </a:rPr>
                        <a:t>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r>
              <a:tr h="297150">
                <a:tc>
                  <a:txBody>
                    <a:bodyPr/>
                    <a:lstStyle/>
                    <a:p>
                      <a:pPr indent="0" lvl="0" marL="0" rtl="0" algn="ctr">
                        <a:lnSpc>
                          <a:spcPct val="50000"/>
                        </a:lnSpc>
                        <a:spcBef>
                          <a:spcPts val="0"/>
                        </a:spcBef>
                        <a:spcAft>
                          <a:spcPts val="0"/>
                        </a:spcAft>
                        <a:buNone/>
                      </a:pPr>
                      <a:r>
                        <a:rPr lang="fr" sz="1200">
                          <a:solidFill>
                            <a:schemeClr val="dk1"/>
                          </a:solidFill>
                        </a:rPr>
                        <a:t>59.5</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solidFill>
                      <a:schemeClr val="lt1"/>
                    </a:solidFill>
                  </a:tcPr>
                </a:tc>
                <a:tc>
                  <a:txBody>
                    <a:bodyPr/>
                    <a:lstStyle/>
                    <a:p>
                      <a:pPr indent="0" lvl="0" marL="0" rtl="0" algn="ctr">
                        <a:lnSpc>
                          <a:spcPct val="50000"/>
                        </a:lnSpc>
                        <a:spcBef>
                          <a:spcPts val="0"/>
                        </a:spcBef>
                        <a:spcAft>
                          <a:spcPts val="0"/>
                        </a:spcAft>
                        <a:buNone/>
                      </a:pPr>
                      <a:r>
                        <a:rPr lang="fr" sz="1200">
                          <a:solidFill>
                            <a:schemeClr val="dk1"/>
                          </a:solidFill>
                        </a:rPr>
                        <a:t>20.7</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solidFill>
                      <a:schemeClr val="lt1"/>
                    </a:solidFill>
                  </a:tcPr>
                </a:tc>
              </a:tr>
            </a:tbl>
          </a:graphicData>
        </a:graphic>
      </p:graphicFrame>
      <p:sp>
        <p:nvSpPr>
          <p:cNvPr id="519" name="Google Shape;519;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47"/>
          <p:cNvSpPr/>
          <p:nvPr/>
        </p:nvSpPr>
        <p:spPr>
          <a:xfrm>
            <a:off x="8392850" y="891267"/>
            <a:ext cx="561900" cy="550200"/>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26" name="Google Shape;526;p47"/>
          <p:cNvSpPr/>
          <p:nvPr/>
        </p:nvSpPr>
        <p:spPr>
          <a:xfrm>
            <a:off x="133650" y="2420879"/>
            <a:ext cx="541200" cy="541200"/>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527" name="Google Shape;527;p47"/>
          <p:cNvPicPr preferRelativeResize="0"/>
          <p:nvPr/>
        </p:nvPicPr>
        <p:blipFill rotWithShape="1">
          <a:blip r:embed="rId3">
            <a:alphaModFix/>
          </a:blip>
          <a:srcRect b="0" l="0" r="0" t="0"/>
          <a:stretch/>
        </p:blipFill>
        <p:spPr>
          <a:xfrm rot="-752670">
            <a:off x="6029909" y="-650927"/>
            <a:ext cx="2650733" cy="1552381"/>
          </a:xfrm>
          <a:prstGeom prst="rect">
            <a:avLst/>
          </a:prstGeom>
          <a:noFill/>
          <a:ln>
            <a:noFill/>
          </a:ln>
        </p:spPr>
      </p:pic>
      <p:sp>
        <p:nvSpPr>
          <p:cNvPr id="528" name="Google Shape;528;p47"/>
          <p:cNvSpPr txBox="1"/>
          <p:nvPr/>
        </p:nvSpPr>
        <p:spPr>
          <a:xfrm>
            <a:off x="4623450" y="2765550"/>
            <a:ext cx="4422300" cy="2275500"/>
          </a:xfrm>
          <a:prstGeom prst="rect">
            <a:avLst/>
          </a:prstGeom>
          <a:noFill/>
          <a:ln>
            <a:noFill/>
          </a:ln>
        </p:spPr>
        <p:txBody>
          <a:bodyPr anchorCtr="0" anchor="t" bIns="34275" lIns="68575" spcFirstLastPara="1" rIns="68575" wrap="square" tIns="34275">
            <a:spAutoFit/>
          </a:bodyPr>
          <a:lstStyle/>
          <a:p>
            <a:pPr indent="0" lvl="0" marL="0" marR="0" rtl="0" algn="l">
              <a:lnSpc>
                <a:spcPct val="133333"/>
              </a:lnSpc>
              <a:spcBef>
                <a:spcPts val="0"/>
              </a:spcBef>
              <a:spcAft>
                <a:spcPts val="0"/>
              </a:spcAft>
              <a:buNone/>
            </a:pPr>
            <a:r>
              <a:rPr b="1" lang="fr" sz="1000">
                <a:solidFill>
                  <a:schemeClr val="dk1"/>
                </a:solidFill>
                <a:latin typeface="Poppins"/>
                <a:ea typeface="Poppins"/>
                <a:cs typeface="Poppins"/>
                <a:sym typeface="Poppins"/>
              </a:rPr>
              <a:t>Validation Fonctionnelle :</a:t>
            </a:r>
            <a:endParaRPr b="1" sz="1000">
              <a:solidFill>
                <a:schemeClr val="dk1"/>
              </a:solidFill>
              <a:latin typeface="Poppins"/>
              <a:ea typeface="Poppins"/>
              <a:cs typeface="Poppins"/>
              <a:sym typeface="Poppins"/>
            </a:endParaRPr>
          </a:p>
          <a:p>
            <a:pPr indent="-292100" lvl="0" marL="457200" marR="0" rtl="0" algn="l">
              <a:lnSpc>
                <a:spcPct val="133333"/>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Détection opérationnelle en INT8 (Problème d'échelle résolu).</a:t>
            </a:r>
            <a:endParaRPr sz="1000">
              <a:solidFill>
                <a:schemeClr val="dk1"/>
              </a:solidFill>
              <a:latin typeface="Poppins"/>
              <a:ea typeface="Poppins"/>
              <a:cs typeface="Poppins"/>
              <a:sym typeface="Poppins"/>
            </a:endParaRPr>
          </a:p>
          <a:p>
            <a:pPr indent="-292100" lvl="0" marL="457200" marR="0" rtl="0" algn="l">
              <a:lnSpc>
                <a:spcPct val="133333"/>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Segmentation (Drivable Area) : Iso-performance (0% de perte).</a:t>
            </a:r>
            <a:endParaRPr sz="1000">
              <a:solidFill>
                <a:schemeClr val="dk1"/>
              </a:solidFill>
              <a:latin typeface="Poppins"/>
              <a:ea typeface="Poppins"/>
              <a:cs typeface="Poppins"/>
              <a:sym typeface="Poppins"/>
            </a:endParaRPr>
          </a:p>
          <a:p>
            <a:pPr indent="0" lvl="0" marL="0" marR="0" rtl="0" algn="l">
              <a:lnSpc>
                <a:spcPct val="133333"/>
              </a:lnSpc>
              <a:spcBef>
                <a:spcPts val="0"/>
              </a:spcBef>
              <a:spcAft>
                <a:spcPts val="0"/>
              </a:spcAft>
              <a:buNone/>
            </a:pPr>
            <a:r>
              <a:rPr b="1" lang="fr" sz="1000">
                <a:solidFill>
                  <a:schemeClr val="dk1"/>
                </a:solidFill>
                <a:latin typeface="Poppins"/>
                <a:ea typeface="Poppins"/>
                <a:cs typeface="Poppins"/>
                <a:sym typeface="Poppins"/>
              </a:rPr>
              <a:t>Impact sur la Détection (Écart FP32 vs INT8) :</a:t>
            </a:r>
            <a:endParaRPr b="1" sz="1000">
              <a:solidFill>
                <a:schemeClr val="dk1"/>
              </a:solidFill>
              <a:latin typeface="Poppins"/>
              <a:ea typeface="Poppins"/>
              <a:cs typeface="Poppins"/>
              <a:sym typeface="Poppins"/>
            </a:endParaRPr>
          </a:p>
          <a:p>
            <a:pPr indent="-292100" lvl="0" marL="457200" marR="0" rtl="0" algn="l">
              <a:lnSpc>
                <a:spcPct val="133333"/>
              </a:lnSpc>
              <a:spcBef>
                <a:spcPts val="0"/>
              </a:spcBef>
              <a:spcAft>
                <a:spcPts val="0"/>
              </a:spcAft>
              <a:buClr>
                <a:schemeClr val="dk1"/>
              </a:buClr>
              <a:buSzPts val="1000"/>
              <a:buFont typeface="Poppins"/>
              <a:buChar char="●"/>
            </a:pPr>
            <a:r>
              <a:rPr b="1" lang="fr" sz="1000">
                <a:solidFill>
                  <a:schemeClr val="dk1"/>
                </a:solidFill>
                <a:latin typeface="Poppins"/>
                <a:ea typeface="Poppins"/>
                <a:cs typeface="Poppins"/>
                <a:sym typeface="Poppins"/>
              </a:rPr>
              <a:t>Baisse significative des métriques :</a:t>
            </a:r>
            <a:endParaRPr b="1" sz="1000">
              <a:solidFill>
                <a:schemeClr val="dk1"/>
              </a:solidFill>
              <a:latin typeface="Poppins"/>
              <a:ea typeface="Poppins"/>
              <a:cs typeface="Poppins"/>
              <a:sym typeface="Poppins"/>
            </a:endParaRPr>
          </a:p>
          <a:p>
            <a:pPr indent="-292100" lvl="1" marL="914400" marR="0" rtl="0" algn="l">
              <a:lnSpc>
                <a:spcPct val="133333"/>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Recall : - 5 %</a:t>
            </a:r>
            <a:endParaRPr sz="1000">
              <a:solidFill>
                <a:schemeClr val="dk1"/>
              </a:solidFill>
              <a:latin typeface="Poppins"/>
              <a:ea typeface="Poppins"/>
              <a:cs typeface="Poppins"/>
              <a:sym typeface="Poppins"/>
            </a:endParaRPr>
          </a:p>
          <a:p>
            <a:pPr indent="-292100" lvl="1" marL="914400" marR="0" rtl="0" algn="l">
              <a:lnSpc>
                <a:spcPct val="133333"/>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mAP50 : - 14 % (Perte non négligeable)</a:t>
            </a:r>
            <a:endParaRPr sz="1000">
              <a:solidFill>
                <a:schemeClr val="dk1"/>
              </a:solidFill>
              <a:latin typeface="Poppins"/>
              <a:ea typeface="Poppins"/>
              <a:cs typeface="Poppins"/>
              <a:sym typeface="Poppins"/>
            </a:endParaRPr>
          </a:p>
          <a:p>
            <a:pPr indent="0" lvl="0" marL="0" marR="0" rtl="0" algn="l">
              <a:lnSpc>
                <a:spcPct val="133333"/>
              </a:lnSpc>
              <a:spcBef>
                <a:spcPts val="0"/>
              </a:spcBef>
              <a:spcAft>
                <a:spcPts val="0"/>
              </a:spcAft>
              <a:buNone/>
            </a:pPr>
            <a:r>
              <a:rPr b="1" lang="fr" sz="1000">
                <a:solidFill>
                  <a:schemeClr val="dk1"/>
                </a:solidFill>
                <a:latin typeface="Poppins"/>
                <a:ea typeface="Poppins"/>
                <a:cs typeface="Poppins"/>
                <a:sym typeface="Poppins"/>
              </a:rPr>
              <a:t>Plan d'Action Correctif (Perspectives) :</a:t>
            </a:r>
            <a:endParaRPr b="1" sz="1000">
              <a:solidFill>
                <a:schemeClr val="dk1"/>
              </a:solidFill>
              <a:latin typeface="Poppins"/>
              <a:ea typeface="Poppins"/>
              <a:cs typeface="Poppins"/>
              <a:sym typeface="Poppins"/>
            </a:endParaRPr>
          </a:p>
          <a:p>
            <a:pPr indent="-292100" lvl="0" marL="457200" marR="0" rtl="0" algn="l">
              <a:lnSpc>
                <a:spcPct val="133333"/>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Calibration par une sélection precise</a:t>
            </a:r>
            <a:endParaRPr sz="1000">
              <a:solidFill>
                <a:schemeClr val="dk1"/>
              </a:solidFill>
              <a:latin typeface="Poppins"/>
              <a:ea typeface="Poppins"/>
              <a:cs typeface="Poppins"/>
              <a:sym typeface="Poppins"/>
            </a:endParaRPr>
          </a:p>
        </p:txBody>
      </p:sp>
      <p:sp>
        <p:nvSpPr>
          <p:cNvPr id="529" name="Google Shape;529;p47"/>
          <p:cNvSpPr/>
          <p:nvPr/>
        </p:nvSpPr>
        <p:spPr>
          <a:xfrm>
            <a:off x="700871" y="602229"/>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graphicFrame>
        <p:nvGraphicFramePr>
          <p:cNvPr id="530" name="Google Shape;530;p47"/>
          <p:cNvGraphicFramePr/>
          <p:nvPr/>
        </p:nvGraphicFramePr>
        <p:xfrm>
          <a:off x="133643" y="2940252"/>
          <a:ext cx="3000000" cy="3000000"/>
        </p:xfrm>
        <a:graphic>
          <a:graphicData uri="http://schemas.openxmlformats.org/drawingml/2006/table">
            <a:tbl>
              <a:tblPr>
                <a:noFill/>
                <a:tableStyleId>{F016ABE3-ACDB-41B1-A64A-B1E2F77EB6C7}</a:tableStyleId>
              </a:tblPr>
              <a:tblGrid>
                <a:gridCol w="1014075"/>
                <a:gridCol w="1014075"/>
                <a:gridCol w="1014075"/>
              </a:tblGrid>
              <a:tr h="297150">
                <a:tc gridSpan="3">
                  <a:txBody>
                    <a:bodyPr/>
                    <a:lstStyle/>
                    <a:p>
                      <a:pPr indent="0" lvl="0" marL="0" rtl="0" algn="ctr">
                        <a:lnSpc>
                          <a:spcPct val="50000"/>
                        </a:lnSpc>
                        <a:spcBef>
                          <a:spcPts val="0"/>
                        </a:spcBef>
                        <a:spcAft>
                          <a:spcPts val="0"/>
                        </a:spcAft>
                        <a:buNone/>
                      </a:pPr>
                      <a:r>
                        <a:rPr b="1" lang="fr" sz="1200">
                          <a:solidFill>
                            <a:schemeClr val="lt2"/>
                          </a:solidFill>
                        </a:rPr>
                        <a:t>Traffic Object Detection Result</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hMerge="1"/>
                <a:tc hMerge="1"/>
              </a:tr>
              <a:tr h="297150">
                <a:tc>
                  <a:txBody>
                    <a:bodyPr/>
                    <a:lstStyle/>
                    <a:p>
                      <a:pPr indent="0" lvl="0" marL="0" rtl="0" algn="ctr">
                        <a:lnSpc>
                          <a:spcPct val="50000"/>
                        </a:lnSpc>
                        <a:spcBef>
                          <a:spcPts val="0"/>
                        </a:spcBef>
                        <a:spcAft>
                          <a:spcPts val="0"/>
                        </a:spcAft>
                        <a:buNone/>
                      </a:pPr>
                      <a:r>
                        <a:rPr b="1" lang="fr" sz="1200">
                          <a:solidFill>
                            <a:schemeClr val="lt2"/>
                          </a:solidFill>
                        </a:rPr>
                        <a:t>Recall(%)</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rtl="0" algn="ctr">
                        <a:lnSpc>
                          <a:spcPct val="50000"/>
                        </a:lnSpc>
                        <a:spcBef>
                          <a:spcPts val="0"/>
                        </a:spcBef>
                        <a:spcAft>
                          <a:spcPts val="0"/>
                        </a:spcAft>
                        <a:buNone/>
                      </a:pPr>
                      <a:r>
                        <a:rPr b="1" lang="fr" sz="1200">
                          <a:solidFill>
                            <a:schemeClr val="lt2"/>
                          </a:solidFill>
                        </a:rPr>
                        <a:t>mAP50(%)</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rtl="0" algn="ctr">
                        <a:lnSpc>
                          <a:spcPct val="50000"/>
                        </a:lnSpc>
                        <a:spcBef>
                          <a:spcPts val="0"/>
                        </a:spcBef>
                        <a:spcAft>
                          <a:spcPts val="0"/>
                        </a:spcAft>
                        <a:buNone/>
                      </a:pPr>
                      <a:r>
                        <a:rPr b="1" lang="fr" sz="1200">
                          <a:solidFill>
                            <a:schemeClr val="lt2"/>
                          </a:solidFill>
                        </a:rPr>
                        <a:t>Speed(fps)</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r>
              <a:tr h="297150">
                <a:tc>
                  <a:txBody>
                    <a:bodyPr/>
                    <a:lstStyle/>
                    <a:p>
                      <a:pPr indent="0" lvl="0" marL="0" rtl="0" algn="ctr">
                        <a:lnSpc>
                          <a:spcPct val="50000"/>
                        </a:lnSpc>
                        <a:spcBef>
                          <a:spcPts val="0"/>
                        </a:spcBef>
                        <a:spcAft>
                          <a:spcPts val="0"/>
                        </a:spcAft>
                        <a:buNone/>
                      </a:pPr>
                      <a:r>
                        <a:rPr lang="fr" sz="1200">
                          <a:solidFill>
                            <a:schemeClr val="dk1"/>
                          </a:solidFill>
                        </a:rPr>
                        <a:t>85.22</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58.20</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50</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graphicFrame>
        <p:nvGraphicFramePr>
          <p:cNvPr id="531" name="Google Shape;531;p47"/>
          <p:cNvGraphicFramePr/>
          <p:nvPr/>
        </p:nvGraphicFramePr>
        <p:xfrm>
          <a:off x="526706" y="3971687"/>
          <a:ext cx="3000000" cy="3000000"/>
        </p:xfrm>
        <a:graphic>
          <a:graphicData uri="http://schemas.openxmlformats.org/drawingml/2006/table">
            <a:tbl>
              <a:tblPr>
                <a:noFill/>
                <a:tableStyleId>{F016ABE3-ACDB-41B1-A64A-B1E2F77EB6C7}</a:tableStyleId>
              </a:tblPr>
              <a:tblGrid>
                <a:gridCol w="1014075"/>
                <a:gridCol w="1014075"/>
              </a:tblGrid>
              <a:tr h="297150">
                <a:tc gridSpan="2">
                  <a:txBody>
                    <a:bodyPr/>
                    <a:lstStyle/>
                    <a:p>
                      <a:pPr indent="0" lvl="0" marL="0" rtl="0" algn="ctr">
                        <a:lnSpc>
                          <a:spcPct val="50000"/>
                        </a:lnSpc>
                        <a:spcBef>
                          <a:spcPts val="0"/>
                        </a:spcBef>
                        <a:spcAft>
                          <a:spcPts val="0"/>
                        </a:spcAft>
                        <a:buNone/>
                      </a:pPr>
                      <a:r>
                        <a:rPr b="1" lang="fr" sz="1200">
                          <a:solidFill>
                            <a:schemeClr val="lt2"/>
                          </a:solidFill>
                        </a:rPr>
                        <a:t>Drivable Area Segmentation</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c hMerge="1"/>
              </a:tr>
              <a:tr h="297150">
                <a:tc>
                  <a:txBody>
                    <a:bodyPr/>
                    <a:lstStyle/>
                    <a:p>
                      <a:pPr indent="0" lvl="0" marL="0" rtl="0" algn="ctr">
                        <a:lnSpc>
                          <a:spcPct val="50000"/>
                        </a:lnSpc>
                        <a:spcBef>
                          <a:spcPts val="0"/>
                        </a:spcBef>
                        <a:spcAft>
                          <a:spcPts val="0"/>
                        </a:spcAft>
                        <a:buNone/>
                      </a:pPr>
                      <a:r>
                        <a:rPr b="1" lang="fr" sz="1200">
                          <a:solidFill>
                            <a:schemeClr val="lt2"/>
                          </a:solidFill>
                        </a:rPr>
                        <a:t>mIOU(%)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c>
                  <a:txBody>
                    <a:bodyPr/>
                    <a:lstStyle/>
                    <a:p>
                      <a:pPr indent="0" lvl="0" marL="0" rtl="0" algn="ctr">
                        <a:lnSpc>
                          <a:spcPct val="50000"/>
                        </a:lnSpc>
                        <a:spcBef>
                          <a:spcPts val="0"/>
                        </a:spcBef>
                        <a:spcAft>
                          <a:spcPts val="0"/>
                        </a:spcAft>
                        <a:buNone/>
                      </a:pPr>
                      <a:r>
                        <a:rPr b="1" lang="fr" sz="1200">
                          <a:solidFill>
                            <a:schemeClr val="lt2"/>
                          </a:solidFill>
                        </a:rPr>
                        <a:t>Speed(fps)</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r>
              <a:tr h="297150">
                <a:tc>
                  <a:txBody>
                    <a:bodyPr/>
                    <a:lstStyle/>
                    <a:p>
                      <a:pPr indent="0" lvl="0" marL="0" rtl="0" algn="ctr">
                        <a:lnSpc>
                          <a:spcPct val="50000"/>
                        </a:lnSpc>
                        <a:spcBef>
                          <a:spcPts val="0"/>
                        </a:spcBef>
                        <a:spcAft>
                          <a:spcPts val="0"/>
                        </a:spcAft>
                        <a:buNone/>
                      </a:pPr>
                      <a:r>
                        <a:rPr lang="fr" sz="1200">
                          <a:solidFill>
                            <a:schemeClr val="dk1"/>
                          </a:solidFill>
                        </a:rPr>
                        <a:t>90.99</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50</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graphicFrame>
        <p:nvGraphicFramePr>
          <p:cNvPr id="532" name="Google Shape;532;p47"/>
          <p:cNvGraphicFramePr/>
          <p:nvPr/>
        </p:nvGraphicFramePr>
        <p:xfrm>
          <a:off x="2595306" y="4005974"/>
          <a:ext cx="3000000" cy="3000000"/>
        </p:xfrm>
        <a:graphic>
          <a:graphicData uri="http://schemas.openxmlformats.org/drawingml/2006/table">
            <a:tbl>
              <a:tblPr>
                <a:noFill/>
                <a:tableStyleId>{F016ABE3-ACDB-41B1-A64A-B1E2F77EB6C7}</a:tableStyleId>
              </a:tblPr>
              <a:tblGrid>
                <a:gridCol w="1014075"/>
                <a:gridCol w="1014075"/>
              </a:tblGrid>
              <a:tr h="297150">
                <a:tc gridSpan="2">
                  <a:txBody>
                    <a:bodyPr/>
                    <a:lstStyle/>
                    <a:p>
                      <a:pPr indent="0" lvl="0" marL="0" rtl="0" algn="ctr">
                        <a:lnSpc>
                          <a:spcPct val="50000"/>
                        </a:lnSpc>
                        <a:spcBef>
                          <a:spcPts val="0"/>
                        </a:spcBef>
                        <a:spcAft>
                          <a:spcPts val="0"/>
                        </a:spcAft>
                        <a:buNone/>
                      </a:pPr>
                      <a:r>
                        <a:rPr b="1" lang="fr" sz="1200">
                          <a:solidFill>
                            <a:schemeClr val="lt2"/>
                          </a:solidFill>
                        </a:rPr>
                        <a:t>Lane Detection</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hMerge="1"/>
              </a:tr>
              <a:tr h="297150">
                <a:tc>
                  <a:txBody>
                    <a:bodyPr/>
                    <a:lstStyle/>
                    <a:p>
                      <a:pPr indent="0" lvl="0" marL="0" rtl="0" algn="ctr">
                        <a:lnSpc>
                          <a:spcPct val="50000"/>
                        </a:lnSpc>
                        <a:spcBef>
                          <a:spcPts val="0"/>
                        </a:spcBef>
                        <a:spcAft>
                          <a:spcPts val="0"/>
                        </a:spcAft>
                        <a:buNone/>
                      </a:pPr>
                      <a:r>
                        <a:rPr b="1" lang="fr" sz="1200">
                          <a:solidFill>
                            <a:schemeClr val="lt2"/>
                          </a:solidFill>
                        </a:rPr>
                        <a:t>mIOU(%)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a:txBody>
                    <a:bodyPr/>
                    <a:lstStyle/>
                    <a:p>
                      <a:pPr indent="0" lvl="0" marL="0" rtl="0" algn="ctr">
                        <a:lnSpc>
                          <a:spcPct val="50000"/>
                        </a:lnSpc>
                        <a:spcBef>
                          <a:spcPts val="0"/>
                        </a:spcBef>
                        <a:spcAft>
                          <a:spcPts val="0"/>
                        </a:spcAft>
                        <a:buNone/>
                      </a:pPr>
                      <a:r>
                        <a:rPr b="1" lang="fr" sz="1200">
                          <a:solidFill>
                            <a:schemeClr val="lt2"/>
                          </a:solidFill>
                        </a:rPr>
                        <a:t>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r>
              <a:tr h="297150">
                <a:tc>
                  <a:txBody>
                    <a:bodyPr/>
                    <a:lstStyle/>
                    <a:p>
                      <a:pPr indent="0" lvl="0" marL="0" rtl="0" algn="ctr">
                        <a:lnSpc>
                          <a:spcPct val="50000"/>
                        </a:lnSpc>
                        <a:spcBef>
                          <a:spcPts val="0"/>
                        </a:spcBef>
                        <a:spcAft>
                          <a:spcPts val="0"/>
                        </a:spcAft>
                        <a:buNone/>
                      </a:pPr>
                      <a:r>
                        <a:rPr lang="fr" sz="1200">
                          <a:solidFill>
                            <a:schemeClr val="dk1"/>
                          </a:solidFill>
                        </a:rPr>
                        <a:t>59.39</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20.35</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pic>
        <p:nvPicPr>
          <p:cNvPr id="533" name="Google Shape;533;p47" title="output555555555555.png"/>
          <p:cNvPicPr preferRelativeResize="0"/>
          <p:nvPr/>
        </p:nvPicPr>
        <p:blipFill rotWithShape="1">
          <a:blip r:embed="rId4">
            <a:alphaModFix/>
          </a:blip>
          <a:srcRect b="0" l="0" r="0" t="0"/>
          <a:stretch/>
        </p:blipFill>
        <p:spPr>
          <a:xfrm>
            <a:off x="326400" y="987282"/>
            <a:ext cx="8491200" cy="1778700"/>
          </a:xfrm>
          <a:prstGeom prst="round2DiagRect">
            <a:avLst>
              <a:gd fmla="val 16667" name="adj1"/>
              <a:gd fmla="val 0" name="adj2"/>
            </a:avLst>
          </a:prstGeom>
          <a:noFill/>
          <a:ln>
            <a:noFill/>
          </a:ln>
        </p:spPr>
      </p:pic>
      <p:sp>
        <p:nvSpPr>
          <p:cNvPr id="534" name="Google Shape;534;p47"/>
          <p:cNvSpPr txBox="1"/>
          <p:nvPr/>
        </p:nvSpPr>
        <p:spPr>
          <a:xfrm>
            <a:off x="615079" y="196775"/>
            <a:ext cx="55881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Résultat</a:t>
            </a:r>
            <a:r>
              <a:rPr b="1" lang="fr" sz="1700">
                <a:latin typeface="Poppins SemiBold"/>
                <a:ea typeface="Poppins SemiBold"/>
                <a:cs typeface="Poppins SemiBold"/>
                <a:sym typeface="Poppins SemiBold"/>
              </a:rPr>
              <a:t> du modèle ONNX normalisé &amp; quantisé</a:t>
            </a:r>
            <a:endParaRPr sz="1100"/>
          </a:p>
        </p:txBody>
      </p:sp>
      <p:sp>
        <p:nvSpPr>
          <p:cNvPr id="535" name="Google Shape;535;p47"/>
          <p:cNvSpPr txBox="1"/>
          <p:nvPr/>
        </p:nvSpPr>
        <p:spPr>
          <a:xfrm>
            <a:off x="326400" y="640325"/>
            <a:ext cx="4194300" cy="3741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900">
                <a:solidFill>
                  <a:schemeClr val="dk1"/>
                </a:solidFill>
                <a:latin typeface="Poppins"/>
                <a:ea typeface="Poppins"/>
                <a:cs typeface="Poppins"/>
                <a:sym typeface="Poppins"/>
              </a:rPr>
              <a:t>Objectif : </a:t>
            </a:r>
            <a:r>
              <a:rPr lang="fr" sz="900">
                <a:solidFill>
                  <a:schemeClr val="dk1"/>
                </a:solidFill>
                <a:latin typeface="Poppins"/>
                <a:ea typeface="Poppins"/>
                <a:cs typeface="Poppins"/>
                <a:sym typeface="Poppins"/>
              </a:rPr>
              <a:t>Quantification Post-Training (INT8) avec préservation de la précision (Mixed Precision). </a:t>
            </a:r>
            <a:r>
              <a:rPr b="1" lang="fr" sz="900" u="sng">
                <a:solidFill>
                  <a:schemeClr val="dk1"/>
                </a:solidFill>
                <a:latin typeface="Poppins"/>
                <a:ea typeface="Poppins"/>
                <a:cs typeface="Poppins"/>
                <a:sym typeface="Poppins"/>
              </a:rPr>
              <a:t>50</a:t>
            </a:r>
            <a:r>
              <a:rPr lang="fr" sz="900" u="sng">
                <a:solidFill>
                  <a:schemeClr val="dk1"/>
                </a:solidFill>
                <a:latin typeface="Poppins"/>
                <a:ea typeface="Poppins"/>
                <a:cs typeface="Poppins"/>
                <a:sym typeface="Poppins"/>
              </a:rPr>
              <a:t> images de calibration</a:t>
            </a:r>
            <a:endParaRPr sz="900" u="sng">
              <a:solidFill>
                <a:schemeClr val="dk1"/>
              </a:solidFill>
              <a:latin typeface="Poppins"/>
              <a:ea typeface="Poppins"/>
              <a:cs typeface="Poppins"/>
              <a:sym typeface="Poppins"/>
            </a:endParaRPr>
          </a:p>
        </p:txBody>
      </p:sp>
      <p:sp>
        <p:nvSpPr>
          <p:cNvPr id="536" name="Google Shape;536;p47"/>
          <p:cNvSpPr txBox="1"/>
          <p:nvPr/>
        </p:nvSpPr>
        <p:spPr>
          <a:xfrm>
            <a:off x="4623450" y="640325"/>
            <a:ext cx="4194300" cy="3741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900">
                <a:solidFill>
                  <a:schemeClr val="dk1"/>
                </a:solidFill>
                <a:latin typeface="Poppins"/>
                <a:ea typeface="Poppins"/>
                <a:cs typeface="Poppins"/>
                <a:sym typeface="Poppins"/>
              </a:rPr>
              <a:t>Résultat : </a:t>
            </a:r>
            <a:r>
              <a:rPr lang="fr" sz="900">
                <a:solidFill>
                  <a:schemeClr val="dk1"/>
                </a:solidFill>
                <a:latin typeface="Poppins"/>
                <a:ea typeface="Poppins"/>
                <a:cs typeface="Poppins"/>
                <a:sym typeface="Poppins"/>
              </a:rPr>
              <a:t>Poids réduit, Segmentation valide (-1%), Détection restaurée via Normalisation</a:t>
            </a:r>
            <a:r>
              <a:rPr b="1" lang="fr" sz="900">
                <a:solidFill>
                  <a:schemeClr val="dk1"/>
                </a:solidFill>
                <a:latin typeface="Poppins"/>
                <a:ea typeface="Poppins"/>
                <a:cs typeface="Poppins"/>
                <a:sym typeface="Poppins"/>
              </a:rPr>
              <a:t>.</a:t>
            </a:r>
            <a:endParaRPr sz="900">
              <a:solidFill>
                <a:schemeClr val="dk1"/>
              </a:solidFill>
              <a:latin typeface="Poppins"/>
              <a:ea typeface="Poppins"/>
              <a:cs typeface="Poppins"/>
              <a:sym typeface="Poppins"/>
            </a:endParaRPr>
          </a:p>
        </p:txBody>
      </p:sp>
      <p:graphicFrame>
        <p:nvGraphicFramePr>
          <p:cNvPr id="537" name="Google Shape;537;p47"/>
          <p:cNvGraphicFramePr/>
          <p:nvPr/>
        </p:nvGraphicFramePr>
        <p:xfrm>
          <a:off x="3288150" y="2816350"/>
          <a:ext cx="3000000" cy="3000000"/>
        </p:xfrm>
        <a:graphic>
          <a:graphicData uri="http://schemas.openxmlformats.org/drawingml/2006/table">
            <a:tbl>
              <a:tblPr>
                <a:noFill/>
                <a:tableStyleId>{F016ABE3-ACDB-41B1-A64A-B1E2F77EB6C7}</a:tableStyleId>
              </a:tblPr>
              <a:tblGrid>
                <a:gridCol w="580675"/>
                <a:gridCol w="754625"/>
              </a:tblGrid>
              <a:tr h="385100">
                <a:tc>
                  <a:txBody>
                    <a:bodyPr/>
                    <a:lstStyle/>
                    <a:p>
                      <a:pPr indent="0" lvl="0" marL="0" rtl="0" algn="ctr">
                        <a:lnSpc>
                          <a:spcPct val="40000"/>
                        </a:lnSpc>
                        <a:spcBef>
                          <a:spcPts val="0"/>
                        </a:spcBef>
                        <a:spcAft>
                          <a:spcPts val="0"/>
                        </a:spcAft>
                        <a:buNone/>
                      </a:pPr>
                      <a:r>
                        <a:rPr b="1" lang="fr" sz="1300">
                          <a:solidFill>
                            <a:schemeClr val="lt2"/>
                          </a:solidFill>
                        </a:rPr>
                        <a:t>FP32</a:t>
                      </a:r>
                      <a:endParaRPr b="1" sz="1300">
                        <a:solidFill>
                          <a:schemeClr val="lt2"/>
                        </a:solidFill>
                      </a:endParaRPr>
                    </a:p>
                  </a:txBody>
                  <a:tcPr marT="91425" marB="91425" marR="91425" marL="91425" anchor="ctr">
                    <a:solidFill>
                      <a:schemeClr val="accent2"/>
                    </a:solidFill>
                  </a:tcPr>
                </a:tc>
                <a:tc>
                  <a:txBody>
                    <a:bodyPr/>
                    <a:lstStyle/>
                    <a:p>
                      <a:pPr indent="0" lvl="0" marL="0" rtl="0" algn="ctr">
                        <a:lnSpc>
                          <a:spcPct val="40000"/>
                        </a:lnSpc>
                        <a:spcBef>
                          <a:spcPts val="0"/>
                        </a:spcBef>
                        <a:spcAft>
                          <a:spcPts val="0"/>
                        </a:spcAft>
                        <a:buNone/>
                      </a:pPr>
                      <a:r>
                        <a:rPr lang="fr" sz="1300"/>
                        <a:t>34.24 </a:t>
                      </a:r>
                      <a:r>
                        <a:rPr baseline="-25000" lang="fr" sz="1300"/>
                        <a:t>MB</a:t>
                      </a:r>
                      <a:endParaRPr baseline="-25000" sz="1300"/>
                    </a:p>
                  </a:txBody>
                  <a:tcPr marT="91425" marB="91425" marR="91425" marL="91425" anchor="ctr"/>
                </a:tc>
              </a:tr>
              <a:tr h="385100">
                <a:tc>
                  <a:txBody>
                    <a:bodyPr/>
                    <a:lstStyle/>
                    <a:p>
                      <a:pPr indent="0" lvl="0" marL="0" rtl="0" algn="ctr">
                        <a:lnSpc>
                          <a:spcPct val="40000"/>
                        </a:lnSpc>
                        <a:spcBef>
                          <a:spcPts val="0"/>
                        </a:spcBef>
                        <a:spcAft>
                          <a:spcPts val="0"/>
                        </a:spcAft>
                        <a:buNone/>
                      </a:pPr>
                      <a:r>
                        <a:rPr b="1" lang="fr" sz="1300">
                          <a:solidFill>
                            <a:schemeClr val="lt2"/>
                          </a:solidFill>
                        </a:rPr>
                        <a:t>INT8</a:t>
                      </a:r>
                      <a:endParaRPr b="1" sz="1300">
                        <a:solidFill>
                          <a:schemeClr val="lt2"/>
                        </a:solidFill>
                      </a:endParaRPr>
                    </a:p>
                  </a:txBody>
                  <a:tcPr marT="91425" marB="91425" marR="91425" marL="91425" anchor="ctr">
                    <a:solidFill>
                      <a:schemeClr val="accent2"/>
                    </a:solidFill>
                  </a:tcPr>
                </a:tc>
                <a:tc>
                  <a:txBody>
                    <a:bodyPr/>
                    <a:lstStyle/>
                    <a:p>
                      <a:pPr indent="0" lvl="0" marL="0" rtl="0" algn="ctr">
                        <a:lnSpc>
                          <a:spcPct val="40000"/>
                        </a:lnSpc>
                        <a:spcBef>
                          <a:spcPts val="0"/>
                        </a:spcBef>
                        <a:spcAft>
                          <a:spcPts val="0"/>
                        </a:spcAft>
                        <a:buNone/>
                      </a:pPr>
                      <a:r>
                        <a:rPr lang="fr" sz="1300"/>
                        <a:t>11.83 </a:t>
                      </a:r>
                      <a:r>
                        <a:rPr baseline="-25000" lang="fr" sz="1300"/>
                        <a:t>MB</a:t>
                      </a:r>
                      <a:endParaRPr baseline="-25000" sz="1300"/>
                    </a:p>
                  </a:txBody>
                  <a:tcPr marT="91425" marB="91425" marR="91425" marL="91425" anchor="ctr"/>
                </a:tc>
              </a:tr>
              <a:tr h="385100">
                <a:tc gridSpan="2">
                  <a:txBody>
                    <a:bodyPr/>
                    <a:lstStyle/>
                    <a:p>
                      <a:pPr indent="0" lvl="0" marL="0" rtl="0" algn="ctr">
                        <a:lnSpc>
                          <a:spcPct val="40000"/>
                        </a:lnSpc>
                        <a:spcBef>
                          <a:spcPts val="0"/>
                        </a:spcBef>
                        <a:spcAft>
                          <a:spcPts val="0"/>
                        </a:spcAft>
                        <a:buNone/>
                      </a:pPr>
                      <a:r>
                        <a:rPr lang="fr" sz="1300"/>
                        <a:t>2.89x</a:t>
                      </a:r>
                      <a:endParaRPr sz="1300"/>
                    </a:p>
                  </a:txBody>
                  <a:tcPr marT="91425" marB="91425" marR="91425" marL="91425" anchor="ctr"/>
                </a:tc>
                <a:tc hMerge="1"/>
              </a:tr>
            </a:tbl>
          </a:graphicData>
        </a:graphic>
      </p:graphicFrame>
      <p:sp>
        <p:nvSpPr>
          <p:cNvPr id="538" name="Google Shape;538;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48"/>
          <p:cNvSpPr/>
          <p:nvPr/>
        </p:nvSpPr>
        <p:spPr>
          <a:xfrm>
            <a:off x="0" y="0"/>
            <a:ext cx="3664800" cy="5064300"/>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45" name="Google Shape;545;p48"/>
          <p:cNvSpPr/>
          <p:nvPr/>
        </p:nvSpPr>
        <p:spPr>
          <a:xfrm>
            <a:off x="2478862" y="699637"/>
            <a:ext cx="439800" cy="430500"/>
          </a:xfrm>
          <a:prstGeom prst="rect">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46" name="Google Shape;546;p48"/>
          <p:cNvSpPr/>
          <p:nvPr/>
        </p:nvSpPr>
        <p:spPr>
          <a:xfrm>
            <a:off x="703500" y="4550211"/>
            <a:ext cx="466200" cy="466200"/>
          </a:xfrm>
          <a:prstGeom prst="ellipse">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47" name="Google Shape;547;p48"/>
          <p:cNvSpPr/>
          <p:nvPr/>
        </p:nvSpPr>
        <p:spPr>
          <a:xfrm>
            <a:off x="384121" y="737946"/>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48" name="Google Shape;548;p48"/>
          <p:cNvSpPr txBox="1"/>
          <p:nvPr/>
        </p:nvSpPr>
        <p:spPr>
          <a:xfrm>
            <a:off x="3664800" y="6700"/>
            <a:ext cx="5268000" cy="50643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None/>
            </a:pPr>
            <a:r>
              <a:rPr b="1" lang="fr" sz="1150">
                <a:solidFill>
                  <a:schemeClr val="dk1"/>
                </a:solidFill>
                <a:latin typeface="Poppins"/>
                <a:ea typeface="Poppins"/>
                <a:cs typeface="Poppins"/>
                <a:sym typeface="Poppins"/>
              </a:rPr>
              <a:t>Problème de l'approche aléatoire :</a:t>
            </a:r>
            <a:endParaRPr b="1" sz="1150">
              <a:solidFill>
                <a:schemeClr val="dk1"/>
              </a:solidFill>
              <a:latin typeface="Poppins"/>
              <a:ea typeface="Poppins"/>
              <a:cs typeface="Poppins"/>
              <a:sym typeface="Poppins"/>
            </a:endParaRPr>
          </a:p>
          <a:p>
            <a:pPr indent="-301625" lvl="0" marL="457200" rtl="0" algn="l">
              <a:lnSpc>
                <a:spcPct val="115000"/>
              </a:lnSpc>
              <a:spcBef>
                <a:spcPts val="120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Une sélection aléatoire (Random) favorise les images "moyennes".</a:t>
            </a:r>
            <a:endParaRPr sz="1150">
              <a:solidFill>
                <a:schemeClr val="dk1"/>
              </a:solidFill>
              <a:latin typeface="Poppins"/>
              <a:ea typeface="Poppins"/>
              <a:cs typeface="Poppins"/>
              <a:sym typeface="Poppins"/>
            </a:endParaRPr>
          </a:p>
          <a:p>
            <a:pPr indent="-301625" lvl="0" marL="457200" rtl="0" algn="l">
              <a:lnSpc>
                <a:spcPct val="115000"/>
              </a:lnSpc>
              <a:spcBef>
                <a:spcPts val="0"/>
              </a:spcBef>
              <a:spcAft>
                <a:spcPts val="0"/>
              </a:spcAft>
              <a:buClr>
                <a:schemeClr val="dk1"/>
              </a:buClr>
              <a:buSzPts val="1150"/>
              <a:buChar char="●"/>
            </a:pPr>
            <a:r>
              <a:rPr lang="fr" sz="1150">
                <a:solidFill>
                  <a:schemeClr val="dk1"/>
                </a:solidFill>
                <a:latin typeface="Poppins"/>
                <a:ea typeface="Poppins"/>
                <a:cs typeface="Poppins"/>
                <a:sym typeface="Poppins"/>
              </a:rPr>
              <a:t>Risque de rater les valeurs extrêmes (activations max/min), entraînant du </a:t>
            </a:r>
            <a:r>
              <a:rPr b="1" lang="fr" sz="1150">
                <a:solidFill>
                  <a:schemeClr val="dk1"/>
                </a:solidFill>
                <a:latin typeface="Poppins"/>
                <a:ea typeface="Poppins"/>
                <a:cs typeface="Poppins"/>
                <a:sym typeface="Poppins"/>
              </a:rPr>
              <a:t>clipping</a:t>
            </a:r>
            <a:r>
              <a:rPr lang="fr" sz="1150">
                <a:solidFill>
                  <a:schemeClr val="dk1"/>
                </a:solidFill>
                <a:latin typeface="Poppins"/>
                <a:ea typeface="Poppins"/>
                <a:cs typeface="Poppins"/>
                <a:sym typeface="Poppins"/>
              </a:rPr>
              <a:t> sévère lors de la quantification.</a:t>
            </a:r>
            <a:endParaRPr sz="115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fr" sz="1150">
                <a:solidFill>
                  <a:schemeClr val="dk1"/>
                </a:solidFill>
                <a:latin typeface="Poppins"/>
                <a:ea typeface="Poppins"/>
                <a:cs typeface="Poppins"/>
                <a:sym typeface="Poppins"/>
              </a:rPr>
              <a:t>Notre Solution : Le "Set parfait" (50 images)</a:t>
            </a:r>
            <a:endParaRPr b="1" sz="1150">
              <a:solidFill>
                <a:schemeClr val="dk1"/>
              </a:solidFill>
              <a:latin typeface="Poppins"/>
              <a:ea typeface="Poppins"/>
              <a:cs typeface="Poppins"/>
              <a:sym typeface="Poppins"/>
            </a:endParaRPr>
          </a:p>
          <a:p>
            <a:pPr indent="-301625" lvl="0" marL="457200" rtl="0" algn="l">
              <a:lnSpc>
                <a:spcPct val="115000"/>
              </a:lnSpc>
              <a:spcBef>
                <a:spcPts val="120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Algorithme de sélection basé sur des heuristiques pour maximiser la couverture des cas limites :</a:t>
            </a:r>
            <a:endParaRPr sz="1150">
              <a:solidFill>
                <a:schemeClr val="dk1"/>
              </a:solidFill>
              <a:latin typeface="Poppins"/>
              <a:ea typeface="Poppins"/>
              <a:cs typeface="Poppins"/>
              <a:sym typeface="Poppins"/>
            </a:endParaRPr>
          </a:p>
          <a:p>
            <a:pPr indent="-301625" lvl="1" marL="914400" rtl="0" algn="l">
              <a:lnSpc>
                <a:spcPct val="115000"/>
              </a:lnSpc>
              <a:spcBef>
                <a:spcPts val="0"/>
              </a:spcBef>
              <a:spcAft>
                <a:spcPts val="0"/>
              </a:spcAft>
              <a:buClr>
                <a:schemeClr val="dk1"/>
              </a:buClr>
              <a:buSzPts val="1150"/>
              <a:buChar char="○"/>
            </a:pPr>
            <a:r>
              <a:rPr b="1" lang="fr" sz="1150">
                <a:solidFill>
                  <a:schemeClr val="dk1"/>
                </a:solidFill>
                <a:latin typeface="Poppins"/>
                <a:ea typeface="Poppins"/>
                <a:cs typeface="Poppins"/>
                <a:sym typeface="Poppins"/>
              </a:rPr>
              <a:t>12 images Extrêmes Luminosité</a:t>
            </a:r>
            <a:r>
              <a:rPr lang="fr" sz="1150">
                <a:solidFill>
                  <a:schemeClr val="dk1"/>
                </a:solidFill>
                <a:latin typeface="Poppins"/>
                <a:ea typeface="Poppins"/>
                <a:cs typeface="Poppins"/>
                <a:sym typeface="Poppins"/>
              </a:rPr>
              <a:t> (6 Sombres / 6 Claires) → Test des couches d'entrée/BN.</a:t>
            </a:r>
            <a:endParaRPr sz="1150">
              <a:solidFill>
                <a:schemeClr val="dk1"/>
              </a:solidFill>
              <a:latin typeface="Poppins"/>
              <a:ea typeface="Poppins"/>
              <a:cs typeface="Poppins"/>
              <a:sym typeface="Poppins"/>
            </a:endParaRPr>
          </a:p>
          <a:p>
            <a:pPr indent="-301625" lvl="1" marL="914400" rtl="0" algn="l">
              <a:lnSpc>
                <a:spcPct val="115000"/>
              </a:lnSpc>
              <a:spcBef>
                <a:spcPts val="0"/>
              </a:spcBef>
              <a:spcAft>
                <a:spcPts val="0"/>
              </a:spcAft>
              <a:buClr>
                <a:schemeClr val="dk1"/>
              </a:buClr>
              <a:buSzPts val="1150"/>
              <a:buChar char="○"/>
            </a:pPr>
            <a:r>
              <a:rPr b="1" lang="fr" sz="1150">
                <a:solidFill>
                  <a:schemeClr val="dk1"/>
                </a:solidFill>
                <a:latin typeface="Poppins"/>
                <a:ea typeface="Poppins"/>
                <a:cs typeface="Poppins"/>
                <a:sym typeface="Poppins"/>
              </a:rPr>
              <a:t>12 images "Saturées" en Objets</a:t>
            </a:r>
            <a:r>
              <a:rPr lang="fr" sz="1150">
                <a:solidFill>
                  <a:schemeClr val="dk1"/>
                </a:solidFill>
                <a:latin typeface="Poppins"/>
                <a:ea typeface="Poppins"/>
                <a:cs typeface="Poppins"/>
                <a:sym typeface="Poppins"/>
              </a:rPr>
              <a:t> → Stress test des têtes de détection (Max coordonnées).</a:t>
            </a:r>
            <a:endParaRPr sz="1150">
              <a:solidFill>
                <a:schemeClr val="dk1"/>
              </a:solidFill>
              <a:latin typeface="Poppins"/>
              <a:ea typeface="Poppins"/>
              <a:cs typeface="Poppins"/>
              <a:sym typeface="Poppins"/>
            </a:endParaRPr>
          </a:p>
          <a:p>
            <a:pPr indent="-301625" lvl="1" marL="914400" rtl="0" algn="l">
              <a:lnSpc>
                <a:spcPct val="115000"/>
              </a:lnSpc>
              <a:spcBef>
                <a:spcPts val="0"/>
              </a:spcBef>
              <a:spcAft>
                <a:spcPts val="0"/>
              </a:spcAft>
              <a:buClr>
                <a:schemeClr val="dk1"/>
              </a:buClr>
              <a:buSzPts val="1150"/>
              <a:buChar char="○"/>
            </a:pPr>
            <a:r>
              <a:rPr b="1" lang="fr" sz="1150">
                <a:solidFill>
                  <a:schemeClr val="dk1"/>
                </a:solidFill>
                <a:latin typeface="Poppins"/>
                <a:ea typeface="Poppins"/>
                <a:cs typeface="Poppins"/>
                <a:sym typeface="Poppins"/>
              </a:rPr>
              <a:t>12 images "Géométrie Complexe"</a:t>
            </a:r>
            <a:r>
              <a:rPr lang="fr" sz="1150">
                <a:solidFill>
                  <a:schemeClr val="dk1"/>
                </a:solidFill>
                <a:latin typeface="Poppins"/>
                <a:ea typeface="Poppins"/>
                <a:cs typeface="Poppins"/>
                <a:sym typeface="Poppins"/>
              </a:rPr>
              <a:t> (Max Route/Lignes) → Calibration des têtes de segmentation.</a:t>
            </a:r>
            <a:endParaRPr sz="1150">
              <a:solidFill>
                <a:schemeClr val="dk1"/>
              </a:solidFill>
              <a:latin typeface="Poppins"/>
              <a:ea typeface="Poppins"/>
              <a:cs typeface="Poppins"/>
              <a:sym typeface="Poppins"/>
            </a:endParaRPr>
          </a:p>
          <a:p>
            <a:pPr indent="-301625" lvl="1" marL="914400" rtl="0" algn="l">
              <a:lnSpc>
                <a:spcPct val="115000"/>
              </a:lnSpc>
              <a:spcBef>
                <a:spcPts val="0"/>
              </a:spcBef>
              <a:spcAft>
                <a:spcPts val="0"/>
              </a:spcAft>
              <a:buClr>
                <a:schemeClr val="dk1"/>
              </a:buClr>
              <a:buSzPts val="1150"/>
              <a:buChar char="○"/>
            </a:pPr>
            <a:r>
              <a:rPr b="1" lang="fr" sz="1150">
                <a:solidFill>
                  <a:schemeClr val="dk1"/>
                </a:solidFill>
                <a:latin typeface="Poppins"/>
                <a:ea typeface="Poppins"/>
                <a:cs typeface="Poppins"/>
                <a:sym typeface="Poppins"/>
              </a:rPr>
              <a:t>14 images Aléatoires</a:t>
            </a:r>
            <a:r>
              <a:rPr lang="fr" sz="1150">
                <a:solidFill>
                  <a:schemeClr val="dk1"/>
                </a:solidFill>
                <a:latin typeface="Poppins"/>
                <a:ea typeface="Poppins"/>
                <a:cs typeface="Poppins"/>
                <a:sym typeface="Poppins"/>
              </a:rPr>
              <a:t> → Maintien de la représentativité globale.</a:t>
            </a:r>
            <a:endParaRPr sz="115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fr" sz="1150">
                <a:solidFill>
                  <a:schemeClr val="dk1"/>
                </a:solidFill>
                <a:latin typeface="Poppins"/>
                <a:ea typeface="Poppins"/>
                <a:cs typeface="Poppins"/>
                <a:sym typeface="Poppins"/>
              </a:rPr>
              <a:t>Impact Technique :</a:t>
            </a:r>
            <a:endParaRPr b="1" sz="1150">
              <a:solidFill>
                <a:schemeClr val="dk1"/>
              </a:solidFill>
              <a:latin typeface="Poppins"/>
              <a:ea typeface="Poppins"/>
              <a:cs typeface="Poppins"/>
              <a:sym typeface="Poppins"/>
            </a:endParaRPr>
          </a:p>
          <a:p>
            <a:pPr indent="-301625" lvl="0" marL="457200" rtl="0" algn="l">
              <a:lnSpc>
                <a:spcPct val="115000"/>
              </a:lnSpc>
              <a:spcBef>
                <a:spcPts val="120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Meilleure définition des seuils de quantification (Scale/Zero-point).</a:t>
            </a:r>
            <a:endParaRPr sz="1150">
              <a:solidFill>
                <a:schemeClr val="dk1"/>
              </a:solidFill>
              <a:latin typeface="Poppins"/>
              <a:ea typeface="Poppins"/>
              <a:cs typeface="Poppins"/>
              <a:sym typeface="Poppins"/>
            </a:endParaRPr>
          </a:p>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Réduction de la perte de précision (mAP/IoU) sur les scénarios difficiles.</a:t>
            </a:r>
            <a:endParaRPr b="1" sz="1150">
              <a:solidFill>
                <a:schemeClr val="dk1"/>
              </a:solidFill>
              <a:latin typeface="Poppins"/>
              <a:ea typeface="Poppins"/>
              <a:cs typeface="Poppins"/>
              <a:sym typeface="Poppins"/>
            </a:endParaRPr>
          </a:p>
        </p:txBody>
      </p:sp>
      <p:sp>
        <p:nvSpPr>
          <p:cNvPr id="549" name="Google Shape;549;p48"/>
          <p:cNvSpPr/>
          <p:nvPr/>
        </p:nvSpPr>
        <p:spPr>
          <a:xfrm>
            <a:off x="8148156" y="313713"/>
            <a:ext cx="170700" cy="170700"/>
          </a:xfrm>
          <a:prstGeom prst="ellipse">
            <a:avLst/>
          </a:prstGeom>
          <a:solidFill>
            <a:srgbClr val="DC943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50" name="Google Shape;550;p48"/>
          <p:cNvSpPr/>
          <p:nvPr/>
        </p:nvSpPr>
        <p:spPr>
          <a:xfrm>
            <a:off x="8430187" y="-400151"/>
            <a:ext cx="502500" cy="502500"/>
          </a:xfrm>
          <a:prstGeom prst="ellipse">
            <a:avLst/>
          </a:prstGeom>
          <a:noFill/>
          <a:ln cap="flat" cmpd="sng" w="57150">
            <a:solidFill>
              <a:srgbClr val="D2565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51" name="Google Shape;551;p48"/>
          <p:cNvSpPr txBox="1"/>
          <p:nvPr/>
        </p:nvSpPr>
        <p:spPr>
          <a:xfrm>
            <a:off x="298325" y="102350"/>
            <a:ext cx="3413700" cy="762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Stratégie de Calibration :</a:t>
            </a:r>
            <a:br>
              <a:rPr b="1" lang="fr" sz="1700">
                <a:latin typeface="Poppins SemiBold"/>
                <a:ea typeface="Poppins SemiBold"/>
                <a:cs typeface="Poppins SemiBold"/>
                <a:sym typeface="Poppins SemiBold"/>
              </a:rPr>
            </a:br>
            <a:r>
              <a:rPr b="1" i="1" lang="fr" sz="1700">
                <a:latin typeface="Poppins SemiBold"/>
                <a:ea typeface="Poppins SemiBold"/>
                <a:cs typeface="Poppins SemiBold"/>
                <a:sym typeface="Poppins SemiBold"/>
              </a:rPr>
              <a:t>Dataset de </a:t>
            </a:r>
            <a:r>
              <a:rPr b="1" i="1" lang="fr" sz="1700">
                <a:solidFill>
                  <a:schemeClr val="dk1"/>
                </a:solidFill>
                <a:latin typeface="Poppins SemiBold"/>
                <a:ea typeface="Poppins SemiBold"/>
                <a:cs typeface="Poppins SemiBold"/>
                <a:sym typeface="Poppins SemiBold"/>
              </a:rPr>
              <a:t>Calibration</a:t>
            </a:r>
            <a:r>
              <a:rPr b="1" i="1" lang="fr" sz="1700">
                <a:latin typeface="Poppins SemiBold"/>
                <a:ea typeface="Poppins SemiBold"/>
                <a:cs typeface="Poppins SemiBold"/>
                <a:sym typeface="Poppins SemiBold"/>
              </a:rPr>
              <a:t> </a:t>
            </a:r>
            <a:br>
              <a:rPr b="1" lang="fr" sz="1700">
                <a:latin typeface="Poppins SemiBold"/>
                <a:ea typeface="Poppins SemiBold"/>
                <a:cs typeface="Poppins SemiBold"/>
                <a:sym typeface="Poppins SemiBold"/>
              </a:rPr>
            </a:br>
            <a:endParaRPr sz="1100"/>
          </a:p>
        </p:txBody>
      </p:sp>
      <p:pic>
        <p:nvPicPr>
          <p:cNvPr id="552" name="Google Shape;552;p48"/>
          <p:cNvPicPr preferRelativeResize="0"/>
          <p:nvPr/>
        </p:nvPicPr>
        <p:blipFill>
          <a:blip r:embed="rId3">
            <a:alphaModFix/>
          </a:blip>
          <a:stretch>
            <a:fillRect/>
          </a:stretch>
        </p:blipFill>
        <p:spPr>
          <a:xfrm>
            <a:off x="879100" y="828050"/>
            <a:ext cx="1906500" cy="4043400"/>
          </a:xfrm>
          <a:prstGeom prst="round2DiagRect">
            <a:avLst>
              <a:gd fmla="val 16667" name="adj1"/>
              <a:gd fmla="val 0" name="adj2"/>
            </a:avLst>
          </a:prstGeom>
          <a:solidFill>
            <a:srgbClr val="EEF1F3"/>
          </a:solidFill>
          <a:ln cap="flat" cmpd="sng" w="28575">
            <a:solidFill>
              <a:schemeClr val="accent1"/>
            </a:solidFill>
            <a:prstDash val="solid"/>
            <a:round/>
            <a:headEnd len="sm" w="sm" type="none"/>
            <a:tailEnd len="sm" w="sm" type="none"/>
          </a:ln>
        </p:spPr>
      </p:pic>
      <p:sp>
        <p:nvSpPr>
          <p:cNvPr id="553" name="Google Shape;553;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49"/>
          <p:cNvSpPr/>
          <p:nvPr/>
        </p:nvSpPr>
        <p:spPr>
          <a:xfrm>
            <a:off x="8392850" y="891267"/>
            <a:ext cx="561900" cy="550200"/>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60" name="Google Shape;560;p49"/>
          <p:cNvSpPr/>
          <p:nvPr/>
        </p:nvSpPr>
        <p:spPr>
          <a:xfrm>
            <a:off x="133650" y="2420879"/>
            <a:ext cx="541200" cy="541200"/>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561" name="Google Shape;561;p49"/>
          <p:cNvPicPr preferRelativeResize="0"/>
          <p:nvPr/>
        </p:nvPicPr>
        <p:blipFill rotWithShape="1">
          <a:blip r:embed="rId3">
            <a:alphaModFix/>
          </a:blip>
          <a:srcRect b="0" l="0" r="0" t="0"/>
          <a:stretch/>
        </p:blipFill>
        <p:spPr>
          <a:xfrm rot="-2841092">
            <a:off x="6066209" y="-1013752"/>
            <a:ext cx="2650733" cy="1552380"/>
          </a:xfrm>
          <a:prstGeom prst="rect">
            <a:avLst/>
          </a:prstGeom>
          <a:noFill/>
          <a:ln>
            <a:noFill/>
          </a:ln>
        </p:spPr>
      </p:pic>
      <p:sp>
        <p:nvSpPr>
          <p:cNvPr id="562" name="Google Shape;562;p49"/>
          <p:cNvSpPr txBox="1"/>
          <p:nvPr/>
        </p:nvSpPr>
        <p:spPr>
          <a:xfrm>
            <a:off x="4623450" y="2765550"/>
            <a:ext cx="4422300" cy="22704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None/>
            </a:pPr>
            <a:r>
              <a:rPr b="1" lang="fr" sz="1100">
                <a:solidFill>
                  <a:schemeClr val="dk1"/>
                </a:solidFill>
                <a:latin typeface="Poppins"/>
                <a:ea typeface="Poppins"/>
                <a:cs typeface="Poppins"/>
                <a:sym typeface="Poppins"/>
              </a:rPr>
              <a:t>Analyse :</a:t>
            </a:r>
            <a:r>
              <a:rPr lang="fr" sz="1100">
                <a:solidFill>
                  <a:schemeClr val="dk1"/>
                </a:solidFill>
                <a:latin typeface="Poppins"/>
                <a:ea typeface="Poppins"/>
                <a:cs typeface="Poppins"/>
                <a:sym typeface="Poppins"/>
              </a:rPr>
              <a:t> </a:t>
            </a:r>
            <a:endParaRPr sz="1100">
              <a:solidFill>
                <a:schemeClr val="dk1"/>
              </a:solidFill>
              <a:latin typeface="Poppins"/>
              <a:ea typeface="Poppins"/>
              <a:cs typeface="Poppins"/>
              <a:sym typeface="Poppins"/>
            </a:endParaRPr>
          </a:p>
          <a:p>
            <a:pPr indent="0" lvl="0" marL="0" rtl="0" algn="l">
              <a:spcBef>
                <a:spcPts val="0"/>
              </a:spcBef>
              <a:spcAft>
                <a:spcPts val="0"/>
              </a:spcAft>
              <a:buNone/>
            </a:pPr>
            <a:r>
              <a:rPr lang="fr" sz="1100">
                <a:solidFill>
                  <a:schemeClr val="dk1"/>
                </a:solidFill>
                <a:latin typeface="Poppins"/>
                <a:ea typeface="Poppins"/>
                <a:cs typeface="Poppins"/>
                <a:sym typeface="Poppins"/>
              </a:rPr>
              <a:t>Les améliorations de précision sont </a:t>
            </a:r>
            <a:r>
              <a:rPr b="1" lang="fr" sz="1100">
                <a:solidFill>
                  <a:schemeClr val="dk1"/>
                </a:solidFill>
                <a:latin typeface="Poppins"/>
                <a:ea typeface="Poppins"/>
                <a:cs typeface="Poppins"/>
                <a:sym typeface="Poppins"/>
              </a:rPr>
              <a:t>minimales</a:t>
            </a:r>
            <a:r>
              <a:rPr lang="fr" sz="1100">
                <a:solidFill>
                  <a:schemeClr val="dk1"/>
                </a:solidFill>
                <a:latin typeface="Poppins"/>
                <a:ea typeface="Poppins"/>
                <a:cs typeface="Poppins"/>
                <a:sym typeface="Poppins"/>
              </a:rPr>
              <a:t>. Le traitement spécifique des couches sensibles n'a pas permis de restaurer les 14% de mAP manquants.</a:t>
            </a:r>
            <a:endParaRPr sz="11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oppins"/>
              <a:ea typeface="Poppins"/>
              <a:cs typeface="Poppins"/>
              <a:sym typeface="Poppins"/>
            </a:endParaRPr>
          </a:p>
          <a:p>
            <a:pPr indent="0" lvl="0" marL="0" rtl="0" algn="l">
              <a:spcBef>
                <a:spcPts val="0"/>
              </a:spcBef>
              <a:spcAft>
                <a:spcPts val="0"/>
              </a:spcAft>
              <a:buNone/>
            </a:pPr>
            <a:r>
              <a:rPr b="1" lang="fr" sz="1100">
                <a:solidFill>
                  <a:schemeClr val="dk1"/>
                </a:solidFill>
                <a:latin typeface="Poppins"/>
                <a:ea typeface="Poppins"/>
                <a:cs typeface="Poppins"/>
                <a:sym typeface="Poppins"/>
              </a:rPr>
              <a:t>Conclusion Critique :</a:t>
            </a:r>
            <a:r>
              <a:rPr lang="fr" sz="1100">
                <a:solidFill>
                  <a:schemeClr val="dk1"/>
                </a:solidFill>
                <a:latin typeface="Poppins"/>
                <a:ea typeface="Poppins"/>
                <a:cs typeface="Poppins"/>
                <a:sym typeface="Poppins"/>
              </a:rPr>
              <a:t> </a:t>
            </a:r>
            <a:endParaRPr sz="1100">
              <a:solidFill>
                <a:schemeClr val="dk1"/>
              </a:solidFill>
              <a:latin typeface="Poppins"/>
              <a:ea typeface="Poppins"/>
              <a:cs typeface="Poppins"/>
              <a:sym typeface="Poppins"/>
            </a:endParaRPr>
          </a:p>
          <a:p>
            <a:pPr indent="0" lvl="0" marL="0" rtl="0" algn="l">
              <a:spcBef>
                <a:spcPts val="0"/>
              </a:spcBef>
              <a:spcAft>
                <a:spcPts val="0"/>
              </a:spcAft>
              <a:buNone/>
            </a:pPr>
            <a:r>
              <a:rPr lang="fr" sz="1100">
                <a:solidFill>
                  <a:schemeClr val="dk1"/>
                </a:solidFill>
                <a:latin typeface="Poppins"/>
                <a:ea typeface="Poppins"/>
                <a:cs typeface="Poppins"/>
                <a:sym typeface="Poppins"/>
              </a:rPr>
              <a:t>La dégradation majeure de la détection ne provient pas des nœuds "résistants" ou du mode de quantification.</a:t>
            </a:r>
            <a:endParaRPr sz="11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oppins"/>
              <a:ea typeface="Poppins"/>
              <a:cs typeface="Poppins"/>
              <a:sym typeface="Poppins"/>
            </a:endParaRPr>
          </a:p>
          <a:p>
            <a:pPr indent="0" lvl="0" marL="0" rtl="0" algn="l">
              <a:spcBef>
                <a:spcPts val="0"/>
              </a:spcBef>
              <a:spcAft>
                <a:spcPts val="0"/>
              </a:spcAft>
              <a:buNone/>
            </a:pPr>
            <a:r>
              <a:rPr b="1" lang="fr" sz="1100">
                <a:solidFill>
                  <a:schemeClr val="dk1"/>
                </a:solidFill>
                <a:latin typeface="Poppins"/>
                <a:ea typeface="Poppins"/>
                <a:cs typeface="Poppins"/>
                <a:sym typeface="Poppins"/>
              </a:rPr>
              <a:t>Diagnostic final :</a:t>
            </a:r>
            <a:r>
              <a:rPr lang="fr" sz="1100">
                <a:solidFill>
                  <a:schemeClr val="dk1"/>
                </a:solidFill>
                <a:latin typeface="Poppins"/>
                <a:ea typeface="Poppins"/>
                <a:cs typeface="Poppins"/>
                <a:sym typeface="Poppins"/>
              </a:rPr>
              <a:t> </a:t>
            </a:r>
            <a:endParaRPr sz="11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fr" sz="1100">
                <a:solidFill>
                  <a:schemeClr val="dk1"/>
                </a:solidFill>
                <a:latin typeface="Poppins"/>
                <a:ea typeface="Poppins"/>
                <a:cs typeface="Poppins"/>
                <a:sym typeface="Poppins"/>
              </a:rPr>
              <a:t>Le souci se trouve ailleurs, indiquant une limite intrinsèque de la calibration INT8 sur cette architecture spécifique (probablement la dynamique des têtes de détection).</a:t>
            </a:r>
            <a:endParaRPr sz="1100">
              <a:solidFill>
                <a:schemeClr val="dk1"/>
              </a:solidFill>
              <a:latin typeface="Poppins"/>
              <a:ea typeface="Poppins"/>
              <a:cs typeface="Poppins"/>
              <a:sym typeface="Poppins"/>
            </a:endParaRPr>
          </a:p>
        </p:txBody>
      </p:sp>
      <p:sp>
        <p:nvSpPr>
          <p:cNvPr id="563" name="Google Shape;563;p49"/>
          <p:cNvSpPr/>
          <p:nvPr/>
        </p:nvSpPr>
        <p:spPr>
          <a:xfrm>
            <a:off x="700871" y="602229"/>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graphicFrame>
        <p:nvGraphicFramePr>
          <p:cNvPr id="564" name="Google Shape;564;p49"/>
          <p:cNvGraphicFramePr/>
          <p:nvPr/>
        </p:nvGraphicFramePr>
        <p:xfrm>
          <a:off x="133643" y="2940252"/>
          <a:ext cx="3000000" cy="3000000"/>
        </p:xfrm>
        <a:graphic>
          <a:graphicData uri="http://schemas.openxmlformats.org/drawingml/2006/table">
            <a:tbl>
              <a:tblPr>
                <a:noFill/>
                <a:tableStyleId>{F016ABE3-ACDB-41B1-A64A-B1E2F77EB6C7}</a:tableStyleId>
              </a:tblPr>
              <a:tblGrid>
                <a:gridCol w="1014075"/>
                <a:gridCol w="1014075"/>
                <a:gridCol w="1014075"/>
              </a:tblGrid>
              <a:tr h="297150">
                <a:tc gridSpan="3">
                  <a:txBody>
                    <a:bodyPr/>
                    <a:lstStyle/>
                    <a:p>
                      <a:pPr indent="0" lvl="0" marL="0" rtl="0" algn="ctr">
                        <a:lnSpc>
                          <a:spcPct val="50000"/>
                        </a:lnSpc>
                        <a:spcBef>
                          <a:spcPts val="0"/>
                        </a:spcBef>
                        <a:spcAft>
                          <a:spcPts val="0"/>
                        </a:spcAft>
                        <a:buNone/>
                      </a:pPr>
                      <a:r>
                        <a:rPr b="1" lang="fr" sz="1200">
                          <a:solidFill>
                            <a:schemeClr val="lt2"/>
                          </a:solidFill>
                        </a:rPr>
                        <a:t>Traffic Object Detection Result</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hMerge="1"/>
                <a:tc hMerge="1"/>
              </a:tr>
              <a:tr h="297150">
                <a:tc>
                  <a:txBody>
                    <a:bodyPr/>
                    <a:lstStyle/>
                    <a:p>
                      <a:pPr indent="0" lvl="0" marL="0" rtl="0" algn="ctr">
                        <a:lnSpc>
                          <a:spcPct val="50000"/>
                        </a:lnSpc>
                        <a:spcBef>
                          <a:spcPts val="0"/>
                        </a:spcBef>
                        <a:spcAft>
                          <a:spcPts val="0"/>
                        </a:spcAft>
                        <a:buNone/>
                      </a:pPr>
                      <a:r>
                        <a:rPr b="1" lang="fr" sz="1200">
                          <a:solidFill>
                            <a:schemeClr val="lt2"/>
                          </a:solidFill>
                        </a:rPr>
                        <a:t>Recall(%)</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rtl="0" algn="ctr">
                        <a:lnSpc>
                          <a:spcPct val="50000"/>
                        </a:lnSpc>
                        <a:spcBef>
                          <a:spcPts val="0"/>
                        </a:spcBef>
                        <a:spcAft>
                          <a:spcPts val="0"/>
                        </a:spcAft>
                        <a:buNone/>
                      </a:pPr>
                      <a:r>
                        <a:rPr b="1" lang="fr" sz="1200">
                          <a:solidFill>
                            <a:schemeClr val="lt2"/>
                          </a:solidFill>
                        </a:rPr>
                        <a:t>mAP50(%)</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c>
                  <a:txBody>
                    <a:bodyPr/>
                    <a:lstStyle/>
                    <a:p>
                      <a:pPr indent="0" lvl="0" marL="0" rtl="0" algn="ctr">
                        <a:lnSpc>
                          <a:spcPct val="50000"/>
                        </a:lnSpc>
                        <a:spcBef>
                          <a:spcPts val="0"/>
                        </a:spcBef>
                        <a:spcAft>
                          <a:spcPts val="0"/>
                        </a:spcAft>
                        <a:buNone/>
                      </a:pPr>
                      <a:r>
                        <a:rPr b="1" lang="fr" sz="1200">
                          <a:solidFill>
                            <a:schemeClr val="lt2"/>
                          </a:solidFill>
                        </a:rPr>
                        <a:t>Speed(fps)</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dk2"/>
                    </a:solidFill>
                  </a:tcPr>
                </a:tc>
              </a:tr>
              <a:tr h="297150">
                <a:tc>
                  <a:txBody>
                    <a:bodyPr/>
                    <a:lstStyle/>
                    <a:p>
                      <a:pPr indent="0" lvl="0" marL="0" rtl="0" algn="ctr">
                        <a:lnSpc>
                          <a:spcPct val="50000"/>
                        </a:lnSpc>
                        <a:spcBef>
                          <a:spcPts val="0"/>
                        </a:spcBef>
                        <a:spcAft>
                          <a:spcPts val="0"/>
                        </a:spcAft>
                        <a:buNone/>
                      </a:pPr>
                      <a:r>
                        <a:rPr lang="fr" sz="1200">
                          <a:solidFill>
                            <a:schemeClr val="dk1"/>
                          </a:solidFill>
                        </a:rPr>
                        <a:t>85.28</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58.65</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50</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graphicFrame>
        <p:nvGraphicFramePr>
          <p:cNvPr id="565" name="Google Shape;565;p49"/>
          <p:cNvGraphicFramePr/>
          <p:nvPr/>
        </p:nvGraphicFramePr>
        <p:xfrm>
          <a:off x="526706" y="3971687"/>
          <a:ext cx="3000000" cy="3000000"/>
        </p:xfrm>
        <a:graphic>
          <a:graphicData uri="http://schemas.openxmlformats.org/drawingml/2006/table">
            <a:tbl>
              <a:tblPr>
                <a:noFill/>
                <a:tableStyleId>{F016ABE3-ACDB-41B1-A64A-B1E2F77EB6C7}</a:tableStyleId>
              </a:tblPr>
              <a:tblGrid>
                <a:gridCol w="1014075"/>
                <a:gridCol w="1014075"/>
              </a:tblGrid>
              <a:tr h="297150">
                <a:tc gridSpan="2">
                  <a:txBody>
                    <a:bodyPr/>
                    <a:lstStyle/>
                    <a:p>
                      <a:pPr indent="0" lvl="0" marL="0" rtl="0" algn="ctr">
                        <a:lnSpc>
                          <a:spcPct val="50000"/>
                        </a:lnSpc>
                        <a:spcBef>
                          <a:spcPts val="0"/>
                        </a:spcBef>
                        <a:spcAft>
                          <a:spcPts val="0"/>
                        </a:spcAft>
                        <a:buNone/>
                      </a:pPr>
                      <a:r>
                        <a:rPr b="1" lang="fr" sz="1200">
                          <a:solidFill>
                            <a:schemeClr val="lt2"/>
                          </a:solidFill>
                        </a:rPr>
                        <a:t>Drivable Area Segmentation</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c hMerge="1"/>
              </a:tr>
              <a:tr h="297150">
                <a:tc>
                  <a:txBody>
                    <a:bodyPr/>
                    <a:lstStyle/>
                    <a:p>
                      <a:pPr indent="0" lvl="0" marL="0" rtl="0" algn="ctr">
                        <a:lnSpc>
                          <a:spcPct val="50000"/>
                        </a:lnSpc>
                        <a:spcBef>
                          <a:spcPts val="0"/>
                        </a:spcBef>
                        <a:spcAft>
                          <a:spcPts val="0"/>
                        </a:spcAft>
                        <a:buNone/>
                      </a:pPr>
                      <a:r>
                        <a:rPr b="1" lang="fr" sz="1200">
                          <a:solidFill>
                            <a:schemeClr val="lt2"/>
                          </a:solidFill>
                        </a:rPr>
                        <a:t>mIOU(%)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c>
                  <a:txBody>
                    <a:bodyPr/>
                    <a:lstStyle/>
                    <a:p>
                      <a:pPr indent="0" lvl="0" marL="0" rtl="0" algn="ctr">
                        <a:lnSpc>
                          <a:spcPct val="50000"/>
                        </a:lnSpc>
                        <a:spcBef>
                          <a:spcPts val="0"/>
                        </a:spcBef>
                        <a:spcAft>
                          <a:spcPts val="0"/>
                        </a:spcAft>
                        <a:buNone/>
                      </a:pPr>
                      <a:r>
                        <a:rPr b="1" lang="fr" sz="1200">
                          <a:solidFill>
                            <a:schemeClr val="lt2"/>
                          </a:solidFill>
                        </a:rPr>
                        <a:t>Speed(fps)</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4"/>
                    </a:solidFill>
                  </a:tcPr>
                </a:tc>
              </a:tr>
              <a:tr h="297150">
                <a:tc>
                  <a:txBody>
                    <a:bodyPr/>
                    <a:lstStyle/>
                    <a:p>
                      <a:pPr indent="0" lvl="0" marL="0" rtl="0" algn="ctr">
                        <a:lnSpc>
                          <a:spcPct val="50000"/>
                        </a:lnSpc>
                        <a:spcBef>
                          <a:spcPts val="0"/>
                        </a:spcBef>
                        <a:spcAft>
                          <a:spcPts val="0"/>
                        </a:spcAft>
                        <a:buNone/>
                      </a:pPr>
                      <a:r>
                        <a:rPr lang="fr" sz="1200">
                          <a:solidFill>
                            <a:schemeClr val="dk1"/>
                          </a:solidFill>
                        </a:rPr>
                        <a:t>91.2</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50</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graphicFrame>
        <p:nvGraphicFramePr>
          <p:cNvPr id="566" name="Google Shape;566;p49"/>
          <p:cNvGraphicFramePr/>
          <p:nvPr/>
        </p:nvGraphicFramePr>
        <p:xfrm>
          <a:off x="2595306" y="4005974"/>
          <a:ext cx="3000000" cy="3000000"/>
        </p:xfrm>
        <a:graphic>
          <a:graphicData uri="http://schemas.openxmlformats.org/drawingml/2006/table">
            <a:tbl>
              <a:tblPr>
                <a:noFill/>
                <a:tableStyleId>{F016ABE3-ACDB-41B1-A64A-B1E2F77EB6C7}</a:tableStyleId>
              </a:tblPr>
              <a:tblGrid>
                <a:gridCol w="1014075"/>
                <a:gridCol w="1014075"/>
              </a:tblGrid>
              <a:tr h="297150">
                <a:tc gridSpan="2">
                  <a:txBody>
                    <a:bodyPr/>
                    <a:lstStyle/>
                    <a:p>
                      <a:pPr indent="0" lvl="0" marL="0" rtl="0" algn="ctr">
                        <a:lnSpc>
                          <a:spcPct val="50000"/>
                        </a:lnSpc>
                        <a:spcBef>
                          <a:spcPts val="0"/>
                        </a:spcBef>
                        <a:spcAft>
                          <a:spcPts val="0"/>
                        </a:spcAft>
                        <a:buNone/>
                      </a:pPr>
                      <a:r>
                        <a:rPr b="1" lang="fr" sz="1200">
                          <a:solidFill>
                            <a:schemeClr val="lt2"/>
                          </a:solidFill>
                        </a:rPr>
                        <a:t>Lane Detection</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hMerge="1"/>
              </a:tr>
              <a:tr h="297150">
                <a:tc>
                  <a:txBody>
                    <a:bodyPr/>
                    <a:lstStyle/>
                    <a:p>
                      <a:pPr indent="0" lvl="0" marL="0" rtl="0" algn="ctr">
                        <a:lnSpc>
                          <a:spcPct val="50000"/>
                        </a:lnSpc>
                        <a:spcBef>
                          <a:spcPts val="0"/>
                        </a:spcBef>
                        <a:spcAft>
                          <a:spcPts val="0"/>
                        </a:spcAft>
                        <a:buNone/>
                      </a:pPr>
                      <a:r>
                        <a:rPr b="1" lang="fr" sz="1200">
                          <a:solidFill>
                            <a:schemeClr val="lt2"/>
                          </a:solidFill>
                        </a:rPr>
                        <a:t>mIOU(%)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a:txBody>
                    <a:bodyPr/>
                    <a:lstStyle/>
                    <a:p>
                      <a:pPr indent="0" lvl="0" marL="0" rtl="0" algn="ctr">
                        <a:lnSpc>
                          <a:spcPct val="50000"/>
                        </a:lnSpc>
                        <a:spcBef>
                          <a:spcPts val="0"/>
                        </a:spcBef>
                        <a:spcAft>
                          <a:spcPts val="0"/>
                        </a:spcAft>
                        <a:buNone/>
                      </a:pPr>
                      <a:r>
                        <a:rPr b="1" lang="fr" sz="1200">
                          <a:solidFill>
                            <a:schemeClr val="lt2"/>
                          </a:solidFill>
                        </a:rPr>
                        <a:t>IOU(%)</a:t>
                      </a:r>
                      <a:endParaRPr b="1" sz="1200">
                        <a:solidFill>
                          <a:schemeClr val="lt2"/>
                        </a:solidFill>
                      </a:endParaRPr>
                    </a:p>
                  </a:txBody>
                  <a:tcPr marT="91425" marB="91425" marR="91425" marL="9142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r>
              <a:tr h="297150">
                <a:tc>
                  <a:txBody>
                    <a:bodyPr/>
                    <a:lstStyle/>
                    <a:p>
                      <a:pPr indent="0" lvl="0" marL="0" rtl="0" algn="ctr">
                        <a:lnSpc>
                          <a:spcPct val="50000"/>
                        </a:lnSpc>
                        <a:spcBef>
                          <a:spcPts val="0"/>
                        </a:spcBef>
                        <a:spcAft>
                          <a:spcPts val="0"/>
                        </a:spcAft>
                        <a:buNone/>
                      </a:pPr>
                      <a:r>
                        <a:rPr lang="fr" sz="1200">
                          <a:solidFill>
                            <a:schemeClr val="dk1"/>
                          </a:solidFill>
                        </a:rPr>
                        <a:t>59.41</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c>
                  <a:txBody>
                    <a:bodyPr/>
                    <a:lstStyle/>
                    <a:p>
                      <a:pPr indent="0" lvl="0" marL="0" rtl="0" algn="ctr">
                        <a:lnSpc>
                          <a:spcPct val="50000"/>
                        </a:lnSpc>
                        <a:spcBef>
                          <a:spcPts val="0"/>
                        </a:spcBef>
                        <a:spcAft>
                          <a:spcPts val="0"/>
                        </a:spcAft>
                        <a:buNone/>
                      </a:pPr>
                      <a:r>
                        <a:rPr lang="fr" sz="1200">
                          <a:solidFill>
                            <a:schemeClr val="dk1"/>
                          </a:solidFill>
                        </a:rPr>
                        <a:t>20.35</a:t>
                      </a:r>
                      <a:endParaRPr sz="1200">
                        <a:solidFill>
                          <a:schemeClr val="dk1"/>
                        </a:solidFill>
                      </a:endParaRPr>
                    </a:p>
                  </a:txBody>
                  <a:tcPr marT="91425" marB="91425" marR="91425" marL="91425" anchor="b">
                    <a:lnT cap="flat" cmpd="sng" w="9525">
                      <a:solidFill>
                        <a:schemeClr val="lt2"/>
                      </a:solidFill>
                      <a:prstDash val="solid"/>
                      <a:round/>
                      <a:headEnd len="sm" w="sm" type="none"/>
                      <a:tailEnd len="sm" w="sm" type="none"/>
                    </a:lnT>
                  </a:tcPr>
                </a:tc>
              </a:tr>
            </a:tbl>
          </a:graphicData>
        </a:graphic>
      </p:graphicFrame>
      <p:pic>
        <p:nvPicPr>
          <p:cNvPr id="567" name="Google Shape;567;p49" title="output47545746764754645654645OOOOOOOOOO.png"/>
          <p:cNvPicPr preferRelativeResize="0"/>
          <p:nvPr/>
        </p:nvPicPr>
        <p:blipFill rotWithShape="1">
          <a:blip r:embed="rId4">
            <a:alphaModFix/>
          </a:blip>
          <a:srcRect b="0" l="0" r="0" t="0"/>
          <a:stretch/>
        </p:blipFill>
        <p:spPr>
          <a:xfrm>
            <a:off x="326400" y="987282"/>
            <a:ext cx="8491200" cy="1778700"/>
          </a:xfrm>
          <a:prstGeom prst="round2DiagRect">
            <a:avLst>
              <a:gd fmla="val 16667" name="adj1"/>
              <a:gd fmla="val 0" name="adj2"/>
            </a:avLst>
          </a:prstGeom>
          <a:noFill/>
          <a:ln>
            <a:noFill/>
          </a:ln>
        </p:spPr>
      </p:pic>
      <p:sp>
        <p:nvSpPr>
          <p:cNvPr id="568" name="Google Shape;568;p49"/>
          <p:cNvSpPr txBox="1"/>
          <p:nvPr/>
        </p:nvSpPr>
        <p:spPr>
          <a:xfrm>
            <a:off x="615079" y="196775"/>
            <a:ext cx="55881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Résultat</a:t>
            </a:r>
            <a:r>
              <a:rPr b="1" lang="fr" sz="1700">
                <a:latin typeface="Poppins SemiBold"/>
                <a:ea typeface="Poppins SemiBold"/>
                <a:cs typeface="Poppins SemiBold"/>
                <a:sym typeface="Poppins SemiBold"/>
              </a:rPr>
              <a:t> du modèle ONNX normalisé </a:t>
            </a:r>
            <a:r>
              <a:rPr b="1" lang="fr" sz="1700">
                <a:latin typeface="Poppins SemiBold"/>
                <a:ea typeface="Poppins SemiBold"/>
                <a:cs typeface="Poppins SemiBold"/>
                <a:sym typeface="Poppins SemiBold"/>
              </a:rPr>
              <a:t>&amp;</a:t>
            </a:r>
            <a:r>
              <a:rPr b="1" lang="fr" sz="1700">
                <a:latin typeface="Poppins SemiBold"/>
                <a:ea typeface="Poppins SemiBold"/>
                <a:cs typeface="Poppins SemiBold"/>
                <a:sym typeface="Poppins SemiBold"/>
              </a:rPr>
              <a:t> quantisé </a:t>
            </a:r>
            <a:endParaRPr sz="1100"/>
          </a:p>
        </p:txBody>
      </p:sp>
      <p:sp>
        <p:nvSpPr>
          <p:cNvPr id="569" name="Google Shape;569;p49"/>
          <p:cNvSpPr txBox="1"/>
          <p:nvPr/>
        </p:nvSpPr>
        <p:spPr>
          <a:xfrm>
            <a:off x="326400" y="640325"/>
            <a:ext cx="4194300" cy="441600"/>
          </a:xfrm>
          <a:prstGeom prst="rect">
            <a:avLst/>
          </a:prstGeom>
          <a:noFill/>
          <a:ln>
            <a:noFill/>
          </a:ln>
        </p:spPr>
        <p:txBody>
          <a:bodyPr anchorCtr="0" anchor="t" bIns="34275" lIns="68575" spcFirstLastPara="1" rIns="68575" wrap="square" tIns="34275">
            <a:spAutoFit/>
          </a:bodyPr>
          <a:lstStyle/>
          <a:p>
            <a:pPr indent="0" lvl="0" marL="0" rtl="0" algn="just">
              <a:lnSpc>
                <a:spcPct val="120000"/>
              </a:lnSpc>
              <a:spcBef>
                <a:spcPts val="0"/>
              </a:spcBef>
              <a:spcAft>
                <a:spcPts val="0"/>
              </a:spcAft>
              <a:buClr>
                <a:schemeClr val="dk1"/>
              </a:buClr>
              <a:buSzPts val="1100"/>
              <a:buFont typeface="Arial"/>
              <a:buNone/>
            </a:pPr>
            <a:r>
              <a:rPr b="1" lang="fr" sz="1100">
                <a:solidFill>
                  <a:schemeClr val="dk1"/>
                </a:solidFill>
                <a:latin typeface="Poppins"/>
                <a:ea typeface="Poppins"/>
                <a:cs typeface="Poppins"/>
                <a:sym typeface="Poppins"/>
              </a:rPr>
              <a:t>Objectif :</a:t>
            </a:r>
            <a:r>
              <a:rPr lang="fr" sz="1100">
                <a:solidFill>
                  <a:schemeClr val="dk1"/>
                </a:solidFill>
                <a:latin typeface="Poppins"/>
                <a:ea typeface="Poppins"/>
                <a:cs typeface="Poppins"/>
                <a:sym typeface="Poppins"/>
              </a:rPr>
              <a:t> Conversion en traitant les BatchNorm résiduels.</a:t>
            </a:r>
            <a:endParaRPr sz="1100">
              <a:solidFill>
                <a:schemeClr val="dk1"/>
              </a:solidFill>
              <a:latin typeface="Poppins"/>
              <a:ea typeface="Poppins"/>
              <a:cs typeface="Poppins"/>
              <a:sym typeface="Poppins"/>
            </a:endParaRPr>
          </a:p>
          <a:p>
            <a:pPr indent="0" lvl="0" marL="0" rtl="0" algn="just">
              <a:lnSpc>
                <a:spcPct val="120000"/>
              </a:lnSpc>
              <a:spcBef>
                <a:spcPts val="0"/>
              </a:spcBef>
              <a:spcAft>
                <a:spcPts val="0"/>
              </a:spcAft>
              <a:buSzPts val="1100"/>
              <a:buNone/>
            </a:pPr>
            <a:r>
              <a:rPr b="1" lang="fr" sz="1100">
                <a:solidFill>
                  <a:schemeClr val="dk1"/>
                </a:solidFill>
                <a:latin typeface="Poppins"/>
                <a:ea typeface="Poppins"/>
                <a:cs typeface="Poppins"/>
                <a:sym typeface="Poppins"/>
              </a:rPr>
              <a:t>Protocole :</a:t>
            </a:r>
            <a:r>
              <a:rPr lang="fr" sz="1100">
                <a:solidFill>
                  <a:schemeClr val="dk1"/>
                </a:solidFill>
                <a:latin typeface="Poppins"/>
                <a:ea typeface="Poppins"/>
                <a:cs typeface="Poppins"/>
                <a:sym typeface="Poppins"/>
              </a:rPr>
              <a:t> Stratégie de quantification en 2 passes.</a:t>
            </a:r>
            <a:endParaRPr sz="900" u="sng">
              <a:solidFill>
                <a:schemeClr val="dk1"/>
              </a:solidFill>
              <a:latin typeface="Poppins"/>
              <a:ea typeface="Poppins"/>
              <a:cs typeface="Poppins"/>
              <a:sym typeface="Poppins"/>
            </a:endParaRPr>
          </a:p>
        </p:txBody>
      </p:sp>
      <p:sp>
        <p:nvSpPr>
          <p:cNvPr id="570" name="Google Shape;570;p49"/>
          <p:cNvSpPr txBox="1"/>
          <p:nvPr/>
        </p:nvSpPr>
        <p:spPr>
          <a:xfrm>
            <a:off x="4623450" y="640325"/>
            <a:ext cx="4738200" cy="4080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SzPts val="1100"/>
              <a:buFont typeface="Arial"/>
              <a:buNone/>
            </a:pPr>
            <a:r>
              <a:rPr b="1" lang="fr" sz="1100">
                <a:solidFill>
                  <a:schemeClr val="dk1"/>
                </a:solidFill>
                <a:latin typeface="Poppins"/>
                <a:ea typeface="Poppins"/>
                <a:cs typeface="Poppins"/>
                <a:sym typeface="Poppins"/>
              </a:rPr>
              <a:t>Résultats Détection (KPIs) :</a:t>
            </a:r>
            <a:r>
              <a:rPr lang="fr" sz="1100">
                <a:solidFill>
                  <a:schemeClr val="dk1"/>
                </a:solidFill>
                <a:latin typeface="Poppins"/>
                <a:ea typeface="Poppins"/>
                <a:cs typeface="Poppins"/>
                <a:sym typeface="Poppins"/>
              </a:rPr>
              <a:t> Recall </a:t>
            </a:r>
            <a:r>
              <a:rPr b="1" lang="fr" sz="1100">
                <a:solidFill>
                  <a:schemeClr val="dk1"/>
                </a:solidFill>
                <a:latin typeface="Poppins"/>
                <a:ea typeface="Poppins"/>
                <a:cs typeface="Poppins"/>
                <a:sym typeface="Poppins"/>
              </a:rPr>
              <a:t>85.28%</a:t>
            </a:r>
            <a:r>
              <a:rPr lang="fr" sz="1100">
                <a:solidFill>
                  <a:schemeClr val="dk1"/>
                </a:solidFill>
                <a:latin typeface="Poppins"/>
                <a:ea typeface="Poppins"/>
                <a:cs typeface="Poppins"/>
                <a:sym typeface="Poppins"/>
              </a:rPr>
              <a:t> | mAP50 </a:t>
            </a:r>
            <a:r>
              <a:rPr b="1" lang="fr" sz="1100">
                <a:solidFill>
                  <a:schemeClr val="dk1"/>
                </a:solidFill>
                <a:latin typeface="Poppins"/>
                <a:ea typeface="Poppins"/>
                <a:cs typeface="Poppins"/>
                <a:sym typeface="Poppins"/>
              </a:rPr>
              <a:t>58.65%</a:t>
            </a:r>
            <a:r>
              <a:rPr lang="fr" sz="1100">
                <a:solidFill>
                  <a:schemeClr val="dk1"/>
                </a:solidFill>
                <a:latin typeface="Poppins"/>
                <a:ea typeface="Poppins"/>
                <a:cs typeface="Poppins"/>
                <a:sym typeface="Poppins"/>
              </a:rPr>
              <a:t>.</a:t>
            </a:r>
            <a:endParaRPr sz="11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b="1" lang="fr" sz="1100">
                <a:solidFill>
                  <a:schemeClr val="dk1"/>
                </a:solidFill>
                <a:latin typeface="Poppins"/>
                <a:ea typeface="Poppins"/>
                <a:cs typeface="Poppins"/>
                <a:sym typeface="Poppins"/>
              </a:rPr>
              <a:t>Gain :</a:t>
            </a:r>
            <a:r>
              <a:rPr lang="fr" sz="1100">
                <a:solidFill>
                  <a:schemeClr val="dk1"/>
                </a:solidFill>
                <a:latin typeface="Poppins"/>
                <a:ea typeface="Poppins"/>
                <a:cs typeface="Poppins"/>
                <a:sym typeface="Poppins"/>
              </a:rPr>
              <a:t> Amélioration anecdotique (</a:t>
            </a:r>
            <a:r>
              <a:rPr b="1" lang="fr" sz="1100">
                <a:solidFill>
                  <a:schemeClr val="dk1"/>
                </a:solidFill>
                <a:latin typeface="Poppins"/>
                <a:ea typeface="Poppins"/>
                <a:cs typeface="Poppins"/>
                <a:sym typeface="Poppins"/>
              </a:rPr>
              <a:t>+0.45% mAP</a:t>
            </a:r>
            <a:r>
              <a:rPr lang="fr" sz="1100">
                <a:solidFill>
                  <a:schemeClr val="dk1"/>
                </a:solidFill>
                <a:latin typeface="Poppins"/>
                <a:ea typeface="Poppins"/>
                <a:cs typeface="Poppins"/>
                <a:sym typeface="Poppins"/>
              </a:rPr>
              <a:t>).</a:t>
            </a:r>
            <a:endParaRPr sz="1100">
              <a:solidFill>
                <a:schemeClr val="dk1"/>
              </a:solidFill>
              <a:latin typeface="Poppins"/>
              <a:ea typeface="Poppins"/>
              <a:cs typeface="Poppins"/>
              <a:sym typeface="Poppins"/>
            </a:endParaRPr>
          </a:p>
        </p:txBody>
      </p:sp>
      <p:graphicFrame>
        <p:nvGraphicFramePr>
          <p:cNvPr id="571" name="Google Shape;571;p49"/>
          <p:cNvGraphicFramePr/>
          <p:nvPr/>
        </p:nvGraphicFramePr>
        <p:xfrm>
          <a:off x="3288150" y="2816350"/>
          <a:ext cx="3000000" cy="3000000"/>
        </p:xfrm>
        <a:graphic>
          <a:graphicData uri="http://schemas.openxmlformats.org/drawingml/2006/table">
            <a:tbl>
              <a:tblPr>
                <a:noFill/>
                <a:tableStyleId>{F016ABE3-ACDB-41B1-A64A-B1E2F77EB6C7}</a:tableStyleId>
              </a:tblPr>
              <a:tblGrid>
                <a:gridCol w="580675"/>
                <a:gridCol w="754625"/>
              </a:tblGrid>
              <a:tr h="385100">
                <a:tc>
                  <a:txBody>
                    <a:bodyPr/>
                    <a:lstStyle/>
                    <a:p>
                      <a:pPr indent="0" lvl="0" marL="0" rtl="0" algn="ctr">
                        <a:lnSpc>
                          <a:spcPct val="40000"/>
                        </a:lnSpc>
                        <a:spcBef>
                          <a:spcPts val="0"/>
                        </a:spcBef>
                        <a:spcAft>
                          <a:spcPts val="0"/>
                        </a:spcAft>
                        <a:buNone/>
                      </a:pPr>
                      <a:r>
                        <a:rPr b="1" lang="fr" sz="1300">
                          <a:solidFill>
                            <a:schemeClr val="lt2"/>
                          </a:solidFill>
                        </a:rPr>
                        <a:t>FP32</a:t>
                      </a:r>
                      <a:endParaRPr b="1" sz="1300">
                        <a:solidFill>
                          <a:schemeClr val="lt2"/>
                        </a:solidFill>
                      </a:endParaRPr>
                    </a:p>
                  </a:txBody>
                  <a:tcPr marT="91425" marB="91425" marR="91425" marL="91425" anchor="ctr">
                    <a:solidFill>
                      <a:schemeClr val="accent2"/>
                    </a:solidFill>
                  </a:tcPr>
                </a:tc>
                <a:tc>
                  <a:txBody>
                    <a:bodyPr/>
                    <a:lstStyle/>
                    <a:p>
                      <a:pPr indent="0" lvl="0" marL="0" rtl="0" algn="ctr">
                        <a:lnSpc>
                          <a:spcPct val="40000"/>
                        </a:lnSpc>
                        <a:spcBef>
                          <a:spcPts val="0"/>
                        </a:spcBef>
                        <a:spcAft>
                          <a:spcPts val="0"/>
                        </a:spcAft>
                        <a:buNone/>
                      </a:pPr>
                      <a:r>
                        <a:rPr lang="fr" sz="1300"/>
                        <a:t>34.24 </a:t>
                      </a:r>
                      <a:r>
                        <a:rPr baseline="-25000" lang="fr" sz="1300"/>
                        <a:t>MB</a:t>
                      </a:r>
                      <a:endParaRPr baseline="-25000" sz="1300"/>
                    </a:p>
                  </a:txBody>
                  <a:tcPr marT="91425" marB="91425" marR="91425" marL="91425" anchor="ctr"/>
                </a:tc>
              </a:tr>
              <a:tr h="385100">
                <a:tc>
                  <a:txBody>
                    <a:bodyPr/>
                    <a:lstStyle/>
                    <a:p>
                      <a:pPr indent="0" lvl="0" marL="0" rtl="0" algn="ctr">
                        <a:lnSpc>
                          <a:spcPct val="40000"/>
                        </a:lnSpc>
                        <a:spcBef>
                          <a:spcPts val="0"/>
                        </a:spcBef>
                        <a:spcAft>
                          <a:spcPts val="0"/>
                        </a:spcAft>
                        <a:buNone/>
                      </a:pPr>
                      <a:r>
                        <a:rPr b="1" lang="fr" sz="1300">
                          <a:solidFill>
                            <a:schemeClr val="lt2"/>
                          </a:solidFill>
                        </a:rPr>
                        <a:t>INT8</a:t>
                      </a:r>
                      <a:endParaRPr b="1" sz="1300">
                        <a:solidFill>
                          <a:schemeClr val="lt2"/>
                        </a:solidFill>
                      </a:endParaRPr>
                    </a:p>
                  </a:txBody>
                  <a:tcPr marT="91425" marB="91425" marR="91425" marL="91425" anchor="ctr">
                    <a:solidFill>
                      <a:schemeClr val="accent2"/>
                    </a:solidFill>
                  </a:tcPr>
                </a:tc>
                <a:tc>
                  <a:txBody>
                    <a:bodyPr/>
                    <a:lstStyle/>
                    <a:p>
                      <a:pPr indent="0" lvl="0" marL="0" rtl="0" algn="ctr">
                        <a:lnSpc>
                          <a:spcPct val="40000"/>
                        </a:lnSpc>
                        <a:spcBef>
                          <a:spcPts val="0"/>
                        </a:spcBef>
                        <a:spcAft>
                          <a:spcPts val="0"/>
                        </a:spcAft>
                        <a:buNone/>
                      </a:pPr>
                      <a:r>
                        <a:rPr lang="fr" sz="1300"/>
                        <a:t>11.83 </a:t>
                      </a:r>
                      <a:r>
                        <a:rPr baseline="-25000" lang="fr" sz="1300"/>
                        <a:t>MB</a:t>
                      </a:r>
                      <a:endParaRPr baseline="-25000" sz="1300"/>
                    </a:p>
                  </a:txBody>
                  <a:tcPr marT="91425" marB="91425" marR="91425" marL="91425" anchor="ctr"/>
                </a:tc>
              </a:tr>
              <a:tr h="385100">
                <a:tc gridSpan="2">
                  <a:txBody>
                    <a:bodyPr/>
                    <a:lstStyle/>
                    <a:p>
                      <a:pPr indent="0" lvl="0" marL="0" rtl="0" algn="ctr">
                        <a:lnSpc>
                          <a:spcPct val="40000"/>
                        </a:lnSpc>
                        <a:spcBef>
                          <a:spcPts val="0"/>
                        </a:spcBef>
                        <a:spcAft>
                          <a:spcPts val="0"/>
                        </a:spcAft>
                        <a:buNone/>
                      </a:pPr>
                      <a:r>
                        <a:rPr lang="fr" sz="1300"/>
                        <a:t>2.89x</a:t>
                      </a:r>
                      <a:endParaRPr sz="1300"/>
                    </a:p>
                  </a:txBody>
                  <a:tcPr marT="91425" marB="91425" marR="91425" marL="91425" anchor="ctr"/>
                </a:tc>
                <a:tc hMerge="1"/>
              </a:tr>
            </a:tbl>
          </a:graphicData>
        </a:graphic>
      </p:graphicFrame>
      <p:sp>
        <p:nvSpPr>
          <p:cNvPr id="572" name="Google Shape;572;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pic>
        <p:nvPicPr>
          <p:cNvPr id="578" name="Google Shape;578;p50"/>
          <p:cNvPicPr preferRelativeResize="0"/>
          <p:nvPr/>
        </p:nvPicPr>
        <p:blipFill rotWithShape="1">
          <a:blip r:embed="rId3">
            <a:alphaModFix/>
          </a:blip>
          <a:srcRect b="0" l="0" r="0" t="0"/>
          <a:stretch/>
        </p:blipFill>
        <p:spPr>
          <a:xfrm rot="240920">
            <a:off x="4180452" y="-256961"/>
            <a:ext cx="932074" cy="1020144"/>
          </a:xfrm>
          <a:prstGeom prst="rect">
            <a:avLst/>
          </a:prstGeom>
          <a:noFill/>
          <a:ln>
            <a:noFill/>
          </a:ln>
        </p:spPr>
      </p:pic>
      <p:sp>
        <p:nvSpPr>
          <p:cNvPr id="579" name="Google Shape;579;p50"/>
          <p:cNvSpPr txBox="1"/>
          <p:nvPr/>
        </p:nvSpPr>
        <p:spPr>
          <a:xfrm>
            <a:off x="615073" y="361375"/>
            <a:ext cx="34755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Analyse de Sensibilité (MSE)</a:t>
            </a:r>
            <a:endParaRPr sz="1100"/>
          </a:p>
        </p:txBody>
      </p:sp>
      <p:sp>
        <p:nvSpPr>
          <p:cNvPr id="580" name="Google Shape;580;p50"/>
          <p:cNvSpPr/>
          <p:nvPr/>
        </p:nvSpPr>
        <p:spPr>
          <a:xfrm>
            <a:off x="700871" y="766821"/>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81" name="Google Shape;581;p50"/>
          <p:cNvSpPr txBox="1"/>
          <p:nvPr/>
        </p:nvSpPr>
        <p:spPr>
          <a:xfrm>
            <a:off x="217600" y="4418337"/>
            <a:ext cx="4194300" cy="623400"/>
          </a:xfrm>
          <a:prstGeom prst="rect">
            <a:avLst/>
          </a:prstGeom>
          <a:noFill/>
          <a:ln>
            <a:noFill/>
          </a:ln>
        </p:spPr>
        <p:txBody>
          <a:bodyPr anchorCtr="0" anchor="t" bIns="34275" lIns="68575" spcFirstLastPara="1" rIns="68575" wrap="square" tIns="34275">
            <a:spAutoFit/>
          </a:bodyPr>
          <a:lstStyle/>
          <a:p>
            <a:pPr indent="0" lvl="0" marL="0" rtl="0" algn="l">
              <a:lnSpc>
                <a:spcPct val="100000"/>
              </a:lnSpc>
              <a:spcBef>
                <a:spcPts val="0"/>
              </a:spcBef>
              <a:spcAft>
                <a:spcPts val="0"/>
              </a:spcAft>
              <a:buSzPts val="1100"/>
              <a:buNone/>
            </a:pPr>
            <a:r>
              <a:rPr lang="fr" sz="900">
                <a:solidFill>
                  <a:schemeClr val="dk1"/>
                </a:solidFill>
                <a:latin typeface="Poppins"/>
                <a:ea typeface="Poppins"/>
                <a:cs typeface="Poppins"/>
                <a:sym typeface="Poppins"/>
              </a:rPr>
              <a:t>  1. Reshape_1418                                            	MSE = 1.899230e+03</a:t>
            </a:r>
            <a:endParaRPr sz="900">
              <a:solidFill>
                <a:schemeClr val="dk1"/>
              </a:solidFill>
              <a:latin typeface="Poppins"/>
              <a:ea typeface="Poppins"/>
              <a:cs typeface="Poppins"/>
              <a:sym typeface="Poppins"/>
            </a:endParaRPr>
          </a:p>
          <a:p>
            <a:pPr indent="0" lvl="0" marL="0" rtl="0" algn="l">
              <a:lnSpc>
                <a:spcPct val="100000"/>
              </a:lnSpc>
              <a:spcBef>
                <a:spcPts val="0"/>
              </a:spcBef>
              <a:spcAft>
                <a:spcPts val="0"/>
              </a:spcAft>
              <a:buSzPts val="1100"/>
              <a:buNone/>
            </a:pPr>
            <a:r>
              <a:rPr lang="fr" sz="900">
                <a:solidFill>
                  <a:schemeClr val="dk1"/>
                </a:solidFill>
                <a:latin typeface="Poppins"/>
                <a:ea typeface="Poppins"/>
                <a:cs typeface="Poppins"/>
                <a:sym typeface="Poppins"/>
              </a:rPr>
              <a:t>  2. Mul_1416                                                		MSE = 1.897014e+03</a:t>
            </a:r>
            <a:endParaRPr sz="900">
              <a:solidFill>
                <a:schemeClr val="dk1"/>
              </a:solidFill>
              <a:latin typeface="Poppins"/>
              <a:ea typeface="Poppins"/>
              <a:cs typeface="Poppins"/>
              <a:sym typeface="Poppins"/>
            </a:endParaRPr>
          </a:p>
          <a:p>
            <a:pPr indent="0" lvl="0" marL="0" rtl="0" algn="l">
              <a:lnSpc>
                <a:spcPct val="100000"/>
              </a:lnSpc>
              <a:spcBef>
                <a:spcPts val="0"/>
              </a:spcBef>
              <a:spcAft>
                <a:spcPts val="0"/>
              </a:spcAft>
              <a:buSzPts val="1100"/>
              <a:buNone/>
            </a:pPr>
            <a:r>
              <a:rPr lang="fr" sz="900">
                <a:solidFill>
                  <a:schemeClr val="dk1"/>
                </a:solidFill>
                <a:latin typeface="Poppins"/>
                <a:ea typeface="Poppins"/>
                <a:cs typeface="Poppins"/>
                <a:sym typeface="Poppins"/>
              </a:rPr>
              <a:t>  3. Reshape_2151_to_3d_normalize                       MSE = 6.613713e+02</a:t>
            </a:r>
            <a:endParaRPr sz="900">
              <a:solidFill>
                <a:schemeClr val="dk1"/>
              </a:solidFill>
              <a:latin typeface="Poppins"/>
              <a:ea typeface="Poppins"/>
              <a:cs typeface="Poppins"/>
              <a:sym typeface="Poppins"/>
            </a:endParaRPr>
          </a:p>
          <a:p>
            <a:pPr indent="0" lvl="0" marL="0" rtl="0" algn="l">
              <a:lnSpc>
                <a:spcPct val="100000"/>
              </a:lnSpc>
              <a:spcBef>
                <a:spcPts val="0"/>
              </a:spcBef>
              <a:spcAft>
                <a:spcPts val="0"/>
              </a:spcAft>
              <a:buSzPts val="1100"/>
              <a:buNone/>
            </a:pPr>
            <a:r>
              <a:rPr lang="fr" sz="900">
                <a:solidFill>
                  <a:schemeClr val="dk1"/>
                </a:solidFill>
                <a:latin typeface="Poppins"/>
                <a:ea typeface="Poppins"/>
                <a:cs typeface="Poppins"/>
                <a:sym typeface="Poppins"/>
              </a:rPr>
              <a:t>  4. Reshape_1110                                           		MSE = 8.558862e+01</a:t>
            </a:r>
            <a:endParaRPr sz="900">
              <a:solidFill>
                <a:schemeClr val="dk1"/>
              </a:solidFill>
              <a:latin typeface="Poppins"/>
              <a:ea typeface="Poppins"/>
              <a:cs typeface="Poppins"/>
              <a:sym typeface="Poppins"/>
            </a:endParaRPr>
          </a:p>
        </p:txBody>
      </p:sp>
      <p:sp>
        <p:nvSpPr>
          <p:cNvPr id="582" name="Google Shape;582;p50"/>
          <p:cNvSpPr txBox="1"/>
          <p:nvPr/>
        </p:nvSpPr>
        <p:spPr>
          <a:xfrm>
            <a:off x="4732075" y="4428687"/>
            <a:ext cx="4194300" cy="623400"/>
          </a:xfrm>
          <a:prstGeom prst="rect">
            <a:avLst/>
          </a:prstGeom>
          <a:noFill/>
          <a:ln>
            <a:noFill/>
          </a:ln>
        </p:spPr>
        <p:txBody>
          <a:bodyPr anchorCtr="0" anchor="t" bIns="34275" lIns="68575" spcFirstLastPara="1" rIns="68575" wrap="square" tIns="34275">
            <a:spAutoFit/>
          </a:bodyPr>
          <a:lstStyle/>
          <a:p>
            <a:pPr indent="0" lvl="0" marL="0" rtl="0" algn="l">
              <a:lnSpc>
                <a:spcPct val="100000"/>
              </a:lnSpc>
              <a:spcBef>
                <a:spcPts val="0"/>
              </a:spcBef>
              <a:spcAft>
                <a:spcPts val="0"/>
              </a:spcAft>
              <a:buSzPts val="1100"/>
              <a:buNone/>
            </a:pPr>
            <a:r>
              <a:rPr lang="fr" sz="900">
                <a:solidFill>
                  <a:schemeClr val="dk1"/>
                </a:solidFill>
                <a:latin typeface="Poppins"/>
                <a:ea typeface="Poppins"/>
                <a:cs typeface="Poppins"/>
                <a:sym typeface="Poppins"/>
              </a:rPr>
              <a:t>  5. Mul_1108                                                MSE = 8.535263e+01</a:t>
            </a:r>
            <a:endParaRPr sz="900">
              <a:solidFill>
                <a:schemeClr val="dk1"/>
              </a:solidFill>
              <a:latin typeface="Poppins"/>
              <a:ea typeface="Poppins"/>
              <a:cs typeface="Poppins"/>
              <a:sym typeface="Poppins"/>
            </a:endParaRPr>
          </a:p>
          <a:p>
            <a:pPr indent="0" lvl="0" marL="0" rtl="0" algn="l">
              <a:lnSpc>
                <a:spcPct val="100000"/>
              </a:lnSpc>
              <a:spcBef>
                <a:spcPts val="0"/>
              </a:spcBef>
              <a:spcAft>
                <a:spcPts val="0"/>
              </a:spcAft>
              <a:buSzPts val="1100"/>
              <a:buNone/>
            </a:pPr>
            <a:r>
              <a:rPr lang="fr" sz="900">
                <a:solidFill>
                  <a:schemeClr val="dk1"/>
                </a:solidFill>
                <a:latin typeface="Poppins"/>
                <a:ea typeface="Poppins"/>
                <a:cs typeface="Poppins"/>
                <a:sym typeface="Poppins"/>
              </a:rPr>
              <a:t>  6. Mul_1292                                               MSE = 8.488289e+01</a:t>
            </a:r>
            <a:endParaRPr sz="900">
              <a:solidFill>
                <a:schemeClr val="dk1"/>
              </a:solidFill>
              <a:latin typeface="Poppins"/>
              <a:ea typeface="Poppins"/>
              <a:cs typeface="Poppins"/>
              <a:sym typeface="Poppins"/>
            </a:endParaRPr>
          </a:p>
          <a:p>
            <a:pPr indent="0" lvl="0" marL="0" rtl="0" algn="l">
              <a:lnSpc>
                <a:spcPct val="100000"/>
              </a:lnSpc>
              <a:spcBef>
                <a:spcPts val="0"/>
              </a:spcBef>
              <a:spcAft>
                <a:spcPts val="0"/>
              </a:spcAft>
              <a:buSzPts val="1100"/>
              <a:buNone/>
            </a:pPr>
            <a:r>
              <a:rPr lang="fr" sz="900">
                <a:solidFill>
                  <a:schemeClr val="dk1"/>
                </a:solidFill>
                <a:latin typeface="Poppins"/>
                <a:ea typeface="Poppins"/>
                <a:cs typeface="Poppins"/>
                <a:sym typeface="Poppins"/>
              </a:rPr>
              <a:t>  7. Reshape_1294                                      MSE = 8.488289e+01</a:t>
            </a:r>
            <a:endParaRPr sz="900">
              <a:solidFill>
                <a:schemeClr val="dk1"/>
              </a:solidFill>
              <a:latin typeface="Poppins"/>
              <a:ea typeface="Poppins"/>
              <a:cs typeface="Poppins"/>
              <a:sym typeface="Poppins"/>
            </a:endParaRPr>
          </a:p>
          <a:p>
            <a:pPr indent="0" lvl="0" marL="0" rtl="0" algn="l">
              <a:lnSpc>
                <a:spcPct val="100000"/>
              </a:lnSpc>
              <a:spcBef>
                <a:spcPts val="0"/>
              </a:spcBef>
              <a:spcAft>
                <a:spcPts val="0"/>
              </a:spcAft>
              <a:buSzPts val="1100"/>
              <a:buNone/>
            </a:pPr>
            <a:r>
              <a:rPr lang="fr" sz="900">
                <a:solidFill>
                  <a:schemeClr val="dk1"/>
                </a:solidFill>
                <a:latin typeface="Poppins"/>
                <a:ea typeface="Poppins"/>
                <a:cs typeface="Poppins"/>
                <a:sym typeface="Poppins"/>
              </a:rPr>
              <a:t>  8. Conv_596                                             MSE = 7.495575e+01</a:t>
            </a:r>
            <a:endParaRPr sz="900">
              <a:solidFill>
                <a:schemeClr val="dk1"/>
              </a:solidFill>
              <a:latin typeface="Poppins"/>
              <a:ea typeface="Poppins"/>
              <a:cs typeface="Poppins"/>
              <a:sym typeface="Poppins"/>
            </a:endParaRPr>
          </a:p>
        </p:txBody>
      </p:sp>
      <p:sp>
        <p:nvSpPr>
          <p:cNvPr id="583" name="Google Shape;583;p50"/>
          <p:cNvSpPr/>
          <p:nvPr/>
        </p:nvSpPr>
        <p:spPr>
          <a:xfrm>
            <a:off x="57530" y="3868128"/>
            <a:ext cx="561900" cy="550200"/>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84" name="Google Shape;584;p50"/>
          <p:cNvSpPr/>
          <p:nvPr/>
        </p:nvSpPr>
        <p:spPr>
          <a:xfrm>
            <a:off x="8602793" y="692268"/>
            <a:ext cx="541200" cy="541200"/>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585" name="Google Shape;585;p50"/>
          <p:cNvPicPr preferRelativeResize="0"/>
          <p:nvPr/>
        </p:nvPicPr>
        <p:blipFill>
          <a:blip r:embed="rId4">
            <a:alphaModFix/>
          </a:blip>
          <a:stretch>
            <a:fillRect/>
          </a:stretch>
        </p:blipFill>
        <p:spPr>
          <a:xfrm>
            <a:off x="152400" y="817233"/>
            <a:ext cx="8839200" cy="3509100"/>
          </a:xfrm>
          <a:prstGeom prst="round2DiagRect">
            <a:avLst>
              <a:gd fmla="val 16667" name="adj1"/>
              <a:gd fmla="val 0" name="adj2"/>
            </a:avLst>
          </a:prstGeom>
          <a:noFill/>
          <a:ln cap="flat" cmpd="sng" w="38100">
            <a:solidFill>
              <a:schemeClr val="dk2"/>
            </a:solidFill>
            <a:prstDash val="solid"/>
            <a:round/>
            <a:headEnd len="sm" w="sm" type="none"/>
            <a:tailEnd len="sm" w="sm" type="none"/>
          </a:ln>
        </p:spPr>
      </p:pic>
      <p:sp>
        <p:nvSpPr>
          <p:cNvPr id="586" name="Google Shape;586;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51"/>
          <p:cNvSpPr/>
          <p:nvPr/>
        </p:nvSpPr>
        <p:spPr>
          <a:xfrm>
            <a:off x="0" y="0"/>
            <a:ext cx="6428400" cy="3405300"/>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93" name="Google Shape;593;p51"/>
          <p:cNvSpPr/>
          <p:nvPr/>
        </p:nvSpPr>
        <p:spPr>
          <a:xfrm>
            <a:off x="87875" y="2596463"/>
            <a:ext cx="561900" cy="550200"/>
          </a:xfrm>
          <a:prstGeom prst="rect">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94" name="Google Shape;594;p51"/>
          <p:cNvSpPr/>
          <p:nvPr/>
        </p:nvSpPr>
        <p:spPr>
          <a:xfrm>
            <a:off x="4435960" y="692277"/>
            <a:ext cx="541200" cy="541200"/>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595" name="Google Shape;595;p51"/>
          <p:cNvPicPr preferRelativeResize="0"/>
          <p:nvPr/>
        </p:nvPicPr>
        <p:blipFill rotWithShape="1">
          <a:blip r:embed="rId3">
            <a:alphaModFix/>
          </a:blip>
          <a:srcRect b="0" l="0" r="0" t="0"/>
          <a:stretch/>
        </p:blipFill>
        <p:spPr>
          <a:xfrm rot="-2405899">
            <a:off x="3112109" y="-990121"/>
            <a:ext cx="2650734" cy="1552380"/>
          </a:xfrm>
          <a:prstGeom prst="rect">
            <a:avLst/>
          </a:prstGeom>
          <a:noFill/>
          <a:ln>
            <a:noFill/>
          </a:ln>
        </p:spPr>
      </p:pic>
      <p:sp>
        <p:nvSpPr>
          <p:cNvPr id="596" name="Google Shape;596;p51"/>
          <p:cNvSpPr txBox="1"/>
          <p:nvPr/>
        </p:nvSpPr>
        <p:spPr>
          <a:xfrm>
            <a:off x="6428400" y="0"/>
            <a:ext cx="2715600" cy="5010300"/>
          </a:xfrm>
          <a:prstGeom prst="rect">
            <a:avLst/>
          </a:prstGeom>
          <a:noFill/>
          <a:ln cap="flat" cmpd="sng" w="9525">
            <a:solidFill>
              <a:schemeClr val="dk2"/>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b="1" lang="fr" sz="1000" u="sng">
                <a:solidFill>
                  <a:schemeClr val="dk1"/>
                </a:solidFill>
                <a:latin typeface="Poppins"/>
                <a:ea typeface="Poppins"/>
                <a:cs typeface="Poppins"/>
                <a:sym typeface="Poppins"/>
              </a:rPr>
              <a:t>Constat Critique :</a:t>
            </a:r>
            <a:endParaRPr b="1" sz="1000" u="sng">
              <a:solidFill>
                <a:schemeClr val="dk1"/>
              </a:solidFill>
              <a:latin typeface="Poppins"/>
              <a:ea typeface="Poppins"/>
              <a:cs typeface="Poppins"/>
              <a:sym typeface="Poppins"/>
            </a:endParaRPr>
          </a:p>
          <a:p>
            <a:pPr indent="-292100" lvl="0" marL="457200" marR="0" rtl="0" algn="l">
              <a:lnSpc>
                <a:spcPct val="15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Une minorité de nœuds concentre  l'erreur de quantification.</a:t>
            </a:r>
            <a:endParaRPr sz="1000">
              <a:solidFill>
                <a:schemeClr val="dk1"/>
              </a:solidFill>
              <a:latin typeface="Poppins"/>
              <a:ea typeface="Poppins"/>
              <a:cs typeface="Poppins"/>
              <a:sym typeface="Poppins"/>
            </a:endParaRPr>
          </a:p>
          <a:p>
            <a:pPr indent="-292100" lvl="0" marL="457200" marR="0" rtl="0" algn="l">
              <a:lnSpc>
                <a:spcPct val="15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Ratio Max/Min extrême (1.56e8) : Stabilité entre les couches. </a:t>
            </a:r>
            <a:endParaRPr sz="1000">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t/>
            </a:r>
            <a:endParaRPr sz="1000" strike="sngStrike">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rPr b="1" lang="fr" sz="1000" u="sng">
                <a:solidFill>
                  <a:schemeClr val="dk1"/>
                </a:solidFill>
                <a:latin typeface="Poppins"/>
                <a:ea typeface="Poppins"/>
                <a:cs typeface="Poppins"/>
                <a:sym typeface="Poppins"/>
              </a:rPr>
              <a:t>Identification des Coupables :</a:t>
            </a:r>
            <a:endParaRPr b="1" sz="1000" u="sng">
              <a:solidFill>
                <a:schemeClr val="dk1"/>
              </a:solidFill>
              <a:latin typeface="Poppins"/>
              <a:ea typeface="Poppins"/>
              <a:cs typeface="Poppins"/>
              <a:sym typeface="Poppins"/>
            </a:endParaRPr>
          </a:p>
          <a:p>
            <a:pPr indent="-292100" lvl="0" marL="457200" marR="0" rtl="0" algn="l">
              <a:lnSpc>
                <a:spcPct val="15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Reshape_1418 (MSE ~1899)</a:t>
            </a:r>
            <a:endParaRPr sz="1000">
              <a:solidFill>
                <a:schemeClr val="dk1"/>
              </a:solidFill>
              <a:latin typeface="Poppins"/>
              <a:ea typeface="Poppins"/>
              <a:cs typeface="Poppins"/>
              <a:sym typeface="Poppins"/>
            </a:endParaRPr>
          </a:p>
          <a:p>
            <a:pPr indent="-292100" lvl="0" marL="457200" marR="0" rtl="0" algn="l">
              <a:lnSpc>
                <a:spcPct val="15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Mul_1416 (MSE ~1897)</a:t>
            </a:r>
            <a:endParaRPr sz="1000">
              <a:solidFill>
                <a:schemeClr val="dk1"/>
              </a:solidFill>
              <a:latin typeface="Poppins"/>
              <a:ea typeface="Poppins"/>
              <a:cs typeface="Poppins"/>
              <a:sym typeface="Poppins"/>
            </a:endParaRPr>
          </a:p>
          <a:p>
            <a:pPr indent="-292100" lvl="0" marL="457200" marR="0" rtl="0" algn="l">
              <a:lnSpc>
                <a:spcPct val="15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Reshape_2151 (MSE ~661)</a:t>
            </a:r>
            <a:endParaRPr sz="1000">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rPr b="1" lang="fr" sz="1000">
                <a:solidFill>
                  <a:schemeClr val="dk1"/>
                </a:solidFill>
                <a:latin typeface="Poppins"/>
                <a:ea typeface="Poppins"/>
                <a:cs typeface="Poppins"/>
                <a:sym typeface="Poppins"/>
              </a:rPr>
              <a:t>Diagnostic : </a:t>
            </a:r>
            <a:endParaRPr b="1" sz="1000">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None/>
            </a:pPr>
            <a:r>
              <a:rPr lang="fr" sz="900">
                <a:solidFill>
                  <a:schemeClr val="dk1"/>
                </a:solidFill>
                <a:latin typeface="Poppins"/>
                <a:ea typeface="Poppins"/>
                <a:cs typeface="Poppins"/>
                <a:sym typeface="Poppins"/>
              </a:rPr>
              <a:t>Ces couches manipulent des coordonnées de bounding boxes (valeurs &gt; 100). L'algorithme de calibration "Entropy" a coupé ces valeurs (clipping), provoquant une perte d'information massive.</a:t>
            </a:r>
            <a:endParaRPr sz="900">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None/>
            </a:pPr>
            <a:r>
              <a:t/>
            </a:r>
            <a:endParaRPr sz="900">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rPr b="1" lang="fr" sz="1000" u="sng">
                <a:solidFill>
                  <a:schemeClr val="dk1"/>
                </a:solidFill>
                <a:latin typeface="Poppins"/>
                <a:ea typeface="Poppins"/>
                <a:cs typeface="Poppins"/>
                <a:sym typeface="Poppins"/>
              </a:rPr>
              <a:t>Identification Secondaire :</a:t>
            </a:r>
            <a:endParaRPr b="1" sz="1000" u="sng">
              <a:solidFill>
                <a:schemeClr val="dk1"/>
              </a:solidFill>
              <a:latin typeface="Poppins"/>
              <a:ea typeface="Poppins"/>
              <a:cs typeface="Poppins"/>
              <a:sym typeface="Poppins"/>
            </a:endParaRPr>
          </a:p>
          <a:p>
            <a:pPr indent="-292100" lvl="0" marL="457200" marR="0" rtl="0" algn="l">
              <a:lnSpc>
                <a:spcPct val="15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Conv_596 (MSE ~75) </a:t>
            </a:r>
            <a:endParaRPr sz="1000">
              <a:solidFill>
                <a:schemeClr val="dk1"/>
              </a:solidFill>
              <a:latin typeface="Poppins"/>
              <a:ea typeface="Poppins"/>
              <a:cs typeface="Poppins"/>
              <a:sym typeface="Poppins"/>
            </a:endParaRPr>
          </a:p>
          <a:p>
            <a:pPr indent="-292100" lvl="0" marL="457200" marR="0" rtl="0" algn="l">
              <a:lnSpc>
                <a:spcPct val="15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Concat_597 (MSE ~43)</a:t>
            </a:r>
            <a:endParaRPr sz="1000">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rPr b="1" lang="fr" sz="1000">
                <a:solidFill>
                  <a:schemeClr val="dk1"/>
                </a:solidFill>
                <a:latin typeface="Poppins"/>
                <a:ea typeface="Poppins"/>
                <a:cs typeface="Poppins"/>
                <a:sym typeface="Poppins"/>
              </a:rPr>
              <a:t>Diagnostic : </a:t>
            </a:r>
            <a:endParaRPr b="1" sz="1000">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None/>
            </a:pPr>
            <a:r>
              <a:rPr lang="fr" sz="900">
                <a:solidFill>
                  <a:schemeClr val="dk1"/>
                </a:solidFill>
                <a:latin typeface="Poppins"/>
                <a:ea typeface="Poppins"/>
                <a:cs typeface="Poppins"/>
                <a:sym typeface="Poppins"/>
              </a:rPr>
              <a:t>Erreur de biais (shift) typique des convolutions quantifiées et conflit d'échelles lors de la concaténation.</a:t>
            </a:r>
            <a:endParaRPr sz="900">
              <a:solidFill>
                <a:srgbClr val="000000"/>
              </a:solidFill>
              <a:latin typeface="Poppins"/>
              <a:ea typeface="Poppins"/>
              <a:cs typeface="Poppins"/>
              <a:sym typeface="Poppins"/>
            </a:endParaRPr>
          </a:p>
        </p:txBody>
      </p:sp>
      <p:sp>
        <p:nvSpPr>
          <p:cNvPr id="597" name="Google Shape;597;p51"/>
          <p:cNvSpPr/>
          <p:nvPr/>
        </p:nvSpPr>
        <p:spPr>
          <a:xfrm>
            <a:off x="700871" y="766821"/>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598" name="Google Shape;598;p51"/>
          <p:cNvSpPr/>
          <p:nvPr/>
        </p:nvSpPr>
        <p:spPr>
          <a:xfrm>
            <a:off x="5819172" y="593341"/>
            <a:ext cx="541200" cy="541200"/>
          </a:xfrm>
          <a:prstGeom prst="ellipse">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pic>
        <p:nvPicPr>
          <p:cNvPr id="599" name="Google Shape;599;p51"/>
          <p:cNvPicPr preferRelativeResize="0"/>
          <p:nvPr/>
        </p:nvPicPr>
        <p:blipFill rotWithShape="1">
          <a:blip r:embed="rId4">
            <a:alphaModFix/>
          </a:blip>
          <a:srcRect b="37807" l="0" r="0" t="0"/>
          <a:stretch/>
        </p:blipFill>
        <p:spPr>
          <a:xfrm>
            <a:off x="227400" y="766825"/>
            <a:ext cx="5958000" cy="2239800"/>
          </a:xfrm>
          <a:prstGeom prst="round2DiagRect">
            <a:avLst>
              <a:gd fmla="val 16667" name="adj1"/>
              <a:gd fmla="val 0" name="adj2"/>
            </a:avLst>
          </a:prstGeom>
          <a:noFill/>
          <a:ln cap="flat" cmpd="sng" w="38100">
            <a:solidFill>
              <a:schemeClr val="dk2"/>
            </a:solidFill>
            <a:prstDash val="solid"/>
            <a:round/>
            <a:headEnd len="sm" w="sm" type="none"/>
            <a:tailEnd len="sm" w="sm" type="none"/>
          </a:ln>
        </p:spPr>
      </p:pic>
      <p:sp>
        <p:nvSpPr>
          <p:cNvPr id="600" name="Google Shape;600;p51"/>
          <p:cNvSpPr txBox="1"/>
          <p:nvPr/>
        </p:nvSpPr>
        <p:spPr>
          <a:xfrm>
            <a:off x="615073" y="318007"/>
            <a:ext cx="34755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Analyse de Sensibilité (MSE)</a:t>
            </a:r>
            <a:endParaRPr sz="1100"/>
          </a:p>
        </p:txBody>
      </p:sp>
      <p:sp>
        <p:nvSpPr>
          <p:cNvPr id="601" name="Google Shape;601;p51"/>
          <p:cNvSpPr/>
          <p:nvPr/>
        </p:nvSpPr>
        <p:spPr>
          <a:xfrm>
            <a:off x="700871" y="662737"/>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02" name="Google Shape;602;p51"/>
          <p:cNvSpPr txBox="1"/>
          <p:nvPr/>
        </p:nvSpPr>
        <p:spPr>
          <a:xfrm>
            <a:off x="0" y="3405300"/>
            <a:ext cx="6185400" cy="16086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None/>
            </a:pPr>
            <a:r>
              <a:rPr b="1" lang="fr" sz="1000" u="sng">
                <a:solidFill>
                  <a:schemeClr val="dk1"/>
                </a:solidFill>
                <a:latin typeface="Poppins"/>
                <a:ea typeface="Poppins"/>
                <a:cs typeface="Poppins"/>
                <a:sym typeface="Poppins"/>
              </a:rPr>
              <a:t>Solution idéale : </a:t>
            </a:r>
            <a:endParaRPr b="1" sz="1000" u="sng">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None/>
            </a:pPr>
            <a:r>
              <a:rPr b="1" lang="fr" sz="1000">
                <a:solidFill>
                  <a:schemeClr val="dk1"/>
                </a:solidFill>
                <a:latin typeface="Poppins"/>
                <a:ea typeface="Poppins"/>
                <a:cs typeface="Poppins"/>
                <a:sym typeface="Poppins"/>
              </a:rPr>
              <a:t>Optimisation</a:t>
            </a:r>
            <a:endParaRPr b="1" sz="1000">
              <a:solidFill>
                <a:schemeClr val="dk1"/>
              </a:solidFill>
              <a:latin typeface="Poppins"/>
              <a:ea typeface="Poppins"/>
              <a:cs typeface="Poppins"/>
              <a:sym typeface="Poppins"/>
            </a:endParaRPr>
          </a:p>
          <a:p>
            <a:pPr indent="-292100" lvl="0" marL="457200" marR="0" rtl="0" algn="just">
              <a:lnSpc>
                <a:spcPct val="10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Sur les Conv : La </a:t>
            </a:r>
            <a:r>
              <a:rPr i="1" lang="fr" sz="1000" u="sng">
                <a:solidFill>
                  <a:schemeClr val="dk1"/>
                </a:solidFill>
                <a:latin typeface="Poppins"/>
                <a:ea typeface="Poppins"/>
                <a:cs typeface="Poppins"/>
                <a:sym typeface="Poppins"/>
              </a:rPr>
              <a:t>BiasCorrection</a:t>
            </a:r>
            <a:r>
              <a:rPr lang="fr" sz="1000">
                <a:solidFill>
                  <a:schemeClr val="dk1"/>
                </a:solidFill>
                <a:latin typeface="Poppins"/>
                <a:ea typeface="Poppins"/>
                <a:cs typeface="Poppins"/>
                <a:sym typeface="Poppins"/>
              </a:rPr>
              <a:t> va recalculer les biais pour annuler l'erreur moyenne. On attend une chute du MSE .</a:t>
            </a:r>
            <a:endParaRPr sz="1000">
              <a:solidFill>
                <a:schemeClr val="dk1"/>
              </a:solidFill>
              <a:latin typeface="Poppins"/>
              <a:ea typeface="Poppins"/>
              <a:cs typeface="Poppins"/>
              <a:sym typeface="Poppins"/>
            </a:endParaRPr>
          </a:p>
          <a:p>
            <a:pPr indent="-292100" lvl="0" marL="457200" marR="0" rtl="0" algn="just">
              <a:lnSpc>
                <a:spcPct val="10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Sur les Mul : </a:t>
            </a:r>
            <a:r>
              <a:rPr i="1" lang="fr" sz="1000" u="sng">
                <a:solidFill>
                  <a:schemeClr val="dk1"/>
                </a:solidFill>
                <a:latin typeface="Poppins"/>
                <a:ea typeface="Poppins"/>
                <a:cs typeface="Poppins"/>
                <a:sym typeface="Poppins"/>
              </a:rPr>
              <a:t>L'ActivationSymmetric</a:t>
            </a:r>
            <a:r>
              <a:rPr lang="fr" sz="1000">
                <a:solidFill>
                  <a:schemeClr val="dk1"/>
                </a:solidFill>
                <a:latin typeface="Poppins"/>
                <a:ea typeface="Poppins"/>
                <a:cs typeface="Poppins"/>
                <a:sym typeface="Poppins"/>
              </a:rPr>
              <a:t> va offrir 256 niveaux pour les coordonnées positives au lieu de 128.</a:t>
            </a:r>
            <a:endParaRPr sz="1000">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None/>
            </a:pPr>
            <a:r>
              <a:rPr b="1" lang="fr" sz="1000">
                <a:solidFill>
                  <a:schemeClr val="dk1"/>
                </a:solidFill>
                <a:latin typeface="Poppins"/>
                <a:ea typeface="Poppins"/>
                <a:cs typeface="Poppins"/>
                <a:sym typeface="Poppins"/>
              </a:rPr>
              <a:t>Amélioration. </a:t>
            </a:r>
            <a:endParaRPr b="1" sz="1000">
              <a:solidFill>
                <a:schemeClr val="dk1"/>
              </a:solidFill>
              <a:latin typeface="Poppins"/>
              <a:ea typeface="Poppins"/>
              <a:cs typeface="Poppins"/>
              <a:sym typeface="Poppins"/>
            </a:endParaRPr>
          </a:p>
          <a:p>
            <a:pPr indent="-292100" lvl="0" marL="457200" marR="0" rtl="0" algn="just">
              <a:lnSpc>
                <a:spcPct val="100000"/>
              </a:lnSpc>
              <a:spcBef>
                <a:spcPts val="0"/>
              </a:spcBef>
              <a:spcAft>
                <a:spcPts val="0"/>
              </a:spcAft>
              <a:buClr>
                <a:schemeClr val="dk1"/>
              </a:buClr>
              <a:buSzPts val="1000"/>
              <a:buFont typeface="Poppins"/>
              <a:buChar char="●"/>
            </a:pPr>
            <a:r>
              <a:rPr lang="fr" sz="1000">
                <a:solidFill>
                  <a:schemeClr val="dk1"/>
                </a:solidFill>
                <a:latin typeface="Poppins"/>
                <a:ea typeface="Poppins"/>
                <a:cs typeface="Poppins"/>
                <a:sym typeface="Poppins"/>
              </a:rPr>
              <a:t>Sur les Mul : Le </a:t>
            </a:r>
            <a:r>
              <a:rPr i="1" lang="fr" sz="1000" u="sng">
                <a:solidFill>
                  <a:schemeClr val="dk1"/>
                </a:solidFill>
                <a:latin typeface="Poppins"/>
                <a:ea typeface="Poppins"/>
                <a:cs typeface="Poppins"/>
                <a:sym typeface="Poppins"/>
              </a:rPr>
              <a:t>MinMax</a:t>
            </a:r>
            <a:r>
              <a:rPr lang="fr" sz="1000">
                <a:solidFill>
                  <a:schemeClr val="dk1"/>
                </a:solidFill>
                <a:latin typeface="Poppins"/>
                <a:ea typeface="Poppins"/>
                <a:cs typeface="Poppins"/>
                <a:sym typeface="Poppins"/>
              </a:rPr>
              <a:t> oblige le quantifieur à prendre la valeur maximale (640) comme borne supérieure. Le clipping disparaît mathématiquement. Le MSE devrait s'effondrer.</a:t>
            </a:r>
            <a:endParaRPr sz="1000">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None/>
            </a:pPr>
            <a:r>
              <a:t/>
            </a:r>
            <a:endParaRPr b="1" sz="1000">
              <a:solidFill>
                <a:schemeClr val="dk1"/>
              </a:solidFill>
              <a:latin typeface="Poppins"/>
              <a:ea typeface="Poppins"/>
              <a:cs typeface="Poppins"/>
              <a:sym typeface="Poppins"/>
            </a:endParaRPr>
          </a:p>
        </p:txBody>
      </p:sp>
      <p:sp>
        <p:nvSpPr>
          <p:cNvPr id="603" name="Google Shape;603;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latin typeface="Poppins"/>
                <a:ea typeface="Poppins"/>
                <a:cs typeface="Poppins"/>
                <a:sym typeface="Poppins"/>
              </a:rPr>
              <a:t>‹#›</a:t>
            </a:fld>
            <a:endParaRPr>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52"/>
          <p:cNvSpPr/>
          <p:nvPr/>
        </p:nvSpPr>
        <p:spPr>
          <a:xfrm>
            <a:off x="0" y="0"/>
            <a:ext cx="3664800" cy="5064300"/>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10" name="Google Shape;610;p52"/>
          <p:cNvSpPr/>
          <p:nvPr/>
        </p:nvSpPr>
        <p:spPr>
          <a:xfrm>
            <a:off x="2442576" y="735923"/>
            <a:ext cx="439800" cy="430500"/>
          </a:xfrm>
          <a:prstGeom prst="rect">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11" name="Google Shape;611;p52"/>
          <p:cNvSpPr/>
          <p:nvPr/>
        </p:nvSpPr>
        <p:spPr>
          <a:xfrm>
            <a:off x="739800" y="4350661"/>
            <a:ext cx="466200" cy="466200"/>
          </a:xfrm>
          <a:prstGeom prst="ellipse">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u="sng">
              <a:solidFill>
                <a:schemeClr val="lt1"/>
              </a:solidFill>
              <a:latin typeface="Quattrocento Sans"/>
              <a:ea typeface="Quattrocento Sans"/>
              <a:cs typeface="Quattrocento Sans"/>
              <a:sym typeface="Quattrocento Sans"/>
            </a:endParaRPr>
          </a:p>
        </p:txBody>
      </p:sp>
      <p:sp>
        <p:nvSpPr>
          <p:cNvPr id="612" name="Google Shape;612;p52"/>
          <p:cNvSpPr/>
          <p:nvPr/>
        </p:nvSpPr>
        <p:spPr>
          <a:xfrm>
            <a:off x="384121" y="411375"/>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13" name="Google Shape;613;p52"/>
          <p:cNvSpPr txBox="1"/>
          <p:nvPr/>
        </p:nvSpPr>
        <p:spPr>
          <a:xfrm>
            <a:off x="3664800" y="6700"/>
            <a:ext cx="5268000" cy="5064300"/>
          </a:xfrm>
          <a:prstGeom prst="rect">
            <a:avLst/>
          </a:prstGeom>
          <a:noFill/>
          <a:ln>
            <a:noFill/>
          </a:ln>
        </p:spPr>
        <p:txBody>
          <a:bodyPr anchorCtr="0" anchor="ctr" bIns="34275" lIns="68575" spcFirstLastPara="1" rIns="68575" wrap="square" tIns="34275">
            <a:noAutofit/>
          </a:bodyPr>
          <a:lstStyle/>
          <a:p>
            <a:pPr indent="-228600" lvl="0" marL="457200" rtl="0" algn="l">
              <a:lnSpc>
                <a:spcPct val="115000"/>
              </a:lnSpc>
              <a:spcBef>
                <a:spcPts val="0"/>
              </a:spcBef>
              <a:spcAft>
                <a:spcPts val="0"/>
              </a:spcAft>
              <a:buNone/>
            </a:pPr>
            <a:r>
              <a:rPr b="1" lang="fr" sz="1100">
                <a:solidFill>
                  <a:schemeClr val="dk1"/>
                </a:solidFill>
                <a:latin typeface="Poppins"/>
                <a:ea typeface="Poppins"/>
                <a:cs typeface="Poppins"/>
                <a:sym typeface="Poppins"/>
              </a:rPr>
              <a:t>Le Problème Technique : Les "BatchNorms Résistants"</a:t>
            </a:r>
            <a:endParaRPr b="1" sz="11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lang="fr" sz="1100">
                <a:solidFill>
                  <a:schemeClr val="dk1"/>
                </a:solidFill>
                <a:latin typeface="Poppins"/>
                <a:ea typeface="Poppins"/>
                <a:cs typeface="Poppins"/>
                <a:sym typeface="Poppins"/>
              </a:rPr>
              <a:t>Certaines couches de normalisation (BatchNormalization) ne peuvent pas être fusionnées mathématiquement avec les convolutions (dimensions dynamiques ou structure complexe).</a:t>
            </a:r>
            <a:endParaRPr sz="1100">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Char char="●"/>
            </a:pPr>
            <a:r>
              <a:rPr b="1" lang="fr" sz="1100">
                <a:solidFill>
                  <a:schemeClr val="dk1"/>
                </a:solidFill>
                <a:latin typeface="Poppins"/>
                <a:ea typeface="Poppins"/>
                <a:cs typeface="Poppins"/>
                <a:sym typeface="Poppins"/>
              </a:rPr>
              <a:t>Blocage :</a:t>
            </a:r>
            <a:r>
              <a:rPr lang="fr" sz="1100">
                <a:solidFill>
                  <a:schemeClr val="dk1"/>
                </a:solidFill>
                <a:latin typeface="Poppins"/>
                <a:ea typeface="Poppins"/>
                <a:cs typeface="Poppins"/>
                <a:sym typeface="Poppins"/>
              </a:rPr>
              <a:t> Ces couches ont des poids 1D (Rank 1). La quantification standard "Per-Channel" (optimisée pour les poids 4D) échoue techniquement sur ces poids (Axis out of range error).</a:t>
            </a:r>
            <a:endParaRPr sz="11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fr" sz="1100">
                <a:solidFill>
                  <a:schemeClr val="dk1"/>
                </a:solidFill>
                <a:latin typeface="Poppins"/>
                <a:ea typeface="Poppins"/>
                <a:cs typeface="Poppins"/>
                <a:sym typeface="Poppins"/>
              </a:rPr>
              <a:t>La Solution : Quantification en 2 Passes (Two-Pass Strategy)</a:t>
            </a:r>
            <a:endParaRPr b="1" sz="11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Char char="●"/>
            </a:pPr>
            <a:r>
              <a:rPr b="1" lang="fr" sz="1100">
                <a:solidFill>
                  <a:schemeClr val="dk1"/>
                </a:solidFill>
                <a:latin typeface="Poppins"/>
                <a:ea typeface="Poppins"/>
                <a:cs typeface="Poppins"/>
                <a:sym typeface="Poppins"/>
              </a:rPr>
              <a:t>Passe 1 (Précision) :</a:t>
            </a:r>
            <a:r>
              <a:rPr lang="fr" sz="1100">
                <a:solidFill>
                  <a:schemeClr val="dk1"/>
                </a:solidFill>
                <a:latin typeface="Poppins"/>
                <a:ea typeface="Poppins"/>
                <a:cs typeface="Poppins"/>
                <a:sym typeface="Poppins"/>
              </a:rPr>
              <a:t> Quantification </a:t>
            </a:r>
            <a:r>
              <a:rPr b="1" lang="fr" sz="1100">
                <a:solidFill>
                  <a:schemeClr val="dk1"/>
                </a:solidFill>
                <a:latin typeface="Poppins"/>
                <a:ea typeface="Poppins"/>
                <a:cs typeface="Poppins"/>
                <a:sym typeface="Poppins"/>
              </a:rPr>
              <a:t>Per-Channel</a:t>
            </a:r>
            <a:r>
              <a:rPr lang="fr" sz="1100">
                <a:solidFill>
                  <a:schemeClr val="dk1"/>
                </a:solidFill>
                <a:latin typeface="Poppins"/>
                <a:ea typeface="Poppins"/>
                <a:cs typeface="Poppins"/>
                <a:sym typeface="Poppins"/>
              </a:rPr>
              <a:t> de 99% du réseau (Convolutions).</a:t>
            </a:r>
            <a:endParaRPr sz="1100">
              <a:solidFill>
                <a:schemeClr val="dk1"/>
              </a:solidFill>
              <a:latin typeface="Poppins"/>
              <a:ea typeface="Poppins"/>
              <a:cs typeface="Poppins"/>
              <a:sym typeface="Poppins"/>
            </a:endParaRPr>
          </a:p>
          <a:p>
            <a:pPr indent="-298450" lvl="1" marL="914400" rtl="0" algn="l">
              <a:lnSpc>
                <a:spcPct val="115000"/>
              </a:lnSpc>
              <a:spcBef>
                <a:spcPts val="0"/>
              </a:spcBef>
              <a:spcAft>
                <a:spcPts val="0"/>
              </a:spcAft>
              <a:buClr>
                <a:schemeClr val="dk1"/>
              </a:buClr>
              <a:buSzPts val="1100"/>
              <a:buFont typeface="Poppins"/>
              <a:buChar char="○"/>
            </a:pPr>
            <a:r>
              <a:rPr i="1" lang="fr" sz="1100">
                <a:solidFill>
                  <a:schemeClr val="dk1"/>
                </a:solidFill>
                <a:latin typeface="Poppins"/>
                <a:ea typeface="Poppins"/>
                <a:cs typeface="Poppins"/>
                <a:sym typeface="Poppins"/>
              </a:rPr>
              <a:t>Action :</a:t>
            </a:r>
            <a:r>
              <a:rPr lang="fr" sz="1100">
                <a:solidFill>
                  <a:schemeClr val="dk1"/>
                </a:solidFill>
                <a:latin typeface="Poppins"/>
                <a:ea typeface="Poppins"/>
                <a:cs typeface="Poppins"/>
                <a:sym typeface="Poppins"/>
              </a:rPr>
              <a:t> Exclusion explicite des poids incompatibles.</a:t>
            </a:r>
            <a:endParaRPr sz="1100">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Char char="●"/>
            </a:pPr>
            <a:r>
              <a:rPr b="1" lang="fr" sz="1100">
                <a:solidFill>
                  <a:schemeClr val="dk1"/>
                </a:solidFill>
                <a:latin typeface="Poppins"/>
                <a:ea typeface="Poppins"/>
                <a:cs typeface="Poppins"/>
                <a:sym typeface="Poppins"/>
              </a:rPr>
              <a:t>Passe 2 (Compatibilité) :</a:t>
            </a:r>
            <a:r>
              <a:rPr lang="fr" sz="1100">
                <a:solidFill>
                  <a:schemeClr val="dk1"/>
                </a:solidFill>
                <a:latin typeface="Poppins"/>
                <a:ea typeface="Poppins"/>
                <a:cs typeface="Poppins"/>
                <a:sym typeface="Poppins"/>
              </a:rPr>
              <a:t> Quantification </a:t>
            </a:r>
            <a:r>
              <a:rPr b="1" lang="fr" sz="1100">
                <a:solidFill>
                  <a:schemeClr val="dk1"/>
                </a:solidFill>
                <a:latin typeface="Poppins"/>
                <a:ea typeface="Poppins"/>
                <a:cs typeface="Poppins"/>
                <a:sym typeface="Poppins"/>
              </a:rPr>
              <a:t>Per-Tensor</a:t>
            </a:r>
            <a:r>
              <a:rPr lang="fr" sz="1100">
                <a:solidFill>
                  <a:schemeClr val="dk1"/>
                </a:solidFill>
                <a:latin typeface="Poppins"/>
                <a:ea typeface="Poppins"/>
                <a:cs typeface="Poppins"/>
                <a:sym typeface="Poppins"/>
              </a:rPr>
              <a:t> des 1% restants (les BatchNorms exclus).</a:t>
            </a:r>
            <a:endParaRPr sz="1100">
              <a:solidFill>
                <a:schemeClr val="dk1"/>
              </a:solidFill>
              <a:latin typeface="Poppins"/>
              <a:ea typeface="Poppins"/>
              <a:cs typeface="Poppins"/>
              <a:sym typeface="Poppins"/>
            </a:endParaRPr>
          </a:p>
          <a:p>
            <a:pPr indent="-298450" lvl="1" marL="914400" rtl="0" algn="l">
              <a:lnSpc>
                <a:spcPct val="115000"/>
              </a:lnSpc>
              <a:spcBef>
                <a:spcPts val="0"/>
              </a:spcBef>
              <a:spcAft>
                <a:spcPts val="0"/>
              </a:spcAft>
              <a:buClr>
                <a:schemeClr val="dk1"/>
              </a:buClr>
              <a:buSzPts val="1100"/>
              <a:buFont typeface="Poppins"/>
              <a:buChar char="○"/>
            </a:pPr>
            <a:r>
              <a:rPr i="1" lang="fr" sz="1100">
                <a:solidFill>
                  <a:schemeClr val="dk1"/>
                </a:solidFill>
                <a:latin typeface="Poppins"/>
                <a:ea typeface="Poppins"/>
                <a:cs typeface="Poppins"/>
                <a:sym typeface="Poppins"/>
              </a:rPr>
              <a:t>Action :</a:t>
            </a:r>
            <a:r>
              <a:rPr lang="fr" sz="1100">
                <a:solidFill>
                  <a:schemeClr val="dk1"/>
                </a:solidFill>
                <a:latin typeface="Poppins"/>
                <a:ea typeface="Poppins"/>
                <a:cs typeface="Poppins"/>
                <a:sym typeface="Poppins"/>
              </a:rPr>
              <a:t> Reprise du modèle semi-quantifié et traitement des résidus.</a:t>
            </a:r>
            <a:endParaRPr sz="11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fr" sz="1100">
                <a:solidFill>
                  <a:schemeClr val="dk1"/>
                </a:solidFill>
                <a:latin typeface="Poppins"/>
                <a:ea typeface="Poppins"/>
                <a:cs typeface="Poppins"/>
                <a:sym typeface="Poppins"/>
              </a:rPr>
              <a:t>Résultat Final :</a:t>
            </a:r>
            <a:endParaRPr b="1" sz="1100">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Char char="●"/>
            </a:pPr>
            <a:r>
              <a:rPr lang="fr" sz="1100">
                <a:solidFill>
                  <a:schemeClr val="dk1"/>
                </a:solidFill>
                <a:latin typeface="Poppins"/>
                <a:ea typeface="Poppins"/>
                <a:cs typeface="Poppins"/>
                <a:sym typeface="Poppins"/>
              </a:rPr>
              <a:t>Modèle </a:t>
            </a:r>
            <a:r>
              <a:rPr b="1" lang="fr" sz="1100">
                <a:solidFill>
                  <a:schemeClr val="dk1"/>
                </a:solidFill>
                <a:latin typeface="Poppins"/>
                <a:ea typeface="Poppins"/>
                <a:cs typeface="Poppins"/>
                <a:sym typeface="Poppins"/>
              </a:rPr>
              <a:t>100% INT8</a:t>
            </a:r>
            <a:r>
              <a:rPr lang="fr" sz="1100">
                <a:solidFill>
                  <a:schemeClr val="dk1"/>
                </a:solidFill>
                <a:latin typeface="Poppins"/>
                <a:ea typeface="Poppins"/>
                <a:cs typeface="Poppins"/>
                <a:sym typeface="Poppins"/>
              </a:rPr>
              <a:t>.</a:t>
            </a:r>
            <a:endParaRPr sz="1100">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Char char="●"/>
            </a:pPr>
            <a:r>
              <a:rPr b="1" lang="fr" sz="1100">
                <a:solidFill>
                  <a:schemeClr val="dk1"/>
                </a:solidFill>
                <a:latin typeface="Poppins"/>
                <a:ea typeface="Poppins"/>
                <a:cs typeface="Poppins"/>
                <a:sym typeface="Poppins"/>
              </a:rPr>
              <a:t>Zéro perte de précision</a:t>
            </a:r>
            <a:r>
              <a:rPr lang="fr" sz="1100">
                <a:solidFill>
                  <a:schemeClr val="dk1"/>
                </a:solidFill>
                <a:latin typeface="Poppins"/>
                <a:ea typeface="Poppins"/>
                <a:cs typeface="Poppins"/>
                <a:sym typeface="Poppins"/>
              </a:rPr>
              <a:t> sur les convolutions (car traitées en Per-Channel).</a:t>
            </a:r>
            <a:endParaRPr sz="1100">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Char char="●"/>
            </a:pPr>
            <a:r>
              <a:rPr b="1" lang="fr" sz="1100">
                <a:solidFill>
                  <a:schemeClr val="dk1"/>
                </a:solidFill>
                <a:latin typeface="Poppins"/>
                <a:ea typeface="Poppins"/>
                <a:cs typeface="Poppins"/>
                <a:sym typeface="Poppins"/>
              </a:rPr>
              <a:t>Stabilité technique</a:t>
            </a:r>
            <a:r>
              <a:rPr lang="fr" sz="1100">
                <a:solidFill>
                  <a:schemeClr val="dk1"/>
                </a:solidFill>
                <a:latin typeface="Poppins"/>
                <a:ea typeface="Poppins"/>
                <a:cs typeface="Poppins"/>
                <a:sym typeface="Poppins"/>
              </a:rPr>
              <a:t> (disparition des warnings/crashs).</a:t>
            </a:r>
            <a:endParaRPr b="1" sz="1100">
              <a:solidFill>
                <a:schemeClr val="dk1"/>
              </a:solidFill>
              <a:latin typeface="Poppins"/>
              <a:ea typeface="Poppins"/>
              <a:cs typeface="Poppins"/>
              <a:sym typeface="Poppins"/>
            </a:endParaRPr>
          </a:p>
        </p:txBody>
      </p:sp>
      <p:sp>
        <p:nvSpPr>
          <p:cNvPr id="614" name="Google Shape;614;p52"/>
          <p:cNvSpPr/>
          <p:nvPr/>
        </p:nvSpPr>
        <p:spPr>
          <a:xfrm>
            <a:off x="8148156" y="313713"/>
            <a:ext cx="170700" cy="170700"/>
          </a:xfrm>
          <a:prstGeom prst="ellipse">
            <a:avLst/>
          </a:prstGeom>
          <a:solidFill>
            <a:srgbClr val="DC943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15" name="Google Shape;615;p52"/>
          <p:cNvSpPr/>
          <p:nvPr/>
        </p:nvSpPr>
        <p:spPr>
          <a:xfrm>
            <a:off x="8430187" y="-400151"/>
            <a:ext cx="502500" cy="502500"/>
          </a:xfrm>
          <a:prstGeom prst="ellipse">
            <a:avLst/>
          </a:prstGeom>
          <a:noFill/>
          <a:ln cap="flat" cmpd="sng" w="57150">
            <a:solidFill>
              <a:srgbClr val="D2565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16" name="Google Shape;616;p52"/>
          <p:cNvSpPr txBox="1"/>
          <p:nvPr/>
        </p:nvSpPr>
        <p:spPr>
          <a:xfrm>
            <a:off x="298325" y="102350"/>
            <a:ext cx="34137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Quantification Hybride</a:t>
            </a:r>
            <a:endParaRPr sz="1100"/>
          </a:p>
        </p:txBody>
      </p:sp>
      <p:pic>
        <p:nvPicPr>
          <p:cNvPr id="617" name="Google Shape;617;p52" title="Untitled Diagram.drawio33.png"/>
          <p:cNvPicPr preferRelativeResize="0"/>
          <p:nvPr/>
        </p:nvPicPr>
        <p:blipFill>
          <a:blip r:embed="rId3">
            <a:alphaModFix/>
          </a:blip>
          <a:stretch>
            <a:fillRect/>
          </a:stretch>
        </p:blipFill>
        <p:spPr>
          <a:xfrm>
            <a:off x="944700" y="893300"/>
            <a:ext cx="1775400" cy="3735300"/>
          </a:xfrm>
          <a:prstGeom prst="round2DiagRect">
            <a:avLst>
              <a:gd fmla="val 16667" name="adj1"/>
              <a:gd fmla="val 0" name="adj2"/>
            </a:avLst>
          </a:prstGeom>
          <a:noFill/>
          <a:ln cap="flat" cmpd="sng" w="28575">
            <a:solidFill>
              <a:srgbClr val="000000"/>
            </a:solidFill>
            <a:prstDash val="solid"/>
            <a:round/>
            <a:headEnd len="sm" w="sm" type="none"/>
            <a:tailEnd len="sm" w="sm" type="none"/>
          </a:ln>
        </p:spPr>
      </p:pic>
      <p:sp>
        <p:nvSpPr>
          <p:cNvPr id="618" name="Google Shape;618;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53"/>
          <p:cNvSpPr/>
          <p:nvPr/>
        </p:nvSpPr>
        <p:spPr>
          <a:xfrm>
            <a:off x="0" y="0"/>
            <a:ext cx="3664800" cy="5064300"/>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25" name="Google Shape;625;p53"/>
          <p:cNvSpPr/>
          <p:nvPr/>
        </p:nvSpPr>
        <p:spPr>
          <a:xfrm>
            <a:off x="2715601" y="1238273"/>
            <a:ext cx="439800" cy="430500"/>
          </a:xfrm>
          <a:prstGeom prst="rect">
            <a:avLst/>
          </a:prstGeom>
          <a:solidFill>
            <a:srgbClr val="36C1C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26" name="Google Shape;626;p53"/>
          <p:cNvSpPr/>
          <p:nvPr/>
        </p:nvSpPr>
        <p:spPr>
          <a:xfrm>
            <a:off x="516275" y="3422436"/>
            <a:ext cx="466200" cy="466200"/>
          </a:xfrm>
          <a:prstGeom prst="ellipse">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u="sng">
              <a:solidFill>
                <a:schemeClr val="lt1"/>
              </a:solidFill>
              <a:latin typeface="Quattrocento Sans"/>
              <a:ea typeface="Quattrocento Sans"/>
              <a:cs typeface="Quattrocento Sans"/>
              <a:sym typeface="Quattrocento Sans"/>
            </a:endParaRPr>
          </a:p>
        </p:txBody>
      </p:sp>
      <p:sp>
        <p:nvSpPr>
          <p:cNvPr id="627" name="Google Shape;627;p53"/>
          <p:cNvSpPr/>
          <p:nvPr/>
        </p:nvSpPr>
        <p:spPr>
          <a:xfrm>
            <a:off x="384121" y="411375"/>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28" name="Google Shape;628;p53"/>
          <p:cNvSpPr txBox="1"/>
          <p:nvPr/>
        </p:nvSpPr>
        <p:spPr>
          <a:xfrm>
            <a:off x="3664800" y="6700"/>
            <a:ext cx="5268000" cy="5064300"/>
          </a:xfrm>
          <a:prstGeom prst="rect">
            <a:avLst/>
          </a:prstGeom>
          <a:noFill/>
          <a:ln>
            <a:noFill/>
          </a:ln>
        </p:spPr>
        <p:txBody>
          <a:bodyPr anchorCtr="0" anchor="ctr" bIns="34275" lIns="68575" spcFirstLastPara="1" rIns="68575" wrap="square" tIns="34275">
            <a:noAutofit/>
          </a:bodyPr>
          <a:lstStyle/>
          <a:p>
            <a:pPr indent="-298450" lvl="0" marL="457200" rtl="0" algn="l">
              <a:lnSpc>
                <a:spcPct val="115000"/>
              </a:lnSpc>
              <a:spcBef>
                <a:spcPts val="0"/>
              </a:spcBef>
              <a:spcAft>
                <a:spcPts val="0"/>
              </a:spcAft>
              <a:buClr>
                <a:schemeClr val="dk1"/>
              </a:buClr>
              <a:buSzPts val="1100"/>
              <a:buFont typeface="Poppins"/>
              <a:buChar char="●"/>
            </a:pPr>
            <a:r>
              <a:rPr b="1" lang="fr" sz="1100">
                <a:solidFill>
                  <a:schemeClr val="dk1"/>
                </a:solidFill>
                <a:latin typeface="Poppins"/>
                <a:ea typeface="Poppins"/>
                <a:cs typeface="Poppins"/>
                <a:sym typeface="Poppins"/>
              </a:rPr>
              <a:t>La Solution Théorique Idéale :</a:t>
            </a:r>
            <a:endParaRPr b="1" sz="1100">
              <a:solidFill>
                <a:schemeClr val="dk1"/>
              </a:solidFill>
              <a:latin typeface="Poppins"/>
              <a:ea typeface="Poppins"/>
              <a:cs typeface="Poppins"/>
              <a:sym typeface="Poppins"/>
            </a:endParaRPr>
          </a:p>
          <a:p>
            <a:pPr indent="-298450" lvl="1" marL="914400" rtl="0" algn="l">
              <a:lnSpc>
                <a:spcPct val="115000"/>
              </a:lnSpc>
              <a:spcBef>
                <a:spcPts val="0"/>
              </a:spcBef>
              <a:spcAft>
                <a:spcPts val="0"/>
              </a:spcAft>
              <a:buClr>
                <a:schemeClr val="dk1"/>
              </a:buClr>
              <a:buSzPts val="1100"/>
              <a:buChar char="○"/>
            </a:pPr>
            <a:r>
              <a:rPr lang="fr" sz="1100">
                <a:solidFill>
                  <a:schemeClr val="dk1"/>
                </a:solidFill>
                <a:latin typeface="Poppins"/>
                <a:ea typeface="Poppins"/>
                <a:cs typeface="Poppins"/>
                <a:sym typeface="Poppins"/>
              </a:rPr>
              <a:t>Traitement </a:t>
            </a:r>
            <a:r>
              <a:rPr b="1" lang="fr" sz="1100">
                <a:solidFill>
                  <a:schemeClr val="dk1"/>
                </a:solidFill>
                <a:latin typeface="Poppins"/>
                <a:ea typeface="Poppins"/>
                <a:cs typeface="Poppins"/>
                <a:sym typeface="Poppins"/>
              </a:rPr>
              <a:t>"à la carte"</a:t>
            </a:r>
            <a:r>
              <a:rPr lang="fr" sz="1100">
                <a:solidFill>
                  <a:schemeClr val="dk1"/>
                </a:solidFill>
                <a:latin typeface="Poppins"/>
                <a:ea typeface="Poppins"/>
                <a:cs typeface="Poppins"/>
                <a:sym typeface="Poppins"/>
              </a:rPr>
              <a:t> par type d'opération :</a:t>
            </a:r>
            <a:endParaRPr sz="1100">
              <a:solidFill>
                <a:schemeClr val="dk1"/>
              </a:solidFill>
              <a:latin typeface="Poppins"/>
              <a:ea typeface="Poppins"/>
              <a:cs typeface="Poppins"/>
              <a:sym typeface="Poppins"/>
            </a:endParaRPr>
          </a:p>
          <a:p>
            <a:pPr indent="-298450" lvl="2" marL="1371600" rtl="0" algn="l">
              <a:lnSpc>
                <a:spcPct val="115000"/>
              </a:lnSpc>
              <a:spcBef>
                <a:spcPts val="0"/>
              </a:spcBef>
              <a:spcAft>
                <a:spcPts val="0"/>
              </a:spcAft>
              <a:buClr>
                <a:schemeClr val="dk1"/>
              </a:buClr>
              <a:buSzPts val="1100"/>
              <a:buChar char="■"/>
            </a:pPr>
            <a:r>
              <a:rPr lang="fr" sz="1100">
                <a:solidFill>
                  <a:schemeClr val="dk1"/>
                </a:solidFill>
                <a:latin typeface="Poppins"/>
                <a:ea typeface="Poppins"/>
                <a:cs typeface="Poppins"/>
                <a:sym typeface="Poppins"/>
              </a:rPr>
              <a:t>Coordonnées (Mul) → </a:t>
            </a:r>
            <a:r>
              <a:rPr b="1" lang="fr" sz="1100">
                <a:solidFill>
                  <a:schemeClr val="dk1"/>
                </a:solidFill>
                <a:latin typeface="Poppins"/>
                <a:ea typeface="Poppins"/>
                <a:cs typeface="Poppins"/>
                <a:sym typeface="Poppins"/>
              </a:rPr>
              <a:t>Asymétrique</a:t>
            </a:r>
            <a:r>
              <a:rPr lang="fr" sz="1100">
                <a:solidFill>
                  <a:schemeClr val="dk1"/>
                </a:solidFill>
                <a:latin typeface="Poppins"/>
                <a:ea typeface="Poppins"/>
                <a:cs typeface="Poppins"/>
                <a:sym typeface="Poppins"/>
              </a:rPr>
              <a:t> (0-255).</a:t>
            </a:r>
            <a:endParaRPr sz="1100">
              <a:solidFill>
                <a:schemeClr val="dk1"/>
              </a:solidFill>
              <a:latin typeface="Poppins"/>
              <a:ea typeface="Poppins"/>
              <a:cs typeface="Poppins"/>
              <a:sym typeface="Poppins"/>
            </a:endParaRPr>
          </a:p>
          <a:p>
            <a:pPr indent="-298450" lvl="2" marL="1371600" rtl="0" algn="l">
              <a:lnSpc>
                <a:spcPct val="115000"/>
              </a:lnSpc>
              <a:spcBef>
                <a:spcPts val="0"/>
              </a:spcBef>
              <a:spcAft>
                <a:spcPts val="0"/>
              </a:spcAft>
              <a:buClr>
                <a:schemeClr val="dk1"/>
              </a:buClr>
              <a:buSzPts val="1100"/>
              <a:buChar char="■"/>
            </a:pPr>
            <a:r>
              <a:rPr lang="fr" sz="1100">
                <a:solidFill>
                  <a:schemeClr val="dk1"/>
                </a:solidFill>
                <a:latin typeface="Poppins"/>
                <a:ea typeface="Poppins"/>
                <a:cs typeface="Poppins"/>
                <a:sym typeface="Poppins"/>
              </a:rPr>
              <a:t>Convolutions (Conv) →</a:t>
            </a:r>
            <a:r>
              <a:rPr b="1" lang="fr" sz="1100">
                <a:solidFill>
                  <a:schemeClr val="dk1"/>
                </a:solidFill>
                <a:latin typeface="Poppins"/>
                <a:ea typeface="Poppins"/>
                <a:cs typeface="Poppins"/>
                <a:sym typeface="Poppins"/>
              </a:rPr>
              <a:t>Bias Correction</a:t>
            </a:r>
            <a:r>
              <a:rPr lang="fr" sz="1100">
                <a:solidFill>
                  <a:schemeClr val="dk1"/>
                </a:solidFill>
                <a:latin typeface="Poppins"/>
                <a:ea typeface="Poppins"/>
                <a:cs typeface="Poppins"/>
                <a:sym typeface="Poppins"/>
              </a:rPr>
              <a:t>.</a:t>
            </a:r>
            <a:endParaRPr sz="1100">
              <a:solidFill>
                <a:schemeClr val="dk1"/>
              </a:solidFill>
              <a:latin typeface="Poppins"/>
              <a:ea typeface="Poppins"/>
              <a:cs typeface="Poppins"/>
              <a:sym typeface="Poppins"/>
            </a:endParaRPr>
          </a:p>
          <a:p>
            <a:pPr indent="-298450" lvl="2" marL="1371600" rtl="0" algn="l">
              <a:lnSpc>
                <a:spcPct val="115000"/>
              </a:lnSpc>
              <a:spcBef>
                <a:spcPts val="0"/>
              </a:spcBef>
              <a:spcAft>
                <a:spcPts val="0"/>
              </a:spcAft>
              <a:buClr>
                <a:schemeClr val="dk1"/>
              </a:buClr>
              <a:buSzPts val="1100"/>
              <a:buChar char="■"/>
            </a:pPr>
            <a:r>
              <a:rPr lang="fr" sz="1100">
                <a:solidFill>
                  <a:schemeClr val="dk1"/>
                </a:solidFill>
                <a:latin typeface="Poppins"/>
                <a:ea typeface="Poppins"/>
                <a:cs typeface="Poppins"/>
                <a:sym typeface="Poppins"/>
              </a:rPr>
              <a:t>Normalisation (BN) → </a:t>
            </a:r>
            <a:r>
              <a:rPr b="1" lang="fr" sz="1100">
                <a:solidFill>
                  <a:schemeClr val="dk1"/>
                </a:solidFill>
                <a:latin typeface="Poppins"/>
                <a:ea typeface="Poppins"/>
                <a:cs typeface="Poppins"/>
                <a:sym typeface="Poppins"/>
              </a:rPr>
              <a:t>Per-Tensor</a:t>
            </a:r>
            <a:r>
              <a:rPr lang="fr" sz="1100">
                <a:solidFill>
                  <a:schemeClr val="dk1"/>
                </a:solidFill>
                <a:latin typeface="Poppins"/>
                <a:ea typeface="Poppins"/>
                <a:cs typeface="Poppins"/>
                <a:sym typeface="Poppins"/>
              </a:rPr>
              <a:t> (Compatibilité).</a:t>
            </a:r>
            <a:endParaRPr sz="1100">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fr" sz="1100">
                <a:solidFill>
                  <a:schemeClr val="dk1"/>
                </a:solidFill>
                <a:latin typeface="Poppins"/>
                <a:ea typeface="Poppins"/>
                <a:cs typeface="Poppins"/>
                <a:sym typeface="Poppins"/>
              </a:rPr>
              <a:t>Le Mur Technique (ONNX Runtime) :</a:t>
            </a:r>
            <a:endParaRPr b="1" sz="1100">
              <a:solidFill>
                <a:schemeClr val="dk1"/>
              </a:solidFill>
              <a:latin typeface="Poppins"/>
              <a:ea typeface="Poppins"/>
              <a:cs typeface="Poppins"/>
              <a:sym typeface="Poppins"/>
            </a:endParaRPr>
          </a:p>
          <a:p>
            <a:pPr indent="-298450" lvl="1" marL="914400" rtl="0" algn="l">
              <a:lnSpc>
                <a:spcPct val="115000"/>
              </a:lnSpc>
              <a:spcBef>
                <a:spcPts val="0"/>
              </a:spcBef>
              <a:spcAft>
                <a:spcPts val="0"/>
              </a:spcAft>
              <a:buClr>
                <a:schemeClr val="dk1"/>
              </a:buClr>
              <a:buSzPts val="1100"/>
              <a:buChar char="○"/>
            </a:pPr>
            <a:r>
              <a:rPr b="1" lang="fr" sz="1100">
                <a:solidFill>
                  <a:schemeClr val="dk1"/>
                </a:solidFill>
                <a:latin typeface="Poppins"/>
                <a:ea typeface="Poppins"/>
                <a:cs typeface="Poppins"/>
                <a:sym typeface="Poppins"/>
              </a:rPr>
              <a:t>Limitation structurelle :</a:t>
            </a:r>
            <a:r>
              <a:rPr lang="fr" sz="1100">
                <a:solidFill>
                  <a:schemeClr val="dk1"/>
                </a:solidFill>
                <a:latin typeface="Poppins"/>
                <a:ea typeface="Poppins"/>
                <a:cs typeface="Poppins"/>
                <a:sym typeface="Poppins"/>
              </a:rPr>
              <a:t> La librairie applique les options de quantification (ActivationSymmetric, BiasCorrection) de manière </a:t>
            </a:r>
            <a:r>
              <a:rPr b="1" lang="fr" sz="1100">
                <a:solidFill>
                  <a:schemeClr val="dk1"/>
                </a:solidFill>
                <a:latin typeface="Poppins"/>
                <a:ea typeface="Poppins"/>
                <a:cs typeface="Poppins"/>
                <a:sym typeface="Poppins"/>
              </a:rPr>
              <a:t>globale</a:t>
            </a:r>
            <a:r>
              <a:rPr lang="fr" sz="1100">
                <a:solidFill>
                  <a:schemeClr val="dk1"/>
                </a:solidFill>
                <a:latin typeface="Poppins"/>
                <a:ea typeface="Poppins"/>
                <a:cs typeface="Poppins"/>
                <a:sym typeface="Poppins"/>
              </a:rPr>
              <a:t> à tout le modèle.</a:t>
            </a:r>
            <a:endParaRPr sz="1100">
              <a:solidFill>
                <a:schemeClr val="dk1"/>
              </a:solidFill>
              <a:latin typeface="Poppins"/>
              <a:ea typeface="Poppins"/>
              <a:cs typeface="Poppins"/>
              <a:sym typeface="Poppins"/>
            </a:endParaRPr>
          </a:p>
          <a:p>
            <a:pPr indent="-298450" lvl="1" marL="914400" rtl="0" algn="l">
              <a:lnSpc>
                <a:spcPct val="115000"/>
              </a:lnSpc>
              <a:spcBef>
                <a:spcPts val="0"/>
              </a:spcBef>
              <a:spcAft>
                <a:spcPts val="0"/>
              </a:spcAft>
              <a:buClr>
                <a:schemeClr val="dk1"/>
              </a:buClr>
              <a:buSzPts val="1100"/>
              <a:buChar char="○"/>
            </a:pPr>
            <a:r>
              <a:rPr b="1" lang="fr" sz="1100">
                <a:solidFill>
                  <a:schemeClr val="dk1"/>
                </a:solidFill>
                <a:latin typeface="Poppins"/>
                <a:ea typeface="Poppins"/>
                <a:cs typeface="Poppins"/>
                <a:sym typeface="Poppins"/>
              </a:rPr>
              <a:t>Impossibilité :</a:t>
            </a:r>
            <a:r>
              <a:rPr lang="fr" sz="1100">
                <a:solidFill>
                  <a:schemeClr val="dk1"/>
                </a:solidFill>
                <a:latin typeface="Poppins"/>
                <a:ea typeface="Poppins"/>
                <a:cs typeface="Poppins"/>
                <a:sym typeface="Poppins"/>
              </a:rPr>
              <a:t> On ne peut pas configurer </a:t>
            </a:r>
            <a:r>
              <a:rPr i="1" lang="fr" sz="1100">
                <a:solidFill>
                  <a:schemeClr val="dk1"/>
                </a:solidFill>
                <a:latin typeface="Poppins"/>
                <a:ea typeface="Poppins"/>
                <a:cs typeface="Poppins"/>
                <a:sym typeface="Poppins"/>
              </a:rPr>
              <a:t>uniquement</a:t>
            </a:r>
            <a:r>
              <a:rPr lang="fr" sz="1100">
                <a:solidFill>
                  <a:schemeClr val="dk1"/>
                </a:solidFill>
                <a:latin typeface="Poppins"/>
                <a:ea typeface="Poppins"/>
                <a:cs typeface="Poppins"/>
                <a:sym typeface="Poppins"/>
              </a:rPr>
              <a:t> les Mul en asymétrique tout en gardant le reste en symétrique.</a:t>
            </a:r>
            <a:endParaRPr sz="1100">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b="1" lang="fr" sz="1100">
                <a:solidFill>
                  <a:schemeClr val="dk1"/>
                </a:solidFill>
                <a:latin typeface="Poppins"/>
                <a:ea typeface="Poppins"/>
                <a:cs typeface="Poppins"/>
                <a:sym typeface="Poppins"/>
              </a:rPr>
              <a:t>Résultat de l'Essai "Global" :</a:t>
            </a:r>
            <a:endParaRPr b="1" sz="1100">
              <a:solidFill>
                <a:schemeClr val="dk1"/>
              </a:solidFill>
              <a:latin typeface="Poppins"/>
              <a:ea typeface="Poppins"/>
              <a:cs typeface="Poppins"/>
              <a:sym typeface="Poppins"/>
            </a:endParaRPr>
          </a:p>
          <a:p>
            <a:pPr indent="-298450" lvl="1" marL="914400" rtl="0" algn="l">
              <a:lnSpc>
                <a:spcPct val="115000"/>
              </a:lnSpc>
              <a:spcBef>
                <a:spcPts val="0"/>
              </a:spcBef>
              <a:spcAft>
                <a:spcPts val="0"/>
              </a:spcAft>
              <a:buClr>
                <a:schemeClr val="dk1"/>
              </a:buClr>
              <a:buSzPts val="1100"/>
              <a:buFont typeface="Poppins"/>
              <a:buChar char="○"/>
            </a:pPr>
            <a:r>
              <a:rPr lang="fr" sz="1100">
                <a:solidFill>
                  <a:schemeClr val="dk1"/>
                </a:solidFill>
                <a:latin typeface="Poppins"/>
                <a:ea typeface="Poppins"/>
                <a:cs typeface="Poppins"/>
                <a:sym typeface="Poppins"/>
              </a:rPr>
              <a:t>Tentative d'activer toutes les options avancées sur l'ensemble du réseau.</a:t>
            </a:r>
            <a:endParaRPr sz="1100">
              <a:solidFill>
                <a:schemeClr val="dk1"/>
              </a:solidFill>
              <a:latin typeface="Poppins"/>
              <a:ea typeface="Poppins"/>
              <a:cs typeface="Poppins"/>
              <a:sym typeface="Poppins"/>
            </a:endParaRPr>
          </a:p>
          <a:p>
            <a:pPr indent="-298450" lvl="1" marL="914400" rtl="0" algn="l">
              <a:lnSpc>
                <a:spcPct val="115000"/>
              </a:lnSpc>
              <a:spcBef>
                <a:spcPts val="0"/>
              </a:spcBef>
              <a:spcAft>
                <a:spcPts val="0"/>
              </a:spcAft>
              <a:buClr>
                <a:schemeClr val="dk1"/>
              </a:buClr>
              <a:buSzPts val="1100"/>
              <a:buChar char="○"/>
            </a:pPr>
            <a:r>
              <a:rPr b="1" lang="fr" sz="1100">
                <a:solidFill>
                  <a:schemeClr val="dk1"/>
                </a:solidFill>
                <a:latin typeface="Poppins"/>
                <a:ea typeface="Poppins"/>
                <a:cs typeface="Poppins"/>
                <a:sym typeface="Poppins"/>
              </a:rPr>
              <a:t>Conséquence :</a:t>
            </a:r>
            <a:r>
              <a:rPr lang="fr" sz="1100">
                <a:solidFill>
                  <a:schemeClr val="dk1"/>
                </a:solidFill>
                <a:latin typeface="Poppins"/>
                <a:ea typeface="Poppins"/>
                <a:cs typeface="Poppins"/>
                <a:sym typeface="Poppins"/>
              </a:rPr>
              <a:t> Effondrement des performances</a:t>
            </a:r>
            <a:endParaRPr sz="1100">
              <a:solidFill>
                <a:schemeClr val="dk1"/>
              </a:solidFill>
              <a:latin typeface="Poppins"/>
              <a:ea typeface="Poppins"/>
              <a:cs typeface="Poppins"/>
              <a:sym typeface="Poppins"/>
            </a:endParaRPr>
          </a:p>
          <a:p>
            <a:pPr indent="-298450" lvl="1" marL="914400" rtl="0" algn="l">
              <a:lnSpc>
                <a:spcPct val="115000"/>
              </a:lnSpc>
              <a:spcBef>
                <a:spcPts val="0"/>
              </a:spcBef>
              <a:spcAft>
                <a:spcPts val="0"/>
              </a:spcAft>
              <a:buClr>
                <a:schemeClr val="dk1"/>
              </a:buClr>
              <a:buSzPts val="1100"/>
              <a:buChar char="○"/>
            </a:pPr>
            <a:r>
              <a:rPr b="1" lang="fr" sz="1100">
                <a:solidFill>
                  <a:schemeClr val="dk1"/>
                </a:solidFill>
                <a:latin typeface="Poppins"/>
                <a:ea typeface="Poppins"/>
                <a:cs typeface="Poppins"/>
                <a:sym typeface="Poppins"/>
              </a:rPr>
              <a:t>Cause :</a:t>
            </a:r>
            <a:r>
              <a:rPr lang="fr" sz="1100">
                <a:solidFill>
                  <a:schemeClr val="dk1"/>
                </a:solidFill>
                <a:latin typeface="Poppins"/>
                <a:ea typeface="Poppins"/>
                <a:cs typeface="Poppins"/>
                <a:sym typeface="Poppins"/>
              </a:rPr>
              <a:t> L'asymétrie forcée sur des couches profondes (qui ont des distributions centrées sur 0) introduit trop de bruit de quantification.</a:t>
            </a:r>
            <a:endParaRPr sz="1100">
              <a:solidFill>
                <a:schemeClr val="dk1"/>
              </a:solidFill>
              <a:latin typeface="Poppins"/>
              <a:ea typeface="Poppins"/>
              <a:cs typeface="Poppins"/>
              <a:sym typeface="Poppins"/>
            </a:endParaRPr>
          </a:p>
          <a:p>
            <a:pPr indent="0" lvl="0" marL="457200" rtl="0" algn="l">
              <a:lnSpc>
                <a:spcPct val="115000"/>
              </a:lnSpc>
              <a:spcBef>
                <a:spcPts val="1200"/>
              </a:spcBef>
              <a:spcAft>
                <a:spcPts val="1200"/>
              </a:spcAft>
              <a:buNone/>
            </a:pPr>
            <a:r>
              <a:t/>
            </a:r>
            <a:endParaRPr b="1" sz="1100">
              <a:solidFill>
                <a:schemeClr val="dk1"/>
              </a:solidFill>
              <a:latin typeface="Poppins"/>
              <a:ea typeface="Poppins"/>
              <a:cs typeface="Poppins"/>
              <a:sym typeface="Poppins"/>
            </a:endParaRPr>
          </a:p>
        </p:txBody>
      </p:sp>
      <p:sp>
        <p:nvSpPr>
          <p:cNvPr id="629" name="Google Shape;629;p53"/>
          <p:cNvSpPr/>
          <p:nvPr/>
        </p:nvSpPr>
        <p:spPr>
          <a:xfrm>
            <a:off x="8148156" y="313713"/>
            <a:ext cx="170700" cy="170700"/>
          </a:xfrm>
          <a:prstGeom prst="ellipse">
            <a:avLst/>
          </a:prstGeom>
          <a:solidFill>
            <a:srgbClr val="DC943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30" name="Google Shape;630;p53"/>
          <p:cNvSpPr/>
          <p:nvPr/>
        </p:nvSpPr>
        <p:spPr>
          <a:xfrm>
            <a:off x="8430187" y="-400151"/>
            <a:ext cx="502500" cy="502500"/>
          </a:xfrm>
          <a:prstGeom prst="ellipse">
            <a:avLst/>
          </a:prstGeom>
          <a:noFill/>
          <a:ln cap="flat" cmpd="sng" w="57150">
            <a:solidFill>
              <a:srgbClr val="D2565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31" name="Google Shape;631;p53"/>
          <p:cNvSpPr txBox="1"/>
          <p:nvPr/>
        </p:nvSpPr>
        <p:spPr>
          <a:xfrm>
            <a:off x="298325" y="102350"/>
            <a:ext cx="34137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 Implémentation</a:t>
            </a:r>
            <a:endParaRPr sz="1100"/>
          </a:p>
        </p:txBody>
      </p:sp>
      <p:pic>
        <p:nvPicPr>
          <p:cNvPr descr="Checklist ban thin line icon. List failure vector illustration isolated on white. Document with cross outline style design, designed for web and app. Eps 10. (fourni par Getty Images)" id="632" name="Google Shape;632;p53"/>
          <p:cNvPicPr preferRelativeResize="0"/>
          <p:nvPr/>
        </p:nvPicPr>
        <p:blipFill>
          <a:blip r:embed="rId3">
            <a:alphaModFix/>
          </a:blip>
          <a:stretch>
            <a:fillRect/>
          </a:stretch>
        </p:blipFill>
        <p:spPr>
          <a:xfrm>
            <a:off x="667775" y="1407133"/>
            <a:ext cx="2329200" cy="2329200"/>
          </a:xfrm>
          <a:prstGeom prst="round2DiagRect">
            <a:avLst>
              <a:gd fmla="val 16667" name="adj1"/>
              <a:gd fmla="val 0" name="adj2"/>
            </a:avLst>
          </a:prstGeom>
          <a:noFill/>
          <a:ln cap="flat" cmpd="sng" w="19050">
            <a:solidFill>
              <a:schemeClr val="dk2"/>
            </a:solidFill>
            <a:prstDash val="solid"/>
            <a:round/>
            <a:headEnd len="sm" w="sm" type="none"/>
            <a:tailEnd len="sm" w="sm" type="none"/>
          </a:ln>
        </p:spPr>
      </p:pic>
      <p:sp>
        <p:nvSpPr>
          <p:cNvPr id="633" name="Google Shape;633;p53"/>
          <p:cNvSpPr txBox="1"/>
          <p:nvPr/>
        </p:nvSpPr>
        <p:spPr>
          <a:xfrm>
            <a:off x="1016525" y="1076225"/>
            <a:ext cx="16317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1" lang="fr" sz="1700" u="sng">
                <a:solidFill>
                  <a:schemeClr val="accent4"/>
                </a:solidFill>
                <a:latin typeface="Poppins SemiBold"/>
                <a:ea typeface="Poppins SemiBold"/>
                <a:cs typeface="Poppins SemiBold"/>
                <a:sym typeface="Poppins SemiBold"/>
              </a:rPr>
              <a:t> Impossible !</a:t>
            </a:r>
            <a:endParaRPr i="1" sz="1100" u="sng">
              <a:solidFill>
                <a:schemeClr val="accent4"/>
              </a:solidFill>
            </a:endParaRPr>
          </a:p>
        </p:txBody>
      </p:sp>
      <p:sp>
        <p:nvSpPr>
          <p:cNvPr id="634" name="Google Shape;634;p5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54"/>
          <p:cNvSpPr/>
          <p:nvPr/>
        </p:nvSpPr>
        <p:spPr>
          <a:xfrm>
            <a:off x="0" y="0"/>
            <a:ext cx="4902000" cy="5064300"/>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41" name="Google Shape;641;p54"/>
          <p:cNvSpPr txBox="1"/>
          <p:nvPr/>
        </p:nvSpPr>
        <p:spPr>
          <a:xfrm>
            <a:off x="298325" y="947150"/>
            <a:ext cx="4473600" cy="4123800"/>
          </a:xfrm>
          <a:prstGeom prst="rect">
            <a:avLst/>
          </a:prstGeom>
          <a:noFill/>
          <a:ln>
            <a:noFill/>
          </a:ln>
        </p:spPr>
        <p:txBody>
          <a:bodyPr anchorCtr="0" anchor="ctr" bIns="34275" lIns="68575" spcFirstLastPara="1" rIns="68575" wrap="square" tIns="34275">
            <a:noAutofit/>
          </a:bodyPr>
          <a:lstStyle/>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Nous avons sélectionné la méthode par Entropie car elle est considérée comme la plus sophistiquée du framework ONNX Runtime. </a:t>
            </a:r>
            <a:endParaRPr sz="1150">
              <a:solidFill>
                <a:schemeClr val="dk1"/>
              </a:solidFill>
              <a:latin typeface="Poppins"/>
              <a:ea typeface="Poppins"/>
              <a:cs typeface="Poppins"/>
              <a:sym typeface="Poppins"/>
            </a:endParaRPr>
          </a:p>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Elle utilise la divergence de Kullback-Leibler pour minimiser la perte d'information entre les distributions Float32 et INT8. </a:t>
            </a:r>
            <a:endParaRPr sz="1150">
              <a:solidFill>
                <a:schemeClr val="dk1"/>
              </a:solidFill>
              <a:latin typeface="Poppins"/>
              <a:ea typeface="Poppins"/>
              <a:cs typeface="Poppins"/>
              <a:sym typeface="Poppins"/>
            </a:endParaRPr>
          </a:p>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C'était le choix théorique de la "qualité" pour préserver les détails.</a:t>
            </a:r>
            <a:endParaRPr sz="1150">
              <a:solidFill>
                <a:schemeClr val="dk1"/>
              </a:solidFill>
              <a:latin typeface="Poppins"/>
              <a:ea typeface="Poppins"/>
              <a:cs typeface="Poppins"/>
              <a:sym typeface="Poppins"/>
            </a:endParaRPr>
          </a:p>
        </p:txBody>
      </p:sp>
      <p:sp>
        <p:nvSpPr>
          <p:cNvPr id="642" name="Google Shape;642;p54"/>
          <p:cNvSpPr/>
          <p:nvPr/>
        </p:nvSpPr>
        <p:spPr>
          <a:xfrm>
            <a:off x="384121" y="408346"/>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43" name="Google Shape;643;p54"/>
          <p:cNvSpPr/>
          <p:nvPr/>
        </p:nvSpPr>
        <p:spPr>
          <a:xfrm>
            <a:off x="8148156" y="313713"/>
            <a:ext cx="170700" cy="170700"/>
          </a:xfrm>
          <a:prstGeom prst="ellipse">
            <a:avLst/>
          </a:prstGeom>
          <a:solidFill>
            <a:srgbClr val="DC943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44" name="Google Shape;644;p54"/>
          <p:cNvSpPr/>
          <p:nvPr/>
        </p:nvSpPr>
        <p:spPr>
          <a:xfrm>
            <a:off x="8430187" y="-400151"/>
            <a:ext cx="502500" cy="502500"/>
          </a:xfrm>
          <a:prstGeom prst="ellipse">
            <a:avLst/>
          </a:prstGeom>
          <a:noFill/>
          <a:ln cap="flat" cmpd="sng" w="57150">
            <a:solidFill>
              <a:srgbClr val="D2565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45" name="Google Shape;645;p54"/>
          <p:cNvSpPr txBox="1"/>
          <p:nvPr/>
        </p:nvSpPr>
        <p:spPr>
          <a:xfrm>
            <a:off x="298325" y="102350"/>
            <a:ext cx="46038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Synthèse : Méthode de Quantification </a:t>
            </a:r>
            <a:endParaRPr sz="1100"/>
          </a:p>
        </p:txBody>
      </p:sp>
      <p:sp>
        <p:nvSpPr>
          <p:cNvPr id="646" name="Google Shape;646;p54"/>
          <p:cNvSpPr txBox="1"/>
          <p:nvPr/>
        </p:nvSpPr>
        <p:spPr>
          <a:xfrm>
            <a:off x="1169700" y="408350"/>
            <a:ext cx="60174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300">
                <a:solidFill>
                  <a:schemeClr val="accent1"/>
                </a:solidFill>
              </a:rPr>
              <a:t>Justification des Choix Techniques</a:t>
            </a:r>
            <a:endParaRPr b="1" sz="1300">
              <a:solidFill>
                <a:schemeClr val="accent1"/>
              </a:solidFill>
            </a:endParaRPr>
          </a:p>
        </p:txBody>
      </p:sp>
      <p:sp>
        <p:nvSpPr>
          <p:cNvPr id="647" name="Google Shape;647;p54"/>
          <p:cNvSpPr txBox="1"/>
          <p:nvPr/>
        </p:nvSpPr>
        <p:spPr>
          <a:xfrm>
            <a:off x="164794" y="739250"/>
            <a:ext cx="4902000" cy="2385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1100">
                <a:solidFill>
                  <a:schemeClr val="dk1"/>
                </a:solidFill>
                <a:latin typeface="Poppins SemiBold"/>
                <a:ea typeface="Poppins SemiBold"/>
                <a:cs typeface="Poppins SemiBold"/>
                <a:sym typeface="Poppins SemiBold"/>
              </a:rPr>
              <a:t>Entropy (Choix Effectué) :</a:t>
            </a:r>
            <a:endParaRPr b="1" sz="1100">
              <a:solidFill>
                <a:srgbClr val="000000"/>
              </a:solidFill>
              <a:latin typeface="Poppins SemiBold"/>
              <a:ea typeface="Poppins SemiBold"/>
              <a:cs typeface="Poppins SemiBold"/>
              <a:sym typeface="Poppins SemiBold"/>
            </a:endParaRPr>
          </a:p>
        </p:txBody>
      </p:sp>
      <p:sp>
        <p:nvSpPr>
          <p:cNvPr id="648" name="Google Shape;648;p54"/>
          <p:cNvSpPr txBox="1"/>
          <p:nvPr/>
        </p:nvSpPr>
        <p:spPr>
          <a:xfrm>
            <a:off x="4901999" y="947150"/>
            <a:ext cx="4242000" cy="4123800"/>
          </a:xfrm>
          <a:prstGeom prst="rect">
            <a:avLst/>
          </a:prstGeom>
          <a:noFill/>
          <a:ln>
            <a:noFill/>
          </a:ln>
        </p:spPr>
        <p:txBody>
          <a:bodyPr anchorCtr="0" anchor="ctr" bIns="34275" lIns="68575" spcFirstLastPara="1" rIns="68575" wrap="square" tIns="34275">
            <a:noAutofit/>
          </a:bodyPr>
          <a:lstStyle/>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L'alternative était la méthode MinMax, plus naïve, qui mappe simplement les valeurs minimale et maximale réelles sur la plage INT8. </a:t>
            </a:r>
            <a:endParaRPr sz="1150">
              <a:solidFill>
                <a:schemeClr val="dk1"/>
              </a:solidFill>
              <a:latin typeface="Poppins"/>
              <a:ea typeface="Poppins"/>
              <a:cs typeface="Poppins"/>
              <a:sym typeface="Poppins"/>
            </a:endParaRPr>
          </a:p>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Avec le recul, cette méthode aurait pu être stratégiquement supérieure pour les couches de sortie. </a:t>
            </a:r>
            <a:endParaRPr sz="1150">
              <a:solidFill>
                <a:schemeClr val="dk1"/>
              </a:solidFill>
              <a:latin typeface="Poppins"/>
              <a:ea typeface="Poppins"/>
              <a:cs typeface="Poppins"/>
              <a:sym typeface="Poppins"/>
            </a:endParaRPr>
          </a:p>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En effet, contrairement à l'Entropie qui coupe les valeurs extrêmes jugées "statistiquement rares", le MinMax aurait conservé l'intégralité de la plage dynamique, évitant ainsi le problème de "clipping" qui a dégradé nos coordonnées de bounding boxes.</a:t>
            </a:r>
            <a:endParaRPr sz="1150">
              <a:solidFill>
                <a:schemeClr val="dk1"/>
              </a:solidFill>
              <a:latin typeface="Poppins"/>
              <a:ea typeface="Poppins"/>
              <a:cs typeface="Poppins"/>
              <a:sym typeface="Poppins"/>
            </a:endParaRPr>
          </a:p>
        </p:txBody>
      </p:sp>
      <p:sp>
        <p:nvSpPr>
          <p:cNvPr id="649" name="Google Shape;649;p54"/>
          <p:cNvSpPr txBox="1"/>
          <p:nvPr/>
        </p:nvSpPr>
        <p:spPr>
          <a:xfrm>
            <a:off x="4902000" y="739250"/>
            <a:ext cx="4242000" cy="2385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1100">
                <a:solidFill>
                  <a:schemeClr val="dk1"/>
                </a:solidFill>
                <a:latin typeface="Poppins SemiBold"/>
                <a:ea typeface="Poppins SemiBold"/>
                <a:cs typeface="Poppins SemiBold"/>
                <a:sym typeface="Poppins SemiBold"/>
              </a:rPr>
              <a:t>MinMax</a:t>
            </a:r>
            <a:r>
              <a:rPr b="1" lang="fr" sz="1100">
                <a:solidFill>
                  <a:schemeClr val="dk1"/>
                </a:solidFill>
                <a:latin typeface="Poppins SemiBold"/>
                <a:ea typeface="Poppins SemiBold"/>
                <a:cs typeface="Poppins SemiBold"/>
                <a:sym typeface="Poppins SemiBold"/>
              </a:rPr>
              <a:t> (</a:t>
            </a:r>
            <a:r>
              <a:rPr b="1" lang="fr" sz="1100">
                <a:solidFill>
                  <a:schemeClr val="dk1"/>
                </a:solidFill>
                <a:latin typeface="Poppins SemiBold"/>
                <a:ea typeface="Poppins SemiBold"/>
                <a:cs typeface="Poppins SemiBold"/>
                <a:sym typeface="Poppins SemiBold"/>
              </a:rPr>
              <a:t>Alternative</a:t>
            </a:r>
            <a:r>
              <a:rPr b="1" lang="fr" sz="1100">
                <a:solidFill>
                  <a:schemeClr val="dk1"/>
                </a:solidFill>
                <a:latin typeface="Poppins SemiBold"/>
                <a:ea typeface="Poppins SemiBold"/>
                <a:cs typeface="Poppins SemiBold"/>
                <a:sym typeface="Poppins SemiBold"/>
              </a:rPr>
              <a:t>) :</a:t>
            </a:r>
            <a:endParaRPr b="1" sz="1100">
              <a:solidFill>
                <a:srgbClr val="000000"/>
              </a:solidFill>
              <a:latin typeface="Poppins SemiBold"/>
              <a:ea typeface="Poppins SemiBold"/>
              <a:cs typeface="Poppins SemiBold"/>
              <a:sym typeface="Poppins SemiBold"/>
            </a:endParaRPr>
          </a:p>
        </p:txBody>
      </p:sp>
      <p:pic>
        <p:nvPicPr>
          <p:cNvPr id="650" name="Google Shape;650;p54"/>
          <p:cNvPicPr preferRelativeResize="0"/>
          <p:nvPr/>
        </p:nvPicPr>
        <p:blipFill>
          <a:blip r:embed="rId3">
            <a:alphaModFix/>
          </a:blip>
          <a:stretch>
            <a:fillRect/>
          </a:stretch>
        </p:blipFill>
        <p:spPr>
          <a:xfrm>
            <a:off x="5548375" y="147828"/>
            <a:ext cx="1953406" cy="502500"/>
          </a:xfrm>
          <a:prstGeom prst="rect">
            <a:avLst/>
          </a:prstGeom>
          <a:noFill/>
          <a:ln>
            <a:noFill/>
          </a:ln>
        </p:spPr>
      </p:pic>
      <p:sp>
        <p:nvSpPr>
          <p:cNvPr id="651" name="Google Shape;651;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55"/>
          <p:cNvSpPr/>
          <p:nvPr/>
        </p:nvSpPr>
        <p:spPr>
          <a:xfrm>
            <a:off x="0" y="0"/>
            <a:ext cx="4902000" cy="5064300"/>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58" name="Google Shape;658;p55"/>
          <p:cNvSpPr/>
          <p:nvPr/>
        </p:nvSpPr>
        <p:spPr>
          <a:xfrm>
            <a:off x="5066800" y="457111"/>
            <a:ext cx="466200" cy="466200"/>
          </a:xfrm>
          <a:prstGeom prst="ellipse">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59" name="Google Shape;659;p55"/>
          <p:cNvSpPr/>
          <p:nvPr/>
        </p:nvSpPr>
        <p:spPr>
          <a:xfrm>
            <a:off x="3273400" y="739250"/>
            <a:ext cx="2943300" cy="43248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2"/>
              </a:solidFill>
              <a:latin typeface="Quattrocento Sans"/>
              <a:ea typeface="Quattrocento Sans"/>
              <a:cs typeface="Quattrocento Sans"/>
              <a:sym typeface="Quattrocento Sans"/>
            </a:endParaRPr>
          </a:p>
        </p:txBody>
      </p:sp>
      <p:sp>
        <p:nvSpPr>
          <p:cNvPr id="660" name="Google Shape;660;p55"/>
          <p:cNvSpPr/>
          <p:nvPr/>
        </p:nvSpPr>
        <p:spPr>
          <a:xfrm>
            <a:off x="384121" y="408346"/>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61" name="Google Shape;661;p55"/>
          <p:cNvSpPr txBox="1"/>
          <p:nvPr/>
        </p:nvSpPr>
        <p:spPr>
          <a:xfrm>
            <a:off x="0" y="947150"/>
            <a:ext cx="3236700" cy="4123800"/>
          </a:xfrm>
          <a:prstGeom prst="rect">
            <a:avLst/>
          </a:prstGeom>
          <a:noFill/>
          <a:ln>
            <a:noFill/>
          </a:ln>
        </p:spPr>
        <p:txBody>
          <a:bodyPr anchorCtr="0" anchor="ctr" bIns="34275" lIns="68575" spcFirstLastPara="1" rIns="68575" wrap="square" tIns="34275">
            <a:noAutofit/>
          </a:bodyPr>
          <a:lstStyle/>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Face à l'hétérogénéité des données dans le nœud de concaténation, nous avons choisi d'insérer des nœuds de normalisation directement dans le graphe. </a:t>
            </a:r>
            <a:endParaRPr sz="1150">
              <a:solidFill>
                <a:schemeClr val="dk1"/>
              </a:solidFill>
              <a:latin typeface="Poppins"/>
              <a:ea typeface="Poppins"/>
              <a:cs typeface="Poppins"/>
              <a:sym typeface="Poppins"/>
            </a:endParaRPr>
          </a:p>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Ce choix garantit l'obtention d'un modèle 100% INT8. L'avantage majeur est la compatibilité totale avec les accélérateurs matériels (NPU, DSP) qui ne supportent souvent que l'INT8 pur, sans nécessiter de ré-entraînement (QAT). </a:t>
            </a:r>
            <a:endParaRPr sz="1150">
              <a:solidFill>
                <a:schemeClr val="dk1"/>
              </a:solidFill>
              <a:latin typeface="Poppins"/>
              <a:ea typeface="Poppins"/>
              <a:cs typeface="Poppins"/>
              <a:sym typeface="Poppins"/>
            </a:endParaRPr>
          </a:p>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La seule contrepartie est l'ajout d'une étape de dénormalisation en post-traitement CPU, ce qui induit une latence négligeable.</a:t>
            </a:r>
            <a:endParaRPr sz="1150">
              <a:solidFill>
                <a:schemeClr val="dk1"/>
              </a:solidFill>
              <a:latin typeface="Poppins"/>
              <a:ea typeface="Poppins"/>
              <a:cs typeface="Poppins"/>
              <a:sym typeface="Poppins"/>
            </a:endParaRPr>
          </a:p>
        </p:txBody>
      </p:sp>
      <p:sp>
        <p:nvSpPr>
          <p:cNvPr id="662" name="Google Shape;662;p55"/>
          <p:cNvSpPr/>
          <p:nvPr/>
        </p:nvSpPr>
        <p:spPr>
          <a:xfrm>
            <a:off x="8148156" y="313713"/>
            <a:ext cx="170700" cy="170700"/>
          </a:xfrm>
          <a:prstGeom prst="ellipse">
            <a:avLst/>
          </a:prstGeom>
          <a:solidFill>
            <a:srgbClr val="DC943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63" name="Google Shape;663;p55"/>
          <p:cNvSpPr/>
          <p:nvPr/>
        </p:nvSpPr>
        <p:spPr>
          <a:xfrm>
            <a:off x="8430187" y="-400151"/>
            <a:ext cx="502500" cy="502500"/>
          </a:xfrm>
          <a:prstGeom prst="ellipse">
            <a:avLst/>
          </a:prstGeom>
          <a:noFill/>
          <a:ln cap="flat" cmpd="sng" w="57150">
            <a:solidFill>
              <a:srgbClr val="D2565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64" name="Google Shape;664;p55"/>
          <p:cNvSpPr txBox="1"/>
          <p:nvPr/>
        </p:nvSpPr>
        <p:spPr>
          <a:xfrm>
            <a:off x="298325" y="102350"/>
            <a:ext cx="60174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Synthèse : </a:t>
            </a:r>
            <a:r>
              <a:rPr b="1" lang="fr" sz="1700">
                <a:latin typeface="Poppins SemiBold"/>
                <a:ea typeface="Poppins SemiBold"/>
                <a:cs typeface="Poppins SemiBold"/>
                <a:sym typeface="Poppins SemiBold"/>
              </a:rPr>
              <a:t>Résolution de "Concat_1534"</a:t>
            </a:r>
            <a:endParaRPr sz="1100"/>
          </a:p>
        </p:txBody>
      </p:sp>
      <p:sp>
        <p:nvSpPr>
          <p:cNvPr id="665" name="Google Shape;665;p55"/>
          <p:cNvSpPr txBox="1"/>
          <p:nvPr/>
        </p:nvSpPr>
        <p:spPr>
          <a:xfrm>
            <a:off x="1169700" y="408350"/>
            <a:ext cx="60174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300">
                <a:solidFill>
                  <a:schemeClr val="accent1"/>
                </a:solidFill>
              </a:rPr>
              <a:t>Justification des Choix Techniques</a:t>
            </a:r>
            <a:endParaRPr b="1" sz="1300">
              <a:solidFill>
                <a:schemeClr val="accent1"/>
              </a:solidFill>
            </a:endParaRPr>
          </a:p>
        </p:txBody>
      </p:sp>
      <p:sp>
        <p:nvSpPr>
          <p:cNvPr id="666" name="Google Shape;666;p55"/>
          <p:cNvSpPr txBox="1"/>
          <p:nvPr/>
        </p:nvSpPr>
        <p:spPr>
          <a:xfrm>
            <a:off x="164794" y="739250"/>
            <a:ext cx="4902000" cy="2385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1100">
                <a:solidFill>
                  <a:schemeClr val="dk1"/>
                </a:solidFill>
                <a:latin typeface="Poppins SemiBold"/>
                <a:ea typeface="Poppins SemiBold"/>
                <a:cs typeface="Poppins SemiBold"/>
                <a:sym typeface="Poppins SemiBold"/>
              </a:rPr>
              <a:t>Modification du Graphe</a:t>
            </a:r>
            <a:r>
              <a:rPr b="1" lang="fr" sz="1100">
                <a:solidFill>
                  <a:schemeClr val="dk1"/>
                </a:solidFill>
                <a:latin typeface="Poppins SemiBold"/>
                <a:ea typeface="Poppins SemiBold"/>
                <a:cs typeface="Poppins SemiBold"/>
                <a:sym typeface="Poppins SemiBold"/>
              </a:rPr>
              <a:t> (Choix Effectué) :</a:t>
            </a:r>
            <a:endParaRPr b="1" sz="1100">
              <a:solidFill>
                <a:srgbClr val="000000"/>
              </a:solidFill>
              <a:latin typeface="Poppins SemiBold"/>
              <a:ea typeface="Poppins SemiBold"/>
              <a:cs typeface="Poppins SemiBold"/>
              <a:sym typeface="Poppins SemiBold"/>
            </a:endParaRPr>
          </a:p>
        </p:txBody>
      </p:sp>
      <p:sp>
        <p:nvSpPr>
          <p:cNvPr id="667" name="Google Shape;667;p55"/>
          <p:cNvSpPr txBox="1"/>
          <p:nvPr/>
        </p:nvSpPr>
        <p:spPr>
          <a:xfrm>
            <a:off x="3236700" y="947150"/>
            <a:ext cx="3024000" cy="4123800"/>
          </a:xfrm>
          <a:prstGeom prst="rect">
            <a:avLst/>
          </a:prstGeom>
          <a:noFill/>
          <a:ln>
            <a:noFill/>
          </a:ln>
        </p:spPr>
        <p:txBody>
          <a:bodyPr anchorCtr="0" anchor="ctr" bIns="34275" lIns="68575" spcFirstLastPara="1" rIns="68575" wrap="square" tIns="34275">
            <a:noAutofit/>
          </a:bodyPr>
          <a:lstStyle/>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Nous aurions pu laisser cette partie spécifique en FP16 ou INT16. Cela aurait résolu le problème de précision sans modifier la structure du graphe.</a:t>
            </a:r>
            <a:endParaRPr sz="1150">
              <a:solidFill>
                <a:schemeClr val="dk1"/>
              </a:solidFill>
              <a:latin typeface="Poppins"/>
              <a:ea typeface="Poppins"/>
              <a:cs typeface="Poppins"/>
              <a:sym typeface="Poppins"/>
            </a:endParaRPr>
          </a:p>
          <a:p>
            <a:pPr indent="0" lvl="0" marL="457200" rtl="0" algn="l">
              <a:lnSpc>
                <a:spcPct val="115000"/>
              </a:lnSpc>
              <a:spcBef>
                <a:spcPts val="1200"/>
              </a:spcBef>
              <a:spcAft>
                <a:spcPts val="0"/>
              </a:spcAft>
              <a:buNone/>
            </a:pPr>
            <a:r>
              <a:t/>
            </a:r>
            <a:endParaRPr sz="1150">
              <a:solidFill>
                <a:schemeClr val="dk1"/>
              </a:solidFill>
              <a:latin typeface="Poppins"/>
              <a:ea typeface="Poppins"/>
              <a:cs typeface="Poppins"/>
              <a:sym typeface="Poppins"/>
            </a:endParaRPr>
          </a:p>
          <a:p>
            <a:pPr indent="-301625" lvl="0" marL="457200" rtl="0" algn="l">
              <a:lnSpc>
                <a:spcPct val="115000"/>
              </a:lnSpc>
              <a:spcBef>
                <a:spcPts val="120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Cependant, cette option a été rejetée car ONNX Runtime et la plupart des cibles matérielles gèrent mal les changements de précision au sein d'un même graphe optimisé, rendant le déploiement complexe ou impossible sur cible embarquée.</a:t>
            </a:r>
            <a:endParaRPr sz="1150">
              <a:solidFill>
                <a:schemeClr val="dk1"/>
              </a:solidFill>
              <a:latin typeface="Poppins"/>
              <a:ea typeface="Poppins"/>
              <a:cs typeface="Poppins"/>
              <a:sym typeface="Poppins"/>
            </a:endParaRPr>
          </a:p>
        </p:txBody>
      </p:sp>
      <p:sp>
        <p:nvSpPr>
          <p:cNvPr id="668" name="Google Shape;668;p55"/>
          <p:cNvSpPr txBox="1"/>
          <p:nvPr/>
        </p:nvSpPr>
        <p:spPr>
          <a:xfrm>
            <a:off x="3273400" y="742725"/>
            <a:ext cx="2943300" cy="2385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1100">
                <a:solidFill>
                  <a:schemeClr val="dk1"/>
                </a:solidFill>
                <a:latin typeface="Poppins SemiBold"/>
                <a:ea typeface="Poppins SemiBold"/>
                <a:cs typeface="Poppins SemiBold"/>
                <a:sym typeface="Poppins SemiBold"/>
              </a:rPr>
              <a:t>Précision Mixte (Alternative) :</a:t>
            </a:r>
            <a:endParaRPr b="1" sz="1100">
              <a:solidFill>
                <a:srgbClr val="000000"/>
              </a:solidFill>
              <a:latin typeface="Poppins SemiBold"/>
              <a:ea typeface="Poppins SemiBold"/>
              <a:cs typeface="Poppins SemiBold"/>
              <a:sym typeface="Poppins SemiBold"/>
            </a:endParaRPr>
          </a:p>
        </p:txBody>
      </p:sp>
      <p:sp>
        <p:nvSpPr>
          <p:cNvPr id="669" name="Google Shape;669;p55"/>
          <p:cNvSpPr txBox="1"/>
          <p:nvPr/>
        </p:nvSpPr>
        <p:spPr>
          <a:xfrm>
            <a:off x="6200575" y="1184325"/>
            <a:ext cx="2943300" cy="3886800"/>
          </a:xfrm>
          <a:prstGeom prst="rect">
            <a:avLst/>
          </a:prstGeom>
          <a:noFill/>
          <a:ln>
            <a:noFill/>
          </a:ln>
        </p:spPr>
        <p:txBody>
          <a:bodyPr anchorCtr="0" anchor="ctr" bIns="34275" lIns="68575" spcFirstLastPara="1" rIns="68575" wrap="square" tIns="34275">
            <a:noAutofit/>
          </a:bodyPr>
          <a:lstStyle/>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C'est la solution idéale en théorie, mais elle implique de reprendre tout le cycle d'apprentissage avec des ressources GPU importantes, ce qui était incompatible avec les contraintes temporelles du projet.</a:t>
            </a:r>
            <a:endParaRPr sz="1150">
              <a:solidFill>
                <a:schemeClr val="dk1"/>
              </a:solidFill>
              <a:latin typeface="Poppins"/>
              <a:ea typeface="Poppins"/>
              <a:cs typeface="Poppins"/>
              <a:sym typeface="Poppins"/>
            </a:endParaRPr>
          </a:p>
        </p:txBody>
      </p:sp>
      <p:sp>
        <p:nvSpPr>
          <p:cNvPr id="670" name="Google Shape;670;p55"/>
          <p:cNvSpPr txBox="1"/>
          <p:nvPr/>
        </p:nvSpPr>
        <p:spPr>
          <a:xfrm>
            <a:off x="6236053" y="725378"/>
            <a:ext cx="2835600" cy="4416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1100">
                <a:solidFill>
                  <a:schemeClr val="dk1"/>
                </a:solidFill>
                <a:latin typeface="Poppins SemiBold"/>
                <a:ea typeface="Poppins SemiBold"/>
                <a:cs typeface="Poppins SemiBold"/>
                <a:sym typeface="Poppins SemiBold"/>
              </a:rPr>
              <a:t>Ré-entraînement (QAT) </a:t>
            </a:r>
            <a:endParaRPr b="1" sz="1100">
              <a:solidFill>
                <a:schemeClr val="dk1"/>
              </a:solidFill>
              <a:latin typeface="Poppins SemiBold"/>
              <a:ea typeface="Poppins SemiBold"/>
              <a:cs typeface="Poppins SemiBold"/>
              <a:sym typeface="Poppins SemiBold"/>
            </a:endParaRPr>
          </a:p>
          <a:p>
            <a:pPr indent="0" lvl="0" marL="0" marR="0" rtl="0" algn="just">
              <a:lnSpc>
                <a:spcPct val="120000"/>
              </a:lnSpc>
              <a:spcBef>
                <a:spcPts val="0"/>
              </a:spcBef>
              <a:spcAft>
                <a:spcPts val="0"/>
              </a:spcAft>
              <a:buNone/>
            </a:pPr>
            <a:r>
              <a:rPr b="1" lang="fr" sz="1100">
                <a:solidFill>
                  <a:schemeClr val="dk1"/>
                </a:solidFill>
                <a:latin typeface="Poppins SemiBold"/>
                <a:ea typeface="Poppins SemiBold"/>
                <a:cs typeface="Poppins SemiBold"/>
                <a:sym typeface="Poppins SemiBold"/>
              </a:rPr>
              <a:t>(Alternative) :</a:t>
            </a:r>
            <a:endParaRPr b="1" sz="1100">
              <a:solidFill>
                <a:schemeClr val="dk1"/>
              </a:solidFill>
              <a:latin typeface="Poppins SemiBold"/>
              <a:ea typeface="Poppins SemiBold"/>
              <a:cs typeface="Poppins SemiBold"/>
              <a:sym typeface="Poppins SemiBold"/>
            </a:endParaRPr>
          </a:p>
        </p:txBody>
      </p:sp>
      <p:pic>
        <p:nvPicPr>
          <p:cNvPr id="671" name="Google Shape;671;p55"/>
          <p:cNvPicPr preferRelativeResize="0"/>
          <p:nvPr/>
        </p:nvPicPr>
        <p:blipFill rotWithShape="1">
          <a:blip r:embed="rId3">
            <a:alphaModFix/>
          </a:blip>
          <a:srcRect b="18279" l="23377" r="61024" t="67069"/>
          <a:stretch/>
        </p:blipFill>
        <p:spPr>
          <a:xfrm>
            <a:off x="6389525" y="102350"/>
            <a:ext cx="902100" cy="466200"/>
          </a:xfrm>
          <a:prstGeom prst="round2DiagRect">
            <a:avLst>
              <a:gd fmla="val 12526" name="adj1"/>
              <a:gd fmla="val 0" name="adj2"/>
            </a:avLst>
          </a:prstGeom>
          <a:noFill/>
          <a:ln cap="flat" cmpd="sng" w="38100">
            <a:solidFill>
              <a:schemeClr val="accent2"/>
            </a:solidFill>
            <a:prstDash val="solid"/>
            <a:round/>
            <a:headEnd len="sm" w="sm" type="none"/>
            <a:tailEnd len="sm" w="sm" type="none"/>
          </a:ln>
        </p:spPr>
      </p:pic>
      <p:sp>
        <p:nvSpPr>
          <p:cNvPr id="672" name="Google Shape;672;p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56"/>
          <p:cNvSpPr/>
          <p:nvPr/>
        </p:nvSpPr>
        <p:spPr>
          <a:xfrm>
            <a:off x="0" y="0"/>
            <a:ext cx="4902000" cy="5064300"/>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79" name="Google Shape;679;p56"/>
          <p:cNvSpPr/>
          <p:nvPr/>
        </p:nvSpPr>
        <p:spPr>
          <a:xfrm>
            <a:off x="5066800" y="457111"/>
            <a:ext cx="466200" cy="466200"/>
          </a:xfrm>
          <a:prstGeom prst="ellipse">
            <a:avLst/>
          </a:prstGeom>
          <a:solidFill>
            <a:srgbClr val="D2565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80" name="Google Shape;680;p56"/>
          <p:cNvSpPr/>
          <p:nvPr/>
        </p:nvSpPr>
        <p:spPr>
          <a:xfrm>
            <a:off x="3273400" y="739250"/>
            <a:ext cx="2943300" cy="43248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2"/>
              </a:solidFill>
              <a:latin typeface="Quattrocento Sans"/>
              <a:ea typeface="Quattrocento Sans"/>
              <a:cs typeface="Quattrocento Sans"/>
              <a:sym typeface="Quattrocento Sans"/>
            </a:endParaRPr>
          </a:p>
        </p:txBody>
      </p:sp>
      <p:sp>
        <p:nvSpPr>
          <p:cNvPr id="681" name="Google Shape;681;p56"/>
          <p:cNvSpPr/>
          <p:nvPr/>
        </p:nvSpPr>
        <p:spPr>
          <a:xfrm>
            <a:off x="384121" y="408346"/>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82" name="Google Shape;682;p56"/>
          <p:cNvSpPr txBox="1"/>
          <p:nvPr/>
        </p:nvSpPr>
        <p:spPr>
          <a:xfrm>
            <a:off x="0" y="947150"/>
            <a:ext cx="3236700" cy="4123800"/>
          </a:xfrm>
          <a:prstGeom prst="rect">
            <a:avLst/>
          </a:prstGeom>
          <a:noFill/>
          <a:ln>
            <a:noFill/>
          </a:ln>
        </p:spPr>
        <p:txBody>
          <a:bodyPr anchorCtr="0" anchor="ctr" bIns="34275" lIns="68575" spcFirstLastPara="1" rIns="68575" wrap="square" tIns="34275">
            <a:noAutofit/>
          </a:bodyPr>
          <a:lstStyle/>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La méthode Entropy étant très gourmande en mémoire RAM lors de la génération des histogrammes, nous étions limités à environ 50 images pour la calibration (contre plus de 80 possibles en MinMax). </a:t>
            </a:r>
            <a:endParaRPr sz="1150">
              <a:solidFill>
                <a:schemeClr val="dk1"/>
              </a:solidFill>
              <a:latin typeface="Poppins"/>
              <a:ea typeface="Poppins"/>
              <a:cs typeface="Poppins"/>
              <a:sym typeface="Poppins"/>
            </a:endParaRPr>
          </a:p>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J'ai donc opté pour une sélection manuelle visant à maximiser la variété visuelle, car c'était l'approche la plus rapide à mettre en œuvre.</a:t>
            </a:r>
            <a:endParaRPr sz="1150">
              <a:solidFill>
                <a:schemeClr val="dk1"/>
              </a:solidFill>
              <a:latin typeface="Poppins"/>
              <a:ea typeface="Poppins"/>
              <a:cs typeface="Poppins"/>
              <a:sym typeface="Poppins"/>
            </a:endParaRPr>
          </a:p>
        </p:txBody>
      </p:sp>
      <p:sp>
        <p:nvSpPr>
          <p:cNvPr id="683" name="Google Shape;683;p56"/>
          <p:cNvSpPr/>
          <p:nvPr/>
        </p:nvSpPr>
        <p:spPr>
          <a:xfrm>
            <a:off x="8148156" y="313713"/>
            <a:ext cx="170700" cy="170700"/>
          </a:xfrm>
          <a:prstGeom prst="ellipse">
            <a:avLst/>
          </a:prstGeom>
          <a:solidFill>
            <a:srgbClr val="DC943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84" name="Google Shape;684;p56"/>
          <p:cNvSpPr/>
          <p:nvPr/>
        </p:nvSpPr>
        <p:spPr>
          <a:xfrm>
            <a:off x="8430187" y="-400151"/>
            <a:ext cx="502500" cy="502500"/>
          </a:xfrm>
          <a:prstGeom prst="ellipse">
            <a:avLst/>
          </a:prstGeom>
          <a:noFill/>
          <a:ln cap="flat" cmpd="sng" w="57150">
            <a:solidFill>
              <a:srgbClr val="D2565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85" name="Google Shape;685;p56"/>
          <p:cNvSpPr txBox="1"/>
          <p:nvPr/>
        </p:nvSpPr>
        <p:spPr>
          <a:xfrm>
            <a:off x="298325" y="102350"/>
            <a:ext cx="60174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700">
                <a:latin typeface="Poppins SemiBold"/>
                <a:ea typeface="Poppins SemiBold"/>
                <a:cs typeface="Poppins SemiBold"/>
                <a:sym typeface="Poppins SemiBold"/>
              </a:rPr>
              <a:t>Synthèse : </a:t>
            </a:r>
            <a:r>
              <a:rPr b="1" lang="fr" sz="1700">
                <a:latin typeface="Poppins SemiBold"/>
                <a:ea typeface="Poppins SemiBold"/>
                <a:cs typeface="Poppins SemiBold"/>
                <a:sym typeface="Poppins SemiBold"/>
              </a:rPr>
              <a:t>Stratégie de Calibration</a:t>
            </a:r>
            <a:endParaRPr sz="1100"/>
          </a:p>
        </p:txBody>
      </p:sp>
      <p:sp>
        <p:nvSpPr>
          <p:cNvPr id="686" name="Google Shape;686;p56"/>
          <p:cNvSpPr txBox="1"/>
          <p:nvPr/>
        </p:nvSpPr>
        <p:spPr>
          <a:xfrm>
            <a:off x="1169700" y="408350"/>
            <a:ext cx="60174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300">
                <a:solidFill>
                  <a:schemeClr val="accent1"/>
                </a:solidFill>
              </a:rPr>
              <a:t>Justification des Choix Techniques</a:t>
            </a:r>
            <a:endParaRPr b="1" sz="1300">
              <a:solidFill>
                <a:schemeClr val="accent1"/>
              </a:solidFill>
            </a:endParaRPr>
          </a:p>
        </p:txBody>
      </p:sp>
      <p:sp>
        <p:nvSpPr>
          <p:cNvPr id="687" name="Google Shape;687;p56"/>
          <p:cNvSpPr txBox="1"/>
          <p:nvPr/>
        </p:nvSpPr>
        <p:spPr>
          <a:xfrm>
            <a:off x="164794" y="739250"/>
            <a:ext cx="4902000" cy="2385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1100">
                <a:solidFill>
                  <a:schemeClr val="dk1"/>
                </a:solidFill>
                <a:latin typeface="Poppins SemiBold"/>
                <a:ea typeface="Poppins SemiBold"/>
                <a:cs typeface="Poppins SemiBold"/>
                <a:sym typeface="Poppins SemiBold"/>
              </a:rPr>
              <a:t>Sélection Manuelle</a:t>
            </a:r>
            <a:r>
              <a:rPr b="1" lang="fr" sz="1100">
                <a:solidFill>
                  <a:schemeClr val="dk1"/>
                </a:solidFill>
                <a:latin typeface="Poppins SemiBold"/>
                <a:ea typeface="Poppins SemiBold"/>
                <a:cs typeface="Poppins SemiBold"/>
                <a:sym typeface="Poppins SemiBold"/>
              </a:rPr>
              <a:t> (Choix Effectué) :</a:t>
            </a:r>
            <a:endParaRPr b="1" sz="1100">
              <a:solidFill>
                <a:srgbClr val="000000"/>
              </a:solidFill>
              <a:latin typeface="Poppins SemiBold"/>
              <a:ea typeface="Poppins SemiBold"/>
              <a:cs typeface="Poppins SemiBold"/>
              <a:sym typeface="Poppins SemiBold"/>
            </a:endParaRPr>
          </a:p>
        </p:txBody>
      </p:sp>
      <p:sp>
        <p:nvSpPr>
          <p:cNvPr id="688" name="Google Shape;688;p56"/>
          <p:cNvSpPr txBox="1"/>
          <p:nvPr/>
        </p:nvSpPr>
        <p:spPr>
          <a:xfrm>
            <a:off x="3167225" y="947150"/>
            <a:ext cx="3012900" cy="4123800"/>
          </a:xfrm>
          <a:prstGeom prst="rect">
            <a:avLst/>
          </a:prstGeom>
          <a:noFill/>
          <a:ln>
            <a:noFill/>
          </a:ln>
        </p:spPr>
        <p:txBody>
          <a:bodyPr anchorCtr="0" anchor="ctr" bIns="34275" lIns="68575" spcFirstLastPara="1" rIns="68575" wrap="square" tIns="34275">
            <a:noAutofit/>
          </a:bodyPr>
          <a:lstStyle/>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Cette méthode calcule le taux de "désordre" de chaque image. En sélectionnant les images à forte entropie (textures riches, villes denses), on s'assure de fournir au réseau les données les plus complexes qui activent le plus de neurones, garantissant une calibration robuste.</a:t>
            </a:r>
            <a:endParaRPr sz="1150">
              <a:solidFill>
                <a:schemeClr val="dk1"/>
              </a:solidFill>
              <a:latin typeface="Poppins"/>
              <a:ea typeface="Poppins"/>
              <a:cs typeface="Poppins"/>
              <a:sym typeface="Poppins"/>
            </a:endParaRPr>
          </a:p>
        </p:txBody>
      </p:sp>
      <p:sp>
        <p:nvSpPr>
          <p:cNvPr id="689" name="Google Shape;689;p56"/>
          <p:cNvSpPr txBox="1"/>
          <p:nvPr/>
        </p:nvSpPr>
        <p:spPr>
          <a:xfrm>
            <a:off x="3273400" y="742725"/>
            <a:ext cx="2943300" cy="2385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1100">
                <a:solidFill>
                  <a:schemeClr val="dk1"/>
                </a:solidFill>
                <a:latin typeface="Poppins SemiBold"/>
                <a:ea typeface="Poppins SemiBold"/>
                <a:cs typeface="Poppins SemiBold"/>
                <a:sym typeface="Poppins SemiBold"/>
              </a:rPr>
              <a:t>Entropie de Shannon </a:t>
            </a:r>
            <a:r>
              <a:rPr b="1" lang="fr" sz="1100">
                <a:solidFill>
                  <a:schemeClr val="dk1"/>
                </a:solidFill>
                <a:latin typeface="Poppins SemiBold"/>
                <a:ea typeface="Poppins SemiBold"/>
                <a:cs typeface="Poppins SemiBold"/>
                <a:sym typeface="Poppins SemiBold"/>
              </a:rPr>
              <a:t>(Alternative) :</a:t>
            </a:r>
            <a:endParaRPr b="1" sz="1100">
              <a:solidFill>
                <a:srgbClr val="000000"/>
              </a:solidFill>
              <a:latin typeface="Poppins SemiBold"/>
              <a:ea typeface="Poppins SemiBold"/>
              <a:cs typeface="Poppins SemiBold"/>
              <a:sym typeface="Poppins SemiBold"/>
            </a:endParaRPr>
          </a:p>
        </p:txBody>
      </p:sp>
      <p:sp>
        <p:nvSpPr>
          <p:cNvPr id="690" name="Google Shape;690;p56"/>
          <p:cNvSpPr txBox="1"/>
          <p:nvPr/>
        </p:nvSpPr>
        <p:spPr>
          <a:xfrm>
            <a:off x="6200575" y="1184325"/>
            <a:ext cx="2943300" cy="3886800"/>
          </a:xfrm>
          <a:prstGeom prst="rect">
            <a:avLst/>
          </a:prstGeom>
          <a:noFill/>
          <a:ln>
            <a:noFill/>
          </a:ln>
        </p:spPr>
        <p:txBody>
          <a:bodyPr anchorCtr="0" anchor="ctr" bIns="34275" lIns="68575" spcFirstLastPara="1" rIns="68575" wrap="square" tIns="34275">
            <a:noAutofit/>
          </a:bodyPr>
          <a:lstStyle/>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C'est la technique de référence utilisée par les industriels (NVIDIA, Intel). </a:t>
            </a:r>
            <a:endParaRPr sz="1150">
              <a:solidFill>
                <a:schemeClr val="dk1"/>
              </a:solidFill>
              <a:latin typeface="Poppins"/>
              <a:ea typeface="Poppins"/>
              <a:cs typeface="Poppins"/>
              <a:sym typeface="Poppins"/>
            </a:endParaRPr>
          </a:p>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Elle consiste à utiliser un réseau neuronal pour extraire l'empreinte mathématique de chaque image, puis à utiliser l'algorithme K-Means pour grouper le dataset en 50 familles distinctes. </a:t>
            </a:r>
            <a:endParaRPr sz="1150">
              <a:solidFill>
                <a:schemeClr val="dk1"/>
              </a:solidFill>
              <a:latin typeface="Poppins"/>
              <a:ea typeface="Poppins"/>
              <a:cs typeface="Poppins"/>
              <a:sym typeface="Poppins"/>
            </a:endParaRPr>
          </a:p>
          <a:p>
            <a:pPr indent="-301625" lvl="0" marL="457200" rtl="0" algn="l">
              <a:lnSpc>
                <a:spcPct val="115000"/>
              </a:lnSpc>
              <a:spcBef>
                <a:spcPts val="0"/>
              </a:spcBef>
              <a:spcAft>
                <a:spcPts val="0"/>
              </a:spcAft>
              <a:buClr>
                <a:schemeClr val="dk1"/>
              </a:buClr>
              <a:buSzPts val="1150"/>
              <a:buFont typeface="Poppins"/>
              <a:buChar char="●"/>
            </a:pPr>
            <a:r>
              <a:rPr lang="fr" sz="1150">
                <a:solidFill>
                  <a:schemeClr val="dk1"/>
                </a:solidFill>
                <a:latin typeface="Poppins"/>
                <a:ea typeface="Poppins"/>
                <a:cs typeface="Poppins"/>
                <a:sym typeface="Poppins"/>
              </a:rPr>
              <a:t>En prenant l'image centrale de chaque famille, on obtient la garantie mathématique d'une diversité maximale (tunnel, pluie, nuit, autoroute) sans aucun biais de sélection humain.</a:t>
            </a:r>
            <a:endParaRPr sz="1150">
              <a:solidFill>
                <a:schemeClr val="dk1"/>
              </a:solidFill>
              <a:latin typeface="Poppins"/>
              <a:ea typeface="Poppins"/>
              <a:cs typeface="Poppins"/>
              <a:sym typeface="Poppins"/>
            </a:endParaRPr>
          </a:p>
        </p:txBody>
      </p:sp>
      <p:sp>
        <p:nvSpPr>
          <p:cNvPr id="691" name="Google Shape;691;p56"/>
          <p:cNvSpPr txBox="1"/>
          <p:nvPr/>
        </p:nvSpPr>
        <p:spPr>
          <a:xfrm>
            <a:off x="6236053" y="725378"/>
            <a:ext cx="2835600" cy="238500"/>
          </a:xfrm>
          <a:prstGeom prst="rect">
            <a:avLst/>
          </a:prstGeom>
          <a:noFill/>
          <a:ln>
            <a:noFill/>
          </a:ln>
        </p:spPr>
        <p:txBody>
          <a:bodyPr anchorCtr="0" anchor="t" bIns="34275" lIns="68575" spcFirstLastPara="1" rIns="68575" wrap="square" tIns="34275">
            <a:spAutoFit/>
          </a:bodyPr>
          <a:lstStyle/>
          <a:p>
            <a:pPr indent="0" lvl="0" marL="0" marR="0" rtl="0" algn="just">
              <a:lnSpc>
                <a:spcPct val="120000"/>
              </a:lnSpc>
              <a:spcBef>
                <a:spcPts val="0"/>
              </a:spcBef>
              <a:spcAft>
                <a:spcPts val="0"/>
              </a:spcAft>
              <a:buNone/>
            </a:pPr>
            <a:r>
              <a:rPr b="1" lang="fr" sz="1100">
                <a:solidFill>
                  <a:schemeClr val="dk1"/>
                </a:solidFill>
                <a:latin typeface="Poppins SemiBold"/>
                <a:ea typeface="Poppins SemiBold"/>
                <a:cs typeface="Poppins SemiBold"/>
                <a:sym typeface="Poppins SemiBold"/>
              </a:rPr>
              <a:t>Le K-Means Clustering (</a:t>
            </a:r>
            <a:r>
              <a:rPr b="1" lang="fr" sz="1100">
                <a:solidFill>
                  <a:schemeClr val="dk1"/>
                </a:solidFill>
                <a:latin typeface="Poppins SemiBold"/>
                <a:ea typeface="Poppins SemiBold"/>
                <a:cs typeface="Poppins SemiBold"/>
                <a:sym typeface="Poppins SemiBold"/>
              </a:rPr>
              <a:t>Alternative</a:t>
            </a:r>
            <a:r>
              <a:rPr b="1" lang="fr" sz="1100">
                <a:solidFill>
                  <a:schemeClr val="dk1"/>
                </a:solidFill>
                <a:latin typeface="Poppins SemiBold"/>
                <a:ea typeface="Poppins SemiBold"/>
                <a:cs typeface="Poppins SemiBold"/>
                <a:sym typeface="Poppins SemiBold"/>
              </a:rPr>
              <a:t>) :</a:t>
            </a:r>
            <a:endParaRPr b="1" sz="1100">
              <a:solidFill>
                <a:schemeClr val="dk1"/>
              </a:solidFill>
              <a:latin typeface="Poppins SemiBold"/>
              <a:ea typeface="Poppins SemiBold"/>
              <a:cs typeface="Poppins SemiBold"/>
              <a:sym typeface="Poppins SemiBold"/>
            </a:endParaRPr>
          </a:p>
        </p:txBody>
      </p:sp>
      <p:sp>
        <p:nvSpPr>
          <p:cNvPr id="692" name="Google Shape;692;p5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57"/>
          <p:cNvSpPr/>
          <p:nvPr/>
        </p:nvSpPr>
        <p:spPr>
          <a:xfrm>
            <a:off x="0" y="0"/>
            <a:ext cx="4572000" cy="5064300"/>
          </a:xfrm>
          <a:prstGeom prst="rect">
            <a:avLst/>
          </a:prstGeom>
          <a:solidFill>
            <a:srgbClr val="EEF1F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699" name="Google Shape;699;p57"/>
          <p:cNvSpPr/>
          <p:nvPr/>
        </p:nvSpPr>
        <p:spPr>
          <a:xfrm>
            <a:off x="384121" y="677230"/>
            <a:ext cx="730500" cy="38100"/>
          </a:xfrm>
          <a:prstGeom prst="rect">
            <a:avLst/>
          </a:prstGeom>
          <a:solidFill>
            <a:srgbClr val="7B939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700" name="Google Shape;700;p57"/>
          <p:cNvSpPr/>
          <p:nvPr/>
        </p:nvSpPr>
        <p:spPr>
          <a:xfrm>
            <a:off x="8148156" y="313713"/>
            <a:ext cx="170700" cy="170700"/>
          </a:xfrm>
          <a:prstGeom prst="ellipse">
            <a:avLst/>
          </a:prstGeom>
          <a:solidFill>
            <a:srgbClr val="DC943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701" name="Google Shape;701;p57"/>
          <p:cNvSpPr/>
          <p:nvPr/>
        </p:nvSpPr>
        <p:spPr>
          <a:xfrm>
            <a:off x="8430187" y="-400151"/>
            <a:ext cx="502500" cy="502500"/>
          </a:xfrm>
          <a:prstGeom prst="ellipse">
            <a:avLst/>
          </a:prstGeom>
          <a:noFill/>
          <a:ln cap="flat" cmpd="sng" w="57150">
            <a:solidFill>
              <a:srgbClr val="D2565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702" name="Google Shape;702;p57"/>
          <p:cNvSpPr txBox="1"/>
          <p:nvPr/>
        </p:nvSpPr>
        <p:spPr>
          <a:xfrm>
            <a:off x="267642" y="711922"/>
            <a:ext cx="60174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fr" sz="1300">
                <a:solidFill>
                  <a:schemeClr val="accent1"/>
                </a:solidFill>
              </a:rPr>
              <a:t>Justification des Choix Techniques</a:t>
            </a:r>
            <a:endParaRPr b="1" sz="1300">
              <a:solidFill>
                <a:schemeClr val="accent1"/>
              </a:solidFill>
            </a:endParaRPr>
          </a:p>
        </p:txBody>
      </p:sp>
      <p:sp>
        <p:nvSpPr>
          <p:cNvPr id="703" name="Google Shape;703;p57"/>
          <p:cNvSpPr txBox="1"/>
          <p:nvPr/>
        </p:nvSpPr>
        <p:spPr>
          <a:xfrm>
            <a:off x="298325" y="102350"/>
            <a:ext cx="4603800" cy="613500"/>
          </a:xfrm>
          <a:prstGeom prst="rect">
            <a:avLst/>
          </a:prstGeom>
          <a:noFill/>
          <a:ln>
            <a:noFill/>
          </a:ln>
        </p:spPr>
        <p:txBody>
          <a:bodyPr anchorCtr="0" anchor="t" bIns="34275" lIns="68575" spcFirstLastPara="1" rIns="68575" wrap="square" tIns="34275">
            <a:spAutoFit/>
          </a:bodyPr>
          <a:lstStyle/>
          <a:p>
            <a:pPr indent="0" lvl="0" marL="0" rtl="0" algn="l">
              <a:lnSpc>
                <a:spcPct val="108000"/>
              </a:lnSpc>
              <a:spcBef>
                <a:spcPts val="800"/>
              </a:spcBef>
              <a:spcAft>
                <a:spcPts val="0"/>
              </a:spcAft>
              <a:buSzPts val="1100"/>
              <a:buNone/>
            </a:pPr>
            <a:r>
              <a:rPr b="1" lang="fr" sz="1700">
                <a:solidFill>
                  <a:schemeClr val="dk1"/>
                </a:solidFill>
                <a:latin typeface="Poppins"/>
                <a:ea typeface="Poppins"/>
                <a:cs typeface="Poppins"/>
                <a:sym typeface="Poppins"/>
              </a:rPr>
              <a:t>Synthèse : Évaluation du Framework ONNX Runtime pour la Quantification</a:t>
            </a:r>
            <a:endParaRPr b="1" sz="1700">
              <a:latin typeface="Poppins SemiBold"/>
              <a:ea typeface="Poppins SemiBold"/>
              <a:cs typeface="Poppins SemiBold"/>
              <a:sym typeface="Poppins SemiBold"/>
            </a:endParaRPr>
          </a:p>
        </p:txBody>
      </p:sp>
      <p:sp>
        <p:nvSpPr>
          <p:cNvPr id="704" name="Google Shape;704;p57"/>
          <p:cNvSpPr txBox="1"/>
          <p:nvPr/>
        </p:nvSpPr>
        <p:spPr>
          <a:xfrm>
            <a:off x="0" y="947150"/>
            <a:ext cx="4572000" cy="41238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None/>
            </a:pPr>
            <a:r>
              <a:rPr b="1" lang="fr" sz="950" u="sng">
                <a:solidFill>
                  <a:schemeClr val="dk1"/>
                </a:solidFill>
                <a:latin typeface="Poppins"/>
                <a:ea typeface="Poppins"/>
                <a:cs typeface="Poppins"/>
                <a:sym typeface="Poppins"/>
              </a:rPr>
              <a:t>Limitations et Obstacles Structurels</a:t>
            </a:r>
            <a:endParaRPr b="1" sz="950" u="sng">
              <a:solidFill>
                <a:schemeClr val="dk1"/>
              </a:solidFill>
              <a:latin typeface="Poppins"/>
              <a:ea typeface="Poppins"/>
              <a:cs typeface="Poppins"/>
              <a:sym typeface="Poppins"/>
            </a:endParaRPr>
          </a:p>
          <a:p>
            <a:pPr indent="-288925" lvl="0" marL="457200" rtl="0" algn="l">
              <a:lnSpc>
                <a:spcPct val="115000"/>
              </a:lnSpc>
              <a:spcBef>
                <a:spcPts val="1200"/>
              </a:spcBef>
              <a:spcAft>
                <a:spcPts val="0"/>
              </a:spcAft>
              <a:buClr>
                <a:schemeClr val="dk1"/>
              </a:buClr>
              <a:buSzPts val="950"/>
              <a:buFont typeface="Poppins"/>
              <a:buChar char="●"/>
            </a:pPr>
            <a:r>
              <a:rPr b="1" lang="fr" sz="950">
                <a:solidFill>
                  <a:schemeClr val="dk1"/>
                </a:solidFill>
                <a:latin typeface="Poppins"/>
                <a:ea typeface="Poppins"/>
                <a:cs typeface="Poppins"/>
                <a:sym typeface="Poppins"/>
              </a:rPr>
              <a:t>Absence d'Outils d'Introspection :</a:t>
            </a:r>
            <a:r>
              <a:rPr lang="fr" sz="950">
                <a:solidFill>
                  <a:schemeClr val="dk1"/>
                </a:solidFill>
                <a:latin typeface="Poppins"/>
                <a:ea typeface="Poppins"/>
                <a:cs typeface="Poppins"/>
                <a:sym typeface="Poppins"/>
              </a:rPr>
              <a:t> Le framework opère comme une "boîte noire". Le manque de fonctionnalités natives pour visualiser l'impact couche par couche (MSE, histogrammes FP32 vs INT8) freine le diagnostic et impose le développement d'outils d'analyse externes.</a:t>
            </a:r>
            <a:endParaRPr sz="950">
              <a:solidFill>
                <a:schemeClr val="dk1"/>
              </a:solidFill>
              <a:latin typeface="Poppins"/>
              <a:ea typeface="Poppins"/>
              <a:cs typeface="Poppins"/>
              <a:sym typeface="Poppins"/>
            </a:endParaRPr>
          </a:p>
          <a:p>
            <a:pPr indent="-288925" lvl="0" marL="457200" rtl="0" algn="l">
              <a:lnSpc>
                <a:spcPct val="115000"/>
              </a:lnSpc>
              <a:spcBef>
                <a:spcPts val="0"/>
              </a:spcBef>
              <a:spcAft>
                <a:spcPts val="0"/>
              </a:spcAft>
              <a:buClr>
                <a:schemeClr val="dk1"/>
              </a:buClr>
              <a:buSzPts val="950"/>
              <a:buFont typeface="Poppins"/>
              <a:buChar char="●"/>
            </a:pPr>
            <a:r>
              <a:rPr b="1" lang="fr" sz="950">
                <a:solidFill>
                  <a:schemeClr val="dk1"/>
                </a:solidFill>
                <a:latin typeface="Poppins"/>
                <a:ea typeface="Poppins"/>
                <a:cs typeface="Poppins"/>
                <a:sym typeface="Poppins"/>
              </a:rPr>
              <a:t>Rigidité de la Configuration ("Global Scope") : </a:t>
            </a:r>
            <a:r>
              <a:rPr lang="fr" sz="950">
                <a:solidFill>
                  <a:schemeClr val="dk1"/>
                </a:solidFill>
                <a:latin typeface="Poppins"/>
                <a:ea typeface="Poppins"/>
                <a:cs typeface="Poppins"/>
                <a:sym typeface="Poppins"/>
              </a:rPr>
              <a:t>C'est la limitation majeure. Les paramètres (ActivationSymmetric, BiasCorrection) s'appliquent globalement à tout le modèle. L'impossibilité de définir une stratégie "à la carte" (mélanger asymétrique et symétrique selon les couches) empêche l'optimisation fine des architectures hétérogènes.</a:t>
            </a:r>
            <a:endParaRPr sz="950">
              <a:solidFill>
                <a:schemeClr val="dk1"/>
              </a:solidFill>
              <a:latin typeface="Poppins"/>
              <a:ea typeface="Poppins"/>
              <a:cs typeface="Poppins"/>
              <a:sym typeface="Poppins"/>
            </a:endParaRPr>
          </a:p>
          <a:p>
            <a:pPr indent="-288925" lvl="0" marL="457200" rtl="0" algn="l">
              <a:lnSpc>
                <a:spcPct val="115000"/>
              </a:lnSpc>
              <a:spcBef>
                <a:spcPts val="0"/>
              </a:spcBef>
              <a:spcAft>
                <a:spcPts val="0"/>
              </a:spcAft>
              <a:buClr>
                <a:schemeClr val="dk1"/>
              </a:buClr>
              <a:buSzPts val="950"/>
              <a:buFont typeface="Poppins"/>
              <a:buChar char="●"/>
            </a:pPr>
            <a:r>
              <a:rPr b="1" lang="fr" sz="950">
                <a:solidFill>
                  <a:schemeClr val="dk1"/>
                </a:solidFill>
                <a:latin typeface="Poppins"/>
                <a:ea typeface="Poppins"/>
                <a:cs typeface="Poppins"/>
                <a:sym typeface="Poppins"/>
              </a:rPr>
              <a:t>Incompatibilités Techniques : </a:t>
            </a:r>
            <a:r>
              <a:rPr lang="fr" sz="950">
                <a:solidFill>
                  <a:schemeClr val="dk1"/>
                </a:solidFill>
                <a:latin typeface="Poppins"/>
                <a:ea typeface="Poppins"/>
                <a:cs typeface="Poppins"/>
                <a:sym typeface="Poppins"/>
              </a:rPr>
              <a:t>Le moteur ne gère pas automatiquement certains cas limites, comme la quantification per-channel sur des poids 1D (ex: BatchNormalization), entraînant des erreurs bloquantes. L'absence de bascule automatique vers une stratégie de repli (per-tensor) impose des contournements complexes (multi-passes).</a:t>
            </a:r>
            <a:endParaRPr sz="950">
              <a:solidFill>
                <a:schemeClr val="dk1"/>
              </a:solidFill>
              <a:latin typeface="Poppins"/>
              <a:ea typeface="Poppins"/>
              <a:cs typeface="Poppins"/>
              <a:sym typeface="Poppins"/>
            </a:endParaRPr>
          </a:p>
          <a:p>
            <a:pPr indent="-288925" lvl="0" marL="457200" rtl="0" algn="l">
              <a:lnSpc>
                <a:spcPct val="115000"/>
              </a:lnSpc>
              <a:spcBef>
                <a:spcPts val="0"/>
              </a:spcBef>
              <a:spcAft>
                <a:spcPts val="0"/>
              </a:spcAft>
              <a:buClr>
                <a:schemeClr val="dk1"/>
              </a:buClr>
              <a:buSzPts val="950"/>
              <a:buFont typeface="Poppins"/>
              <a:buChar char="●"/>
            </a:pPr>
            <a:r>
              <a:rPr b="1" lang="fr" sz="950">
                <a:solidFill>
                  <a:schemeClr val="dk1"/>
                </a:solidFill>
                <a:latin typeface="Poppins"/>
                <a:ea typeface="Poppins"/>
                <a:cs typeface="Poppins"/>
                <a:sym typeface="Poppins"/>
              </a:rPr>
              <a:t>Restriction des Formats Cibles :</a:t>
            </a:r>
            <a:r>
              <a:rPr lang="fr" sz="950">
                <a:solidFill>
                  <a:schemeClr val="dk1"/>
                </a:solidFill>
                <a:latin typeface="Poppins"/>
                <a:ea typeface="Poppins"/>
                <a:cs typeface="Poppins"/>
                <a:sym typeface="Poppins"/>
              </a:rPr>
              <a:t> Bien que le framework supporte la conversion en FP16 , il ne permet pas la quantification vers des formats entiers intermédiaires comme l'INT16 ou l'INT32. Cette lacune empêche d'adopter une précision mixte sur des entiers pour sauver des nœuds sensibles sans repasser en calcul flottant.</a:t>
            </a:r>
            <a:endParaRPr sz="950">
              <a:solidFill>
                <a:schemeClr val="dk1"/>
              </a:solidFill>
              <a:latin typeface="Poppins"/>
              <a:ea typeface="Poppins"/>
              <a:cs typeface="Poppins"/>
              <a:sym typeface="Poppins"/>
            </a:endParaRPr>
          </a:p>
        </p:txBody>
      </p:sp>
      <p:sp>
        <p:nvSpPr>
          <p:cNvPr id="705" name="Google Shape;705;p57"/>
          <p:cNvSpPr txBox="1"/>
          <p:nvPr/>
        </p:nvSpPr>
        <p:spPr>
          <a:xfrm>
            <a:off x="4557425" y="-75"/>
            <a:ext cx="4603800" cy="50643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None/>
            </a:pPr>
            <a:r>
              <a:rPr b="1" lang="fr" sz="950" u="sng">
                <a:solidFill>
                  <a:schemeClr val="dk1"/>
                </a:solidFill>
                <a:latin typeface="Poppins"/>
                <a:ea typeface="Poppins"/>
                <a:cs typeface="Poppins"/>
                <a:sym typeface="Poppins"/>
              </a:rPr>
              <a:t>Forces et Atouts du Framework</a:t>
            </a:r>
            <a:endParaRPr b="1" sz="950" u="sng">
              <a:solidFill>
                <a:schemeClr val="dk1"/>
              </a:solidFill>
              <a:latin typeface="Poppins"/>
              <a:ea typeface="Poppins"/>
              <a:cs typeface="Poppins"/>
              <a:sym typeface="Poppins"/>
            </a:endParaRPr>
          </a:p>
          <a:p>
            <a:pPr indent="-282575" lvl="0" marL="457200" rtl="0" algn="l">
              <a:lnSpc>
                <a:spcPct val="115000"/>
              </a:lnSpc>
              <a:spcBef>
                <a:spcPts val="1200"/>
              </a:spcBef>
              <a:spcAft>
                <a:spcPts val="0"/>
              </a:spcAft>
              <a:buClr>
                <a:schemeClr val="dk1"/>
              </a:buClr>
              <a:buSzPts val="850"/>
              <a:buFont typeface="Poppins"/>
              <a:buChar char="●"/>
            </a:pPr>
            <a:r>
              <a:rPr lang="fr" sz="950">
                <a:solidFill>
                  <a:schemeClr val="dk1"/>
                </a:solidFill>
                <a:latin typeface="Poppins"/>
                <a:ea typeface="Poppins"/>
                <a:cs typeface="Poppins"/>
                <a:sym typeface="Poppins"/>
              </a:rPr>
              <a:t>I</a:t>
            </a:r>
            <a:r>
              <a:rPr b="1" lang="fr" sz="950">
                <a:solidFill>
                  <a:schemeClr val="dk1"/>
                </a:solidFill>
                <a:latin typeface="Poppins"/>
                <a:ea typeface="Poppins"/>
                <a:cs typeface="Poppins"/>
                <a:sym typeface="Poppins"/>
              </a:rPr>
              <a:t>nteropérabilité et Facilité :</a:t>
            </a:r>
            <a:r>
              <a:rPr lang="fr" sz="950">
                <a:solidFill>
                  <a:schemeClr val="dk1"/>
                </a:solidFill>
                <a:latin typeface="Poppins"/>
                <a:ea typeface="Poppins"/>
                <a:cs typeface="Poppins"/>
                <a:sym typeface="Poppins"/>
              </a:rPr>
              <a:t> La transition de l'entraînement (PyTorch) vers le déploiement est fluide. L'exportation native .onnx et la mise en place d'une session d'inférence en quelques lignes de code simplifient grandement l'intégration.</a:t>
            </a:r>
            <a:endParaRPr sz="950">
              <a:solidFill>
                <a:schemeClr val="dk1"/>
              </a:solidFill>
              <a:latin typeface="Poppins"/>
              <a:ea typeface="Poppins"/>
              <a:cs typeface="Poppins"/>
              <a:sym typeface="Poppins"/>
            </a:endParaRPr>
          </a:p>
          <a:p>
            <a:pPr indent="-282575" lvl="0" marL="457200" rtl="0" algn="l">
              <a:lnSpc>
                <a:spcPct val="115000"/>
              </a:lnSpc>
              <a:spcBef>
                <a:spcPts val="0"/>
              </a:spcBef>
              <a:spcAft>
                <a:spcPts val="0"/>
              </a:spcAft>
              <a:buClr>
                <a:schemeClr val="dk1"/>
              </a:buClr>
              <a:buSzPts val="850"/>
              <a:buFont typeface="Poppins"/>
              <a:buChar char="●"/>
            </a:pPr>
            <a:r>
              <a:rPr b="1" lang="fr" sz="950">
                <a:solidFill>
                  <a:schemeClr val="dk1"/>
                </a:solidFill>
                <a:latin typeface="Poppins"/>
                <a:ea typeface="Poppins"/>
                <a:cs typeface="Poppins"/>
                <a:sym typeface="Poppins"/>
              </a:rPr>
              <a:t>Algorithmes de Quantification : </a:t>
            </a:r>
            <a:r>
              <a:rPr lang="fr" sz="950">
                <a:solidFill>
                  <a:schemeClr val="dk1"/>
                </a:solidFill>
                <a:latin typeface="Poppins"/>
                <a:ea typeface="Poppins"/>
                <a:cs typeface="Poppins"/>
                <a:sym typeface="Poppins"/>
              </a:rPr>
              <a:t>Le moteur quantize_static offre une flexibilité appréciable avec trois méthodes de calibration (MinMax, Entropy, Percentile), permettant d'adapter la stratégie à la nature des données (gestion des outliers ou de la distribution globale).</a:t>
            </a:r>
            <a:endParaRPr sz="950">
              <a:solidFill>
                <a:schemeClr val="dk1"/>
              </a:solidFill>
              <a:latin typeface="Poppins"/>
              <a:ea typeface="Poppins"/>
              <a:cs typeface="Poppins"/>
              <a:sym typeface="Poppins"/>
            </a:endParaRPr>
          </a:p>
          <a:p>
            <a:pPr indent="-282575" lvl="0" marL="457200" rtl="0" algn="l">
              <a:lnSpc>
                <a:spcPct val="115000"/>
              </a:lnSpc>
              <a:spcBef>
                <a:spcPts val="0"/>
              </a:spcBef>
              <a:spcAft>
                <a:spcPts val="0"/>
              </a:spcAft>
              <a:buClr>
                <a:schemeClr val="dk1"/>
              </a:buClr>
              <a:buSzPts val="850"/>
              <a:buFont typeface="Poppins"/>
              <a:buChar char="●"/>
            </a:pPr>
            <a:r>
              <a:rPr b="1" lang="fr" sz="950">
                <a:solidFill>
                  <a:schemeClr val="dk1"/>
                </a:solidFill>
                <a:latin typeface="Poppins"/>
                <a:ea typeface="Poppins"/>
                <a:cs typeface="Poppins"/>
                <a:sym typeface="Poppins"/>
              </a:rPr>
              <a:t>Granularité Technique : </a:t>
            </a:r>
            <a:r>
              <a:rPr lang="fr" sz="950">
                <a:solidFill>
                  <a:schemeClr val="dk1"/>
                </a:solidFill>
                <a:latin typeface="Poppins"/>
                <a:ea typeface="Poppins"/>
                <a:cs typeface="Poppins"/>
                <a:sym typeface="Poppins"/>
              </a:rPr>
              <a:t>Le contrôle sur la quantification est étendu, incluant le format QDQ pour la compatibilité, la distinction des types (QUInt8/QInt8) et des options d'optimisation arithmétique essentielles comme le BiasCorrection, le Per-Channel et le ReduceRange.</a:t>
            </a:r>
            <a:endParaRPr sz="950">
              <a:solidFill>
                <a:schemeClr val="dk1"/>
              </a:solidFill>
              <a:latin typeface="Poppins"/>
              <a:ea typeface="Poppins"/>
              <a:cs typeface="Poppins"/>
              <a:sym typeface="Poppins"/>
            </a:endParaRPr>
          </a:p>
          <a:p>
            <a:pPr indent="-282575" lvl="0" marL="457200" rtl="0" algn="l">
              <a:lnSpc>
                <a:spcPct val="115000"/>
              </a:lnSpc>
              <a:spcBef>
                <a:spcPts val="0"/>
              </a:spcBef>
              <a:spcAft>
                <a:spcPts val="0"/>
              </a:spcAft>
              <a:buClr>
                <a:schemeClr val="dk1"/>
              </a:buClr>
              <a:buSzPts val="850"/>
              <a:buFont typeface="Poppins"/>
              <a:buChar char="●"/>
            </a:pPr>
            <a:r>
              <a:rPr b="1" lang="fr" sz="950">
                <a:solidFill>
                  <a:schemeClr val="dk1"/>
                </a:solidFill>
                <a:latin typeface="Poppins"/>
                <a:ea typeface="Poppins"/>
                <a:cs typeface="Poppins"/>
                <a:sym typeface="Poppins"/>
              </a:rPr>
              <a:t>Chirurgie du Graphe :</a:t>
            </a:r>
            <a:r>
              <a:rPr lang="fr" sz="950">
                <a:solidFill>
                  <a:schemeClr val="dk1"/>
                </a:solidFill>
                <a:latin typeface="Poppins"/>
                <a:ea typeface="Poppins"/>
                <a:cs typeface="Poppins"/>
                <a:sym typeface="Poppins"/>
              </a:rPr>
              <a:t> La capacité à manipuler la structure du réseau sans ré-entraînement est un atout majeur. L'outil simplify() fusionne efficacement les opérateurs, et la possibilité d'insérer ou modifier manuellement des nœuds offre une puissance d'intervention rare sur des modèles compilés.</a:t>
            </a:r>
            <a:endParaRPr sz="950">
              <a:solidFill>
                <a:schemeClr val="dk1"/>
              </a:solidFill>
              <a:latin typeface="Poppins"/>
              <a:ea typeface="Poppins"/>
              <a:cs typeface="Poppins"/>
              <a:sym typeface="Poppins"/>
            </a:endParaRPr>
          </a:p>
        </p:txBody>
      </p:sp>
      <p:pic>
        <p:nvPicPr>
          <p:cNvPr id="706" name="Google Shape;706;p57"/>
          <p:cNvPicPr preferRelativeResize="0"/>
          <p:nvPr/>
        </p:nvPicPr>
        <p:blipFill>
          <a:blip r:embed="rId3">
            <a:alphaModFix/>
          </a:blip>
          <a:stretch>
            <a:fillRect/>
          </a:stretch>
        </p:blipFill>
        <p:spPr>
          <a:xfrm>
            <a:off x="5118689" y="206835"/>
            <a:ext cx="1494673" cy="384500"/>
          </a:xfrm>
          <a:prstGeom prst="rect">
            <a:avLst/>
          </a:prstGeom>
          <a:noFill/>
          <a:ln>
            <a:noFill/>
          </a:ln>
        </p:spPr>
      </p:pic>
      <p:sp>
        <p:nvSpPr>
          <p:cNvPr id="707" name="Google Shape;707;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le de pr�sentation v1.1">
  <a:themeElements>
    <a:clrScheme name="ENSICAEN">
      <a:dk1>
        <a:srgbClr val="000000"/>
      </a:dk1>
      <a:lt1>
        <a:srgbClr val="FFFFFF"/>
      </a:lt1>
      <a:dk2>
        <a:srgbClr val="44546A"/>
      </a:dk2>
      <a:lt2>
        <a:srgbClr val="E7E6E6"/>
      </a:lt2>
      <a:accent1>
        <a:srgbClr val="4ABBBF"/>
      </a:accent1>
      <a:accent2>
        <a:srgbClr val="AEB11C"/>
      </a:accent2>
      <a:accent3>
        <a:srgbClr val="DC943B"/>
      </a:accent3>
      <a:accent4>
        <a:srgbClr val="CE5858"/>
      </a:accent4>
      <a:accent5>
        <a:srgbClr val="7B949E"/>
      </a:accent5>
      <a:accent6>
        <a:srgbClr val="AFC0C9"/>
      </a:accent6>
      <a:hlink>
        <a:srgbClr val="588DC8"/>
      </a:hlink>
      <a:folHlink>
        <a:srgbClr val="4ABB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